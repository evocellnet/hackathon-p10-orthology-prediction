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charts/chart1.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charts/chart2.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Lst>
  <p:notesMasterIdLst>
    <p:notesMasterId r:id="rId3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4f3df66e-caca-6e96-cbab-fb0699d48c40}">
          <p14:sldIdLst>
            <p14:sldId id="256"/>
            <p14:sldId id="257"/>
            <p14:sldId id="258"/>
            <p14:sldId id="259"/>
            <p14:sldId id="260"/>
          </p14:sldIdLst>
        </p14:section>
        <p14:section name="How the method was chosen" id="{01d98823-2a3c-2178-7820-c1d539d5cb64}">
          <p14:sldIdLst>
            <p14:sldId id="261"/>
            <p14:sldId id="262"/>
            <p14:sldId id="263"/>
          </p14:sldIdLst>
        </p14:section>
        <p14:section name="The method" id="{0f6aa153-1602-f7d7-6b86-c69639ab6064}">
          <p14:sldIdLst>
            <p14:sldId id="264"/>
            <p14:sldId id="265"/>
            <p14:sldId id="266"/>
          </p14:sldIdLst>
        </p14:section>
        <p14:section name="Results" id="{0c0591e1-1317-f30e-e492-83241f9cb641}">
          <p14:sldIdLst>
            <p14:sldId id="267"/>
            <p14:sldId id="268"/>
            <p14:sldId id="269"/>
            <p14:sldId id="270"/>
            <p14:sldId id="271"/>
            <p14:sldId id="272"/>
          </p14:sldIdLst>
        </p14:section>
        <p14:section name="Extra data layers" id="{232ac701-0efd-e640-c556-abe774b8c92b}">
          <p14:sldIdLst>
            <p14:sldId id="273"/>
            <p14:sldId id="274"/>
            <p14:sldId id="275"/>
            <p14:sldId id="276"/>
            <p14:sldId id="277"/>
            <p14:sldId id="278"/>
            <p14:sldId id="279"/>
            <p14:sldId id="280"/>
            <p14:sldId id="281"/>
            <p14:sldId id="282"/>
            <p14:sldId id="283"/>
            <p14:sldId id="284"/>
            <p14:sldId id="285"/>
            <p14:sldId id="286"/>
            <p14:sldId id="287"/>
          </p14:sldIdLst>
        </p14:section>
        <p14:section name="Decision making" id="{da5dbfa5-7683-db48-b2bc-3206e56d3f50}">
          <p14:sldIdLst>
            <p14:sldId id="288"/>
            <p14:sldId id="289"/>
            <p14:sldId id="290"/>
          </p14:sldIdLst>
        </p14:section>
        <p14:section name="Conclusion" id="{652c0337-3027-3d7b-f3b1-aa3566b4f0a5}">
          <p14:sldIdLst>
            <p14:sldId id="291"/>
            <p14:sldId id="29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notesMaster" Target="notesMasters/notesMaster1.xml"/><Relationship Id="rId40" Type="http://schemas.openxmlformats.org/officeDocument/2006/relationships/presProps" Target="presProps.xml"/><Relationship Id="rId41" Type="http://schemas.openxmlformats.org/officeDocument/2006/relationships/viewProps" Target="viewProps.xml"/><Relationship Id="rId42" Type="http://schemas.openxmlformats.org/officeDocument/2006/relationships/theme" Target="theme/theme1.xml"/><Relationship Id="rId4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F3A5F"/>
                </a:solidFill>
                <a:latin typeface="+mn-lt"/>
              </a:defRPr>
            </a:pPr>
            <a:r>
              <a:rPr sz="1400" b="0" i="0" u="none" strike="noStrike">
                <a:solidFill>
                  <a:srgbClr val="1F3A5F"/>
                </a:solidFill>
                <a:latin typeface="+mn-lt"/>
              </a:rPr>
              <a:t>Test F (36 held-out groups)</a:t>
            </a:r>
          </a:p>
        </c:rich>
      </c:tx>
      <c:layout/>
      <c:overlay val="0"/>
    </c:title>
    <c:autoTitleDeleted val="0"/>
    <c:plotArea>
      <c:layout/>
      <c:barChart>
        <c:barDir val="bar"/>
        <c:grouping val="stacked"/>
        <c:varyColors val="0"/>
        <c:ser>
          <c:idx val="0"/>
          <c:order val="0"/>
          <c:tx>
            <c:strRef>
              <c:f>Sheet1!$B$1</c:f>
              <c:strCache>
                <c:ptCount val="1"/>
                <c:pt idx="0">
                  <c:v>Ancestra</c:v>
                </c:pt>
              </c:strCache>
            </c:strRef>
          </c:tx>
          <c:spPr>
            <a:solidFill>
              <a:srgbClr val="D9822B"/>
            </a:solidFill>
            <a:effectLst/>
          </c:spPr>
          <c:invertIfNegative val="0"/>
          <c:dLbls>
            <c:numFmt formatCode="0.0;;;" sourceLinked="0"/>
            <c:txPr>
              <a:bodyPr/>
              <a:lstStyle/>
              <a:p>
                <a:pPr>
                  <a:defRPr b="0" i="0" strike="noStrike" sz="1200" u="none">
                    <a:solidFill>
                      <a:srgbClr val="FFFFFF"/>
                    </a:solidFill>
                    <a:latin typeface="+mn-lt"/>
                  </a:defRPr>
                </a:pPr>
              </a:p>
            </c:txPr>
            <c:dLblPos val="inEnd"/>
            <c:showLegendKey val="0"/>
            <c:showVal val="1"/>
            <c:showCatName val="0"/>
            <c:showSerName val="0"/>
            <c:showPercent val="0"/>
            <c:showBubbleSize val="0"/>
            <c:showLeaderLines val="0"/>
          </c:dLbls>
          <c:cat>
            <c:multiLvlStrRef>
              <c:f>Sheet1!$A$2:$A$8</c:f>
              <c:multiLvlStrCache>
                <c:ptCount val="7"/>
                <c:lvl>
                  <c:pt idx="0">
                    <c:v>FastOMA 0.5.1*</c:v>
                  </c:pt>
                  <c:pt idx="1">
                    <c:v>ProteinOrtho</c:v>
                  </c:pt>
                  <c:pt idx="2">
                    <c:v>OMA HOGs*</c:v>
                  </c:pt>
                  <c:pt idx="3">
                    <c:v>OrthoFinder 3.2</c:v>
                  </c:pt>
                  <c:pt idx="4">
                    <c:v>SonicParanoid2</c:v>
                  </c:pt>
                  <c:pt idx="5">
                    <c:v>Ancestra fast</c:v>
                  </c:pt>
                  <c:pt idx="6">
                    <c:v>Ancestra accurate</c:v>
                  </c:pt>
                </c:lvl>
              </c:multiLvlStrCache>
            </c:multiLvlStrRef>
          </c:cat>
          <c:val>
            <c:numRef>
              <c:f>Sheet1!$B$2:$B$8</c:f>
              <c:numCache>
                <c:formatCode>General</c:formatCode>
                <c:ptCount val="7"/>
                <c:pt idx="0">
                  <c:v>0</c:v>
                </c:pt>
                <c:pt idx="1">
                  <c:v>0</c:v>
                </c:pt>
                <c:pt idx="2">
                  <c:v>0</c:v>
                </c:pt>
                <c:pt idx="3">
                  <c:v>0</c:v>
                </c:pt>
                <c:pt idx="4">
                  <c:v>0</c:v>
                </c:pt>
                <c:pt idx="5">
                  <c:v>74.8</c:v>
                </c:pt>
                <c:pt idx="6">
                  <c:v>76.2</c:v>
                </c:pt>
              </c:numCache>
            </c:numRef>
          </c:val>
        </c:ser>
        <c:ser>
          <c:idx val="1"/>
          <c:order val="1"/>
          <c:tx>
            <c:strRef>
              <c:f>Sheet1!$C$1</c:f>
              <c:strCache>
                <c:ptCount val="1"/>
                <c:pt idx="0">
                  <c:v>Others</c:v>
                </c:pt>
              </c:strCache>
            </c:strRef>
          </c:tx>
          <c:spPr>
            <a:solidFill>
              <a:srgbClr val="3E6FA3"/>
            </a:solidFill>
            <a:effectLst/>
          </c:spPr>
          <c:invertIfNegative val="0"/>
          <c:dLbls>
            <c:numFmt formatCode="0.0;;;" sourceLinked="0"/>
            <c:txPr>
              <a:bodyPr/>
              <a:lstStyle/>
              <a:p>
                <a:pPr>
                  <a:defRPr b="0" i="0" strike="noStrike" sz="1200" u="none">
                    <a:solidFill>
                      <a:srgbClr val="FFFFFF"/>
                    </a:solidFill>
                    <a:latin typeface="+mn-lt"/>
                  </a:defRPr>
                </a:pPr>
              </a:p>
            </c:txPr>
            <c:dLblPos val="inEnd"/>
            <c:showLegendKey val="0"/>
            <c:showVal val="1"/>
            <c:showCatName val="0"/>
            <c:showSerName val="0"/>
            <c:showPercent val="0"/>
            <c:showBubbleSize val="0"/>
            <c:showLeaderLines val="0"/>
          </c:dLbls>
          <c:cat>
            <c:multiLvlStrRef>
              <c:f>Sheet1!$A$2:$A$8</c:f>
              <c:multiLvlStrCache>
                <c:ptCount val="7"/>
                <c:lvl>
                  <c:pt idx="0">
                    <c:v>FastOMA 0.5.1*</c:v>
                  </c:pt>
                  <c:pt idx="1">
                    <c:v>ProteinOrtho</c:v>
                  </c:pt>
                  <c:pt idx="2">
                    <c:v>OMA HOGs*</c:v>
                  </c:pt>
                  <c:pt idx="3">
                    <c:v>OrthoFinder 3.2</c:v>
                  </c:pt>
                  <c:pt idx="4">
                    <c:v>SonicParanoid2</c:v>
                  </c:pt>
                  <c:pt idx="5">
                    <c:v>Ancestra fast</c:v>
                  </c:pt>
                  <c:pt idx="6">
                    <c:v>Ancestra accurate</c:v>
                  </c:pt>
                </c:lvl>
              </c:multiLvlStrCache>
            </c:multiLvlStrRef>
          </c:cat>
          <c:val>
            <c:numRef>
              <c:f>Sheet1!$C$2:$C$8</c:f>
              <c:numCache>
                <c:formatCode>General</c:formatCode>
                <c:ptCount val="7"/>
                <c:pt idx="0">
                  <c:v>33.1</c:v>
                </c:pt>
                <c:pt idx="1">
                  <c:v>47.5</c:v>
                </c:pt>
                <c:pt idx="2">
                  <c:v>60.4</c:v>
                </c:pt>
                <c:pt idx="3">
                  <c:v>69.7</c:v>
                </c:pt>
                <c:pt idx="4">
                  <c:v>70.4</c:v>
                </c:pt>
                <c:pt idx="5">
                  <c:v>0</c:v>
                </c:pt>
                <c:pt idx="6">
                  <c:v>0</c:v>
                </c:pt>
              </c:numCache>
            </c:numRef>
          </c:val>
        </c:ser>
        <c:dLbls>
          <c:numFmt formatCode="0.0;;;" sourceLinked="0"/>
          <c:txPr>
            <a:bodyPr/>
            <a:lstStyle/>
            <a:p>
              <a:pPr>
                <a:defRPr b="0" i="0" strike="noStrike" sz="1200" u="none">
                  <a:solidFill>
                    <a:srgbClr val="FFFFFF"/>
                  </a:solidFill>
                  <a:latin typeface="+mn-lt"/>
                </a:defRPr>
              </a:pPr>
            </a:p>
          </c:txPr>
          <c:dLblPos val="inEnd"/>
          <c:showLegendKey val="0"/>
          <c:showVal val="1"/>
          <c:showCatName val="0"/>
          <c:showSerName val="0"/>
          <c:showPercent val="0"/>
          <c:showBubbleSize val="0"/>
          <c:showLeaderLines val="0"/>
        </c:dLbls>
        <c:gapWidth val="45"/>
        <c:overlap val="10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300" b="0" i="0" u="none" strike="noStrike">
                <a:solidFill>
                  <a:srgbClr val="22303F"/>
                </a:solidFill>
                <a:latin typeface="+mn-lt"/>
              </a:defRPr>
            </a:pPr>
            <a:endParaRPr lang="en-US"/>
          </a:p>
        </c:txPr>
        <c:crossAx val="2094734552"/>
        <c:crosses val="autoZero"/>
        <c:auto val="1"/>
        <c:lblAlgn val="ctr"/>
        <c:noMultiLvlLbl val="1"/>
      </c:catAx>
      <c:valAx>
        <c:axId val="2094734552"/>
        <c:scaling>
          <c:orientation val="minMax"/>
          <c:max val="100"/>
          <c:min val="0"/>
        </c:scaling>
        <c:delete val="0"/>
        <c:axPos val="b"/>
        <c:majorGridlines>
          <c:spPr>
            <a:ln w="6350" cap="flat">
              <a:solidFill>
                <a:srgbClr val="E2E7EE"/>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8A929C"/>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F3A5F"/>
                </a:solidFill>
                <a:latin typeface="+mn-lt"/>
              </a:defRPr>
            </a:pPr>
            <a:r>
              <a:rPr sz="1400" b="0" i="0" u="none" strike="noStrike">
                <a:solidFill>
                  <a:srgbClr val="1F3A5F"/>
                </a:solidFill>
                <a:latin typeface="+mn-lt"/>
              </a:rPr>
              <a:t>TreeFam-A test: recall (TPR) vs precision (PPV)</a:t>
            </a:r>
          </a:p>
        </c:rich>
      </c:tx>
      <c:layout/>
      <c:overlay val="0"/>
    </c:title>
    <c:autoTitleDeleted val="0"/>
    <c:plotArea>
      <c:layout/>
      <c:scatterChart>
        <c:scatterStyle val="lineMarker"/>
        <c:varyColors val="0"/>
        <c:ser>
          <c:idx val="0"/>
          <c:order val="0"/>
          <c:tx>
            <c:strRef>
              <c:f>Sheet1!$B$1</c:f>
              <c:strCache>
                <c:ptCount val="1"/>
                <c:pt idx="0">
                  <c:v>Ancestra</c:v>
                </c:pt>
              </c:strCache>
            </c:strRef>
          </c:tx>
          <c:spPr>
            <a:solidFill>
              <a:srgbClr val="D9822B"/>
            </a:solidFill>
            <a:ln>
              <a:noFill/>
            </a:ln>
            <a:effectLst/>
          </c:spPr>
          <c:marker>
            <c:symbol val="circle"/>
            <c:size val="12"/>
            <c:spPr>
              <a:solidFill>
                <a:srgbClr val="D9822B"/>
              </a:solidFill>
              <a:ln w="9525" cap="flat">
                <a:solidFill>
                  <a:srgbClr val="D9822B"/>
                </a:solidFill>
                <a:prstDash val="solid"/>
                <a:round/>
              </a:ln>
              <a:effectLst/>
            </c:spPr>
          </c:marker>
          <c:dLbls>
            <c:dLbl>
              <c:idx val="0"/>
              <c:tx>
                <c:rich>
                  <a:bodyPr>
                    <a:spAutoFit/>
                  </a:bodyPr>
                  <a:lstStyle/>
                  <a:p>
                    <a:pPr>
                      <a:defRPr/>
                    </a:pPr>
                    <a:r>
                      <a:rPr lang="en-US" dirty="0"/>
                      <a:t>Ancestra accurate</a:t>
                    </a:r>
                  </a:p>
                </c:rich>
              </c:tx>
              <c:spPr>
                <a:noFill/>
                <a:ln>
                  <a:noFill/>
                </a:ln>
                <a:effectLst/>
              </c:spPr>
              <c:dLblPos val="r"/>
              <c:showLegendKey val="0"/>
              <c:showVal val="0"/>
              <c:showCatName val="0"/>
              <c:showSerName val="0"/>
              <c:showPercent val="0"/>
              <c:showBubbleSize val="0"/>
              <c:showLeaderLines val="1"/>
              <c:extLst>
                <c:ext xmlns:c15="http://schemas.microsoft.com/office/drawing/2012/chart" uri="{CE6537A1-D6FC-4f65-9D91-7224C49458BB}"/>
                <c:ext xmlns:c16="http://schemas.microsoft.com/office/drawing/2014/chart" uri="{C3380CC4-5D6E-409C-BE32-E72D297353CC}">
                  <c16:uniqueId val="{00000001-15d1-959f-8be5-79cfcef44b89}"/>
                </c:ext>
              </c:extLst>
            </c:dLbl>
            <c:dLbl>
              <c:idx val="1"/>
              <c:tx>
                <c:rich>
                  <a:bodyPr>
                    <a:spAutoFit/>
                  </a:bodyPr>
                  <a:lstStyle/>
                  <a:p>
                    <a:pPr>
                      <a:defRPr/>
                    </a:pPr>
                    <a:r>
                      <a:rPr lang="en-US" dirty="0"/>
                      <a:t>Ancestra fast</a:t>
                    </a:r>
                  </a:p>
                </c:rich>
              </c:tx>
              <c:spPr>
                <a:noFill/>
                <a:ln>
                  <a:noFill/>
                </a:ln>
                <a:effectLst/>
              </c:spPr>
              <c:dLblPos val="r"/>
              <c:showLegendKey val="0"/>
              <c:showVal val="0"/>
              <c:showCatName val="0"/>
              <c:showSerName val="0"/>
              <c:showPercent val="0"/>
              <c:showBubbleSize val="0"/>
              <c:showLeaderLines val="1"/>
              <c:extLst>
                <c:ext xmlns:c15="http://schemas.microsoft.com/office/drawing/2012/chart" uri="{CE6537A1-D6FC-4f65-9D91-7224C49458BB}"/>
                <c:ext xmlns:c16="http://schemas.microsoft.com/office/drawing/2014/chart" uri="{C3380CC4-5D6E-409C-BE32-E72D297353CC}">
                  <c16:uniqueId val="{00000002-15d1-959f-8be5-79cfcef44b89}"/>
                </c:ext>
              </c:extLst>
            </c:dLbl>
            <c:dLbl>
              <c:idx val="2"/>
              <c:tx>
                <c:rich>
                  <a:bodyPr>
                    <a:spAutoFit/>
                  </a:bodyPr>
                  <a:lstStyle/>
                  <a:p>
                    <a:pPr>
                      <a:defRPr/>
                    </a:pPr>
                    <a:r>
                      <a:rPr lang="en-US" dirty="0"/>
                      <a:t/>
                    </a:r>
                  </a:p>
                </c:rich>
              </c:tx>
              <c:spPr>
                <a:noFill/>
                <a:ln>
                  <a:noFill/>
                </a:ln>
                <a:effectLst/>
              </c:spPr>
              <c:dLblPos val="r"/>
              <c:showLegendKey val="0"/>
              <c:showVal val="0"/>
              <c:showCatName val="0"/>
              <c:showSerName val="0"/>
              <c:showPercent val="0"/>
              <c:showBubbleSize val="0"/>
              <c:showLeaderLines val="1"/>
              <c:extLst>
                <c:ext xmlns:c15="http://schemas.microsoft.com/office/drawing/2012/chart" uri="{CE6537A1-D6FC-4f65-9D91-7224C49458BB}"/>
                <c:ext xmlns:c16="http://schemas.microsoft.com/office/drawing/2014/chart" uri="{C3380CC4-5D6E-409C-BE32-E72D297353CC}">
                  <c16:uniqueId val="{00000003-15d1-959f-8be5-79cfcef44b89}"/>
                </c:ext>
              </c:extLst>
            </c:dLbl>
            <c:dLbl>
              <c:idx val="3"/>
              <c:tx>
                <c:rich>
                  <a:bodyPr>
                    <a:spAutoFit/>
                  </a:bodyPr>
                  <a:lstStyle/>
                  <a:p>
                    <a:pPr>
                      <a:defRPr/>
                    </a:pPr>
                    <a:r>
                      <a:rPr lang="en-US" dirty="0"/>
                      <a:t/>
                    </a:r>
                  </a:p>
                </c:rich>
              </c:tx>
              <c:spPr>
                <a:noFill/>
                <a:ln>
                  <a:noFill/>
                </a:ln>
                <a:effectLst/>
              </c:spPr>
              <c:dLblPos val="r"/>
              <c:showLegendKey val="0"/>
              <c:showVal val="0"/>
              <c:showCatName val="0"/>
              <c:showSerName val="0"/>
              <c:showPercent val="0"/>
              <c:showBubbleSize val="0"/>
              <c:showLeaderLines val="1"/>
              <c:extLst>
                <c:ext xmlns:c15="http://schemas.microsoft.com/office/drawing/2012/chart" uri="{CE6537A1-D6FC-4f65-9D91-7224C49458BB}"/>
                <c:ext xmlns:c16="http://schemas.microsoft.com/office/drawing/2014/chart" uri="{C3380CC4-5D6E-409C-BE32-E72D297353CC}">
                  <c16:uniqueId val="{00000004-15d1-959f-8be5-79cfcef44b89}"/>
                </c:ext>
              </c:extLst>
            </c:dLbl>
            <c:dLbl>
              <c:idx val="4"/>
              <c:tx>
                <c:rich>
                  <a:bodyPr>
                    <a:spAutoFit/>
                  </a:bodyPr>
                  <a:lstStyle/>
                  <a:p>
                    <a:pPr>
                      <a:defRPr/>
                    </a:pPr>
                    <a:r>
                      <a:rPr lang="en-US" dirty="0"/>
                      <a:t/>
                    </a:r>
                  </a:p>
                </c:rich>
              </c:tx>
              <c:spPr>
                <a:noFill/>
                <a:ln>
                  <a:noFill/>
                </a:ln>
                <a:effectLst/>
              </c:spPr>
              <c:dLblPos val="r"/>
              <c:showLegendKey val="0"/>
              <c:showVal val="0"/>
              <c:showCatName val="0"/>
              <c:showSerName val="0"/>
              <c:showPercent val="0"/>
              <c:showBubbleSize val="0"/>
              <c:showLeaderLines val="1"/>
              <c:extLst>
                <c:ext xmlns:c15="http://schemas.microsoft.com/office/drawing/2012/chart" uri="{CE6537A1-D6FC-4f65-9D91-7224C49458BB}"/>
                <c:ext xmlns:c16="http://schemas.microsoft.com/office/drawing/2014/chart" uri="{C3380CC4-5D6E-409C-BE32-E72D297353CC}">
                  <c16:uniqueId val="{00000005-15d1-959f-8be5-79cfcef44b89}"/>
                </c:ext>
              </c:extLst>
            </c:dLbl>
            <c:dLbl>
              <c:idx val="5"/>
              <c:tx>
                <c:rich>
                  <a:bodyPr>
                    <a:spAutoFit/>
                  </a:bodyPr>
                  <a:lstStyle/>
                  <a:p>
                    <a:pPr>
                      <a:defRPr/>
                    </a:pPr>
                    <a:r>
                      <a:rPr lang="en-US" dirty="0"/>
                      <a:t/>
                    </a:r>
                  </a:p>
                </c:rich>
              </c:tx>
              <c:spPr>
                <a:noFill/>
                <a:ln>
                  <a:noFill/>
                </a:ln>
                <a:effectLst/>
              </c:spPr>
              <c:dLblPos val="r"/>
              <c:showLegendKey val="0"/>
              <c:showVal val="0"/>
              <c:showCatName val="0"/>
              <c:showSerName val="0"/>
              <c:showPercent val="0"/>
              <c:showBubbleSize val="0"/>
              <c:showLeaderLines val="1"/>
              <c:extLst>
                <c:ext xmlns:c15="http://schemas.microsoft.com/office/drawing/2012/chart" uri="{CE6537A1-D6FC-4f65-9D91-7224C49458BB}"/>
                <c:ext xmlns:c16="http://schemas.microsoft.com/office/drawing/2014/chart" uri="{C3380CC4-5D6E-409C-BE32-E72D297353CC}">
                  <c16:uniqueId val="{00000006-15d1-959f-8be5-79cfcef44b89}"/>
                </c:ext>
              </c:extLst>
            </c:dLbl>
            <c:dLbl>
              <c:idx val="6"/>
              <c:tx>
                <c:rich>
                  <a:bodyPr>
                    <a:spAutoFit/>
                  </a:bodyPr>
                  <a:lstStyle/>
                  <a:p>
                    <a:pPr>
                      <a:defRPr/>
                    </a:pPr>
                    <a:r>
                      <a:rPr lang="en-US" dirty="0"/>
                      <a:t/>
                    </a:r>
                  </a:p>
                </c:rich>
              </c:tx>
              <c:spPr>
                <a:noFill/>
                <a:ln>
                  <a:noFill/>
                </a:ln>
                <a:effectLst/>
              </c:spPr>
              <c:dLblPos val="r"/>
              <c:showLegendKey val="0"/>
              <c:showVal val="0"/>
              <c:showCatName val="0"/>
              <c:showSerName val="0"/>
              <c:showPercent val="0"/>
              <c:showBubbleSize val="0"/>
              <c:showLeaderLines val="1"/>
              <c:extLst>
                <c:ext xmlns:c15="http://schemas.microsoft.com/office/drawing/2012/chart" uri="{CE6537A1-D6FC-4f65-9D91-7224C49458BB}"/>
                <c:ext xmlns:c16="http://schemas.microsoft.com/office/drawing/2014/chart" uri="{C3380CC4-5D6E-409C-BE32-E72D297353CC}">
                  <c16:uniqueId val="{00000007-15d1-959f-8be5-79cfcef44b89}"/>
                </c:ext>
              </c:extLst>
            </c:dLbl>
            <c:dLbl>
              <c:idx val="7"/>
              <c:tx>
                <c:rich>
                  <a:bodyPr>
                    <a:spAutoFit/>
                  </a:bodyPr>
                  <a:lstStyle/>
                  <a:p>
                    <a:pPr>
                      <a:defRPr/>
                    </a:pPr>
                    <a:r>
                      <a:rPr lang="en-US" dirty="0"/>
                      <a:t/>
                    </a:r>
                  </a:p>
                </c:rich>
              </c:tx>
              <c:spPr>
                <a:noFill/>
                <a:ln>
                  <a:noFill/>
                </a:ln>
                <a:effectLst/>
              </c:spPr>
              <c:dLblPos val="r"/>
              <c:showLegendKey val="0"/>
              <c:showVal val="0"/>
              <c:showCatName val="0"/>
              <c:showSerName val="0"/>
              <c:showPercent val="0"/>
              <c:showBubbleSize val="0"/>
              <c:showLeaderLines val="1"/>
              <c:extLst>
                <c:ext xmlns:c15="http://schemas.microsoft.com/office/drawing/2012/chart" uri="{CE6537A1-D6FC-4f65-9D91-7224C49458BB}"/>
                <c:ext xmlns:c16="http://schemas.microsoft.com/office/drawing/2014/chart" uri="{C3380CC4-5D6E-409C-BE32-E72D297353CC}">
                  <c16:uniqueId val="{00000008-15d1-959f-8be5-79cfcef44b89}"/>
                </c:ext>
              </c:extLst>
            </c:dLbl>
            <c:dLbl>
              <c:idx val="8"/>
              <c:tx>
                <c:rich>
                  <a:bodyPr>
                    <a:spAutoFit/>
                  </a:bodyPr>
                  <a:lstStyle/>
                  <a:p>
                    <a:pPr>
                      <a:defRPr/>
                    </a:pPr>
                    <a:r>
                      <a:rPr lang="en-US" dirty="0"/>
                      <a:t/>
                    </a:r>
                  </a:p>
                </c:rich>
              </c:tx>
              <c:spPr>
                <a:noFill/>
                <a:ln>
                  <a:noFill/>
                </a:ln>
                <a:effectLst/>
              </c:spPr>
              <c:dLblPos val="r"/>
              <c:showLegendKey val="0"/>
              <c:showVal val="0"/>
              <c:showCatName val="0"/>
              <c:showSerName val="0"/>
              <c:showPercent val="0"/>
              <c:showBubbleSize val="0"/>
              <c:showLeaderLines val="1"/>
              <c:extLst>
                <c:ext xmlns:c15="http://schemas.microsoft.com/office/drawing/2012/chart" uri="{CE6537A1-D6FC-4f65-9D91-7224C49458BB}"/>
                <c:ext xmlns:c16="http://schemas.microsoft.com/office/drawing/2014/chart" uri="{C3380CC4-5D6E-409C-BE32-E72D297353CC}">
                  <c16:uniqueId val="{00000009-15d1-959f-8be5-79cfcef44b89}"/>
                </c:ext>
              </c:extLst>
            </c:dLbl>
          </c:dLbls>
          <c:xVal>
            <c:numRef>
              <c:f>Sheet1!$A$2:$A$10</c:f>
              <c:numCache>
                <c:formatCode>General</c:formatCode>
                <c:ptCount val="9"/>
                <c:pt idx="0">
                  <c:v>0.583</c:v>
                </c:pt>
                <c:pt idx="1">
                  <c:v>0.608</c:v>
                </c:pt>
                <c:pt idx="2">
                  <c:v>0.737</c:v>
                </c:pt>
                <c:pt idx="3">
                  <c:v>0.667</c:v>
                </c:pt>
                <c:pt idx="4">
                  <c:v>0.621</c:v>
                </c:pt>
                <c:pt idx="5">
                  <c:v>0.627</c:v>
                </c:pt>
                <c:pt idx="6">
                  <c:v>0.546</c:v>
                </c:pt>
                <c:pt idx="7">
                  <c:v>0.58</c:v>
                </c:pt>
                <c:pt idx="8">
                  <c:v>0.565</c:v>
                </c:pt>
              </c:numCache>
            </c:numRef>
          </c:xVal>
          <c:yVal>
            <c:numRef>
              <c:f>Sheet1!$B$2:$B$10</c:f>
              <c:numCache>
                <c:formatCode>General</c:formatCode>
                <c:ptCount val="9"/>
                <c:pt idx="0">
                  <c:v>0.921</c:v>
                </c:pt>
                <c:pt idx="1">
                  <c:v>0.916</c:v>
                </c:pt>
                <c:pt idx="2">
                  <c:v/>
                </c:pt>
                <c:pt idx="3">
                  <c:v/>
                </c:pt>
                <c:pt idx="4">
                  <c:v/>
                </c:pt>
                <c:pt idx="5">
                  <c:v/>
                </c:pt>
                <c:pt idx="6">
                  <c:v/>
                </c:pt>
                <c:pt idx="7">
                  <c:v/>
                </c:pt>
                <c:pt idx="8">
                  <c:v/>
                </c:pt>
              </c:numCache>
            </c:numRef>
          </c:yVal>
          <c:smooth val="0"/>
        </c:ser>
        <c:ser>
          <c:idx val="1"/>
          <c:order val="1"/>
          <c:tx>
            <c:strRef>
              <c:f>Sheet1!$C$1</c:f>
              <c:strCache>
                <c:ptCount val="1"/>
                <c:pt idx="0">
                  <c:v>Other methods</c:v>
                </c:pt>
              </c:strCache>
            </c:strRef>
          </c:tx>
          <c:spPr>
            <a:solidFill>
              <a:srgbClr val="3E6FA3"/>
            </a:solidFill>
            <a:ln>
              <a:noFill/>
            </a:ln>
            <a:effectLst/>
          </c:spPr>
          <c:marker>
            <c:symbol val="circle"/>
            <c:size val="12"/>
            <c:spPr>
              <a:solidFill>
                <a:srgbClr val="3E6FA3"/>
              </a:solidFill>
              <a:ln w="9525" cap="flat">
                <a:solidFill>
                  <a:srgbClr val="3E6FA3"/>
                </a:solidFill>
                <a:prstDash val="solid"/>
                <a:round/>
              </a:ln>
              <a:effectLst/>
            </c:spPr>
          </c:marker>
          <c:dLbls>
            <c:dLbl>
              <c:idx val="0"/>
              <c:tx>
                <c:rich>
                  <a:bodyPr>
                    <a:spAutoFit/>
                  </a:bodyPr>
                  <a:lstStyle/>
                  <a:p>
                    <a:pPr>
                      <a:defRPr/>
                    </a:pPr>
                    <a:r>
                      <a:rPr lang="en-US" dirty="0"/>
                      <a:t/>
                    </a:r>
                  </a:p>
                </c:rich>
              </c:tx>
              <c:spPr>
                <a:noFill/>
                <a:ln>
                  <a:noFill/>
                </a:ln>
                <a:effectLst/>
              </c:spPr>
              <c:dLblPos val="r"/>
              <c:showLegendKey val="0"/>
              <c:showVal val="0"/>
              <c:showCatName val="0"/>
              <c:showSerName val="0"/>
              <c:showPercent val="0"/>
              <c:showBubbleSize val="0"/>
              <c:showLeaderLines val="1"/>
              <c:extLst>
                <c:ext xmlns:c15="http://schemas.microsoft.com/office/drawing/2012/chart" uri="{CE6537A1-D6FC-4f65-9D91-7224C49458BB}"/>
                <c:ext xmlns:c16="http://schemas.microsoft.com/office/drawing/2014/chart" uri="{C3380CC4-5D6E-409C-BE32-E72D297353CC}">
                  <c16:uniqueId val="{00000001-b668-d6e4-b0ad-6099b3312a62}"/>
                </c:ext>
              </c:extLst>
            </c:dLbl>
            <c:dLbl>
              <c:idx val="1"/>
              <c:tx>
                <c:rich>
                  <a:bodyPr>
                    <a:spAutoFit/>
                  </a:bodyPr>
                  <a:lstStyle/>
                  <a:p>
                    <a:pPr>
                      <a:defRPr/>
                    </a:pPr>
                    <a:r>
                      <a:rPr lang="en-US" dirty="0"/>
                      <a:t/>
                    </a:r>
                  </a:p>
                </c:rich>
              </c:tx>
              <c:spPr>
                <a:noFill/>
                <a:ln>
                  <a:noFill/>
                </a:ln>
                <a:effectLst/>
              </c:spPr>
              <c:dLblPos val="r"/>
              <c:showLegendKey val="0"/>
              <c:showVal val="0"/>
              <c:showCatName val="0"/>
              <c:showSerName val="0"/>
              <c:showPercent val="0"/>
              <c:showBubbleSize val="0"/>
              <c:showLeaderLines val="1"/>
              <c:extLst>
                <c:ext xmlns:c15="http://schemas.microsoft.com/office/drawing/2012/chart" uri="{CE6537A1-D6FC-4f65-9D91-7224C49458BB}"/>
                <c:ext xmlns:c16="http://schemas.microsoft.com/office/drawing/2014/chart" uri="{C3380CC4-5D6E-409C-BE32-E72D297353CC}">
                  <c16:uniqueId val="{00000002-b668-d6e4-b0ad-6099b3312a62}"/>
                </c:ext>
              </c:extLst>
            </c:dLbl>
            <c:dLbl>
              <c:idx val="2"/>
              <c:tx>
                <c:rich>
                  <a:bodyPr>
                    <a:spAutoFit/>
                  </a:bodyPr>
                  <a:lstStyle/>
                  <a:p>
                    <a:pPr>
                      <a:defRPr/>
                    </a:pPr>
                    <a:r>
                      <a:rPr lang="en-US" dirty="0"/>
                      <a:t>OrthoFinder</a:t>
                    </a:r>
                  </a:p>
                </c:rich>
              </c:tx>
              <c:spPr>
                <a:noFill/>
                <a:ln>
                  <a:noFill/>
                </a:ln>
                <a:effectLst/>
              </c:spPr>
              <c:dLblPos val="r"/>
              <c:showLegendKey val="0"/>
              <c:showVal val="0"/>
              <c:showCatName val="0"/>
              <c:showSerName val="0"/>
              <c:showPercent val="0"/>
              <c:showBubbleSize val="0"/>
              <c:showLeaderLines val="1"/>
              <c:extLst>
                <c:ext xmlns:c15="http://schemas.microsoft.com/office/drawing/2012/chart" uri="{CE6537A1-D6FC-4f65-9D91-7224C49458BB}"/>
                <c:ext xmlns:c16="http://schemas.microsoft.com/office/drawing/2014/chart" uri="{C3380CC4-5D6E-409C-BE32-E72D297353CC}">
                  <c16:uniqueId val="{00000003-b668-d6e4-b0ad-6099b3312a62}"/>
                </c:ext>
              </c:extLst>
            </c:dLbl>
            <c:dLbl>
              <c:idx val="3"/>
              <c:tx>
                <c:rich>
                  <a:bodyPr>
                    <a:spAutoFit/>
                  </a:bodyPr>
                  <a:lstStyle/>
                  <a:p>
                    <a:pPr>
                      <a:defRPr/>
                    </a:pPr>
                    <a:r>
                      <a:rPr lang="en-US" dirty="0"/>
                      <a:t>SonicParanoid2-sens-g</a:t>
                    </a:r>
                  </a:p>
                </c:rich>
              </c:tx>
              <c:spPr>
                <a:noFill/>
                <a:ln>
                  <a:noFill/>
                </a:ln>
                <a:effectLst/>
              </c:spPr>
              <c:dLblPos val="r"/>
              <c:showLegendKey val="0"/>
              <c:showVal val="0"/>
              <c:showCatName val="0"/>
              <c:showSerName val="0"/>
              <c:showPercent val="0"/>
              <c:showBubbleSize val="0"/>
              <c:showLeaderLines val="1"/>
              <c:extLst>
                <c:ext xmlns:c15="http://schemas.microsoft.com/office/drawing/2012/chart" uri="{CE6537A1-D6FC-4f65-9D91-7224C49458BB}"/>
                <c:ext xmlns:c16="http://schemas.microsoft.com/office/drawing/2014/chart" uri="{C3380CC4-5D6E-409C-BE32-E72D297353CC}">
                  <c16:uniqueId val="{00000004-b668-d6e4-b0ad-6099b3312a62}"/>
                </c:ext>
              </c:extLst>
            </c:dLbl>
            <c:dLbl>
              <c:idx val="4"/>
              <c:tx>
                <c:rich>
                  <a:bodyPr>
                    <a:spAutoFit/>
                  </a:bodyPr>
                  <a:lstStyle/>
                  <a:p>
                    <a:pPr>
                      <a:defRPr/>
                    </a:pPr>
                    <a:r>
                      <a:rPr lang="en-US" dirty="0"/>
                      <a:t>Hieranoid 2</a:t>
                    </a:r>
                  </a:p>
                </c:rich>
              </c:tx>
              <c:spPr>
                <a:noFill/>
                <a:ln>
                  <a:noFill/>
                </a:ln>
                <a:effectLst/>
              </c:spPr>
              <c:dLblPos val="r"/>
              <c:showLegendKey val="0"/>
              <c:showVal val="0"/>
              <c:showCatName val="0"/>
              <c:showSerName val="0"/>
              <c:showPercent val="0"/>
              <c:showBubbleSize val="0"/>
              <c:showLeaderLines val="1"/>
              <c:extLst>
                <c:ext xmlns:c15="http://schemas.microsoft.com/office/drawing/2012/chart" uri="{CE6537A1-D6FC-4f65-9D91-7224C49458BB}"/>
                <c:ext xmlns:c16="http://schemas.microsoft.com/office/drawing/2014/chart" uri="{C3380CC4-5D6E-409C-BE32-E72D297353CC}">
                  <c16:uniqueId val="{00000005-b668-d6e4-b0ad-6099b3312a62}"/>
                </c:ext>
              </c:extLst>
            </c:dLbl>
            <c:dLbl>
              <c:idx val="5"/>
              <c:tx>
                <c:rich>
                  <a:bodyPr>
                    <a:spAutoFit/>
                  </a:bodyPr>
                  <a:lstStyle/>
                  <a:p>
                    <a:pPr>
                      <a:defRPr/>
                    </a:pPr>
                    <a:r>
                      <a:rPr lang="en-US" dirty="0"/>
                      <a:t>InParanoid 5</a:t>
                    </a:r>
                  </a:p>
                </c:rich>
              </c:tx>
              <c:spPr>
                <a:noFill/>
                <a:ln>
                  <a:noFill/>
                </a:ln>
                <a:effectLst/>
              </c:spPr>
              <c:dLblPos val="r"/>
              <c:showLegendKey val="0"/>
              <c:showVal val="0"/>
              <c:showCatName val="0"/>
              <c:showSerName val="0"/>
              <c:showPercent val="0"/>
              <c:showBubbleSize val="0"/>
              <c:showLeaderLines val="1"/>
              <c:extLst>
                <c:ext xmlns:c15="http://schemas.microsoft.com/office/drawing/2012/chart" uri="{CE6537A1-D6FC-4f65-9D91-7224C49458BB}"/>
                <c:ext xmlns:c16="http://schemas.microsoft.com/office/drawing/2014/chart" uri="{C3380CC4-5D6E-409C-BE32-E72D297353CC}">
                  <c16:uniqueId val="{00000006-b668-d6e4-b0ad-6099b3312a62}"/>
                </c:ext>
              </c:extLst>
            </c:dLbl>
            <c:dLbl>
              <c:idx val="6"/>
              <c:tx>
                <c:rich>
                  <a:bodyPr>
                    <a:spAutoFit/>
                  </a:bodyPr>
                  <a:lstStyle/>
                  <a:p>
                    <a:pPr>
                      <a:defRPr/>
                    </a:pPr>
                    <a:r>
                      <a:rPr lang="en-US" dirty="0"/>
                      <a:t>FastOMA</a:t>
                    </a:r>
                  </a:p>
                </c:rich>
              </c:tx>
              <c:spPr>
                <a:noFill/>
                <a:ln>
                  <a:noFill/>
                </a:ln>
                <a:effectLst/>
              </c:spPr>
              <c:dLblPos val="r"/>
              <c:showLegendKey val="0"/>
              <c:showVal val="0"/>
              <c:showCatName val="0"/>
              <c:showSerName val="0"/>
              <c:showPercent val="0"/>
              <c:showBubbleSize val="0"/>
              <c:showLeaderLines val="1"/>
              <c:extLst>
                <c:ext xmlns:c15="http://schemas.microsoft.com/office/drawing/2012/chart" uri="{CE6537A1-D6FC-4f65-9D91-7224C49458BB}"/>
                <c:ext xmlns:c16="http://schemas.microsoft.com/office/drawing/2014/chart" uri="{C3380CC4-5D6E-409C-BE32-E72D297353CC}">
                  <c16:uniqueId val="{00000007-b668-d6e4-b0ad-6099b3312a62}"/>
                </c:ext>
              </c:extLst>
            </c:dLbl>
            <c:dLbl>
              <c:idx val="7"/>
              <c:tx>
                <c:rich>
                  <a:bodyPr>
                    <a:spAutoFit/>
                  </a:bodyPr>
                  <a:lstStyle/>
                  <a:p>
                    <a:pPr>
                      <a:defRPr/>
                    </a:pPr>
                    <a:r>
                      <a:rPr lang="en-US" dirty="0"/>
                      <a:t>OMA HOGs</a:t>
                    </a:r>
                  </a:p>
                </c:rich>
              </c:tx>
              <c:spPr>
                <a:noFill/>
                <a:ln>
                  <a:noFill/>
                </a:ln>
                <a:effectLst/>
              </c:spPr>
              <c:dLblPos val="r"/>
              <c:showLegendKey val="0"/>
              <c:showVal val="0"/>
              <c:showCatName val="0"/>
              <c:showSerName val="0"/>
              <c:showPercent val="0"/>
              <c:showBubbleSize val="0"/>
              <c:showLeaderLines val="1"/>
              <c:extLst>
                <c:ext xmlns:c15="http://schemas.microsoft.com/office/drawing/2012/chart" uri="{CE6537A1-D6FC-4f65-9D91-7224C49458BB}"/>
                <c:ext xmlns:c16="http://schemas.microsoft.com/office/drawing/2014/chart" uri="{C3380CC4-5D6E-409C-BE32-E72D297353CC}">
                  <c16:uniqueId val="{00000008-b668-d6e4-b0ad-6099b3312a62}"/>
                </c:ext>
              </c:extLst>
            </c:dLbl>
            <c:dLbl>
              <c:idx val="8"/>
              <c:tx>
                <c:rich>
                  <a:bodyPr>
                    <a:spAutoFit/>
                  </a:bodyPr>
                  <a:lstStyle/>
                  <a:p>
                    <a:pPr>
                      <a:defRPr/>
                    </a:pPr>
                    <a:r>
                      <a:rPr lang="en-US" dirty="0"/>
                      <a:t>OMA Pairs</a:t>
                    </a:r>
                  </a:p>
                </c:rich>
              </c:tx>
              <c:spPr>
                <a:noFill/>
                <a:ln>
                  <a:noFill/>
                </a:ln>
                <a:effectLst/>
              </c:spPr>
              <c:dLblPos val="r"/>
              <c:showLegendKey val="0"/>
              <c:showVal val="0"/>
              <c:showCatName val="0"/>
              <c:showSerName val="0"/>
              <c:showPercent val="0"/>
              <c:showBubbleSize val="0"/>
              <c:showLeaderLines val="1"/>
              <c:extLst>
                <c:ext xmlns:c15="http://schemas.microsoft.com/office/drawing/2012/chart" uri="{CE6537A1-D6FC-4f65-9D91-7224C49458BB}"/>
                <c:ext xmlns:c16="http://schemas.microsoft.com/office/drawing/2014/chart" uri="{C3380CC4-5D6E-409C-BE32-E72D297353CC}">
                  <c16:uniqueId val="{00000009-b668-d6e4-b0ad-6099b3312a62}"/>
                </c:ext>
              </c:extLst>
            </c:dLbl>
          </c:dLbls>
          <c:xVal>
            <c:numRef>
              <c:f>Sheet1!$A$2:$A$10</c:f>
              <c:numCache>
                <c:formatCode>General</c:formatCode>
                <c:ptCount val="9"/>
                <c:pt idx="0">
                  <c:v>0.583</c:v>
                </c:pt>
                <c:pt idx="1">
                  <c:v>0.608</c:v>
                </c:pt>
                <c:pt idx="2">
                  <c:v>0.737</c:v>
                </c:pt>
                <c:pt idx="3">
                  <c:v>0.667</c:v>
                </c:pt>
                <c:pt idx="4">
                  <c:v>0.621</c:v>
                </c:pt>
                <c:pt idx="5">
                  <c:v>0.627</c:v>
                </c:pt>
                <c:pt idx="6">
                  <c:v>0.546</c:v>
                </c:pt>
                <c:pt idx="7">
                  <c:v>0.58</c:v>
                </c:pt>
                <c:pt idx="8">
                  <c:v>0.565</c:v>
                </c:pt>
              </c:numCache>
            </c:numRef>
          </c:xVal>
          <c:yVal>
            <c:numRef>
              <c:f>Sheet1!$C$2:$C$10</c:f>
              <c:numCache>
                <c:formatCode>General</c:formatCode>
                <c:ptCount val="9"/>
                <c:pt idx="0">
                  <c:v/>
                </c:pt>
                <c:pt idx="1">
                  <c:v/>
                </c:pt>
                <c:pt idx="2">
                  <c:v>0.918</c:v>
                </c:pt>
                <c:pt idx="3">
                  <c:v>0.936</c:v>
                </c:pt>
                <c:pt idx="4">
                  <c:v>0.93</c:v>
                </c:pt>
                <c:pt idx="5">
                  <c:v>0.933</c:v>
                </c:pt>
                <c:pt idx="6">
                  <c:v>0.919</c:v>
                </c:pt>
                <c:pt idx="7">
                  <c:v>0.923</c:v>
                </c:pt>
                <c:pt idx="8">
                  <c:v>0.92</c:v>
                </c:pt>
              </c:numCache>
            </c:numRef>
          </c:yVal>
          <c:smooth val="0"/>
        </c:ser>
        <c:dLbls>
          <c:numFmt formatCode="General" sourceLinked="0"/>
          <c:txPr>
            <a:bodyPr/>
            <a:lstStyle/>
            <a:p>
              <a:pPr>
                <a:defRPr b="0" i="0" strike="noStrike" sz="1100" u="none">
                  <a:solidFill>
                    <a:srgbClr val="22303F"/>
                  </a:solidFill>
                  <a:latin typeface="+mn-lt"/>
                </a:defRPr>
              </a:pPr>
            </a:p>
          </c:txPr>
          <c:dLblPos val="r"/>
          <c:showLegendKey val="0"/>
          <c:showVal val="0"/>
          <c:showCatName val="0"/>
          <c:showSerName val="0"/>
          <c:showPercent val="0"/>
          <c:showBubbleSize val="0"/>
        </c:dLbls>
        <c:axId val="2094734554"/>
        <c:axId val="2094734552"/>
      </c:scatterChart>
      <c:valAx>
        <c:axId val="2094734554"/>
        <c:scaling>
          <c:orientation val="minMax"/>
          <c:max val="0.78"/>
          <c:min val="0.52"/>
        </c:scaling>
        <c:delete val="0"/>
        <c:axPos val="b"/>
        <c:majorGridlines>
          <c:spPr>
            <a:ln w="6350" cap="flat">
              <a:solidFill>
                <a:srgbClr val="E2E7EE"/>
              </a:solidFill>
              <a:prstDash val="solid"/>
              <a:round/>
            </a:ln>
          </c:spPr>
        </c:majorGridlines>
        <c:title>
          <c:tx>
            <c:rich>
              <a:bodyPr/>
              <a:lstStyle/>
              <a:p>
                <a:pPr>
                  <a:defRPr sz="1200" b="0" i="0" u="none" strike="noStrike">
                    <a:solidFill>
                      <a:srgbClr val="8A929C"/>
                    </a:solidFill>
                    <a:latin typeface="Arial"/>
                  </a:defRPr>
                </a:pPr>
                <a:r>
                  <a:rPr sz="1200" b="0" i="0" u="none" strike="noStrike">
                    <a:solidFill>
                      <a:srgbClr val="8A929C"/>
                    </a:solidFill>
                    <a:latin typeface="Arial"/>
                  </a:rPr>
                  <a:t>recall (TPR)</a:t>
                </a:r>
              </a:p>
            </c:rich>
          </c:tx>
          <c:layout/>
          <c:overlay val="0"/>
        </c:title>
        <c:numFmt formatCode="0.000" sourceLinked="1"/>
        <c:majorTickMark val="none"/>
        <c:minorTickMark val="none"/>
        <c:tickLblPos val="nextTo"/>
        <c:spPr>
          <a:ln w="12700" cap="flat">
            <a:solidFill>
              <a:srgbClr val="888888"/>
            </a:solidFill>
            <a:prstDash val="solid"/>
            <a:round/>
          </a:ln>
        </c:spPr>
        <c:txPr>
          <a:bodyPr/>
          <a:lstStyle/>
          <a:p>
            <a:pPr>
              <a:defRPr sz="1200" b="0" i="0" u="none" strike="noStrike">
                <a:solidFill>
                  <a:srgbClr val="8A929C"/>
                </a:solidFill>
                <a:latin typeface="+mn-lt"/>
              </a:defRPr>
            </a:pPr>
            <a:endParaRPr lang="en-US"/>
          </a:p>
        </c:txPr>
        <c:crossAx val="2094734552"/>
        <c:crosses val="autoZero"/>
        <c:auto val="1"/>
        <c:lblAlgn val="ctr"/>
        <c:noMultiLvlLbl val="1"/>
      </c:valAx>
      <c:valAx>
        <c:axId val="2094734552"/>
        <c:scaling>
          <c:orientation val="minMax"/>
          <c:max val="0.94"/>
          <c:min val="0.91"/>
        </c:scaling>
        <c:delete val="0"/>
        <c:axPos val="l"/>
        <c:majorGridlines>
          <c:spPr>
            <a:ln w="6350" cap="flat">
              <a:solidFill>
                <a:srgbClr val="E2E7EE"/>
              </a:solidFill>
              <a:prstDash val="solid"/>
              <a:round/>
            </a:ln>
          </c:spPr>
        </c:majorGridlines>
        <c:title>
          <c:tx>
            <c:rich>
              <a:bodyPr/>
              <a:lstStyle/>
              <a:p>
                <a:pPr>
                  <a:defRPr sz="1200" b="0" i="0" u="none" strike="noStrike">
                    <a:solidFill>
                      <a:srgbClr val="8A929C"/>
                    </a:solidFill>
                    <a:latin typeface="Arial"/>
                  </a:defRPr>
                </a:pPr>
                <a:r>
                  <a:rPr sz="1200" b="0" i="0" u="none" strike="noStrike">
                    <a:solidFill>
                      <a:srgbClr val="8A929C"/>
                    </a:solidFill>
                    <a:latin typeface="Arial"/>
                  </a:rPr>
                  <a:t>precision (PPV)</a:t>
                </a:r>
              </a:p>
            </c:rich>
          </c:tx>
          <c:layout/>
          <c:overlay val="0"/>
        </c:title>
        <c:numFmt formatCode="0.000" sourceLinked="0"/>
        <c:majorTickMark val="none"/>
        <c:minorTickMark val="none"/>
        <c:tickLblPos val="nextTo"/>
        <c:spPr>
          <a:ln w="12700" cap="flat">
            <a:solidFill>
              <a:srgbClr val="888888"/>
            </a:solidFill>
            <a:prstDash val="solid"/>
            <a:round/>
          </a:ln>
        </c:spPr>
        <c:txPr>
          <a:bodyPr/>
          <a:lstStyle/>
          <a:p>
            <a:pPr>
              <a:defRPr sz="1200" b="0" i="0" u="none" strike="noStrike">
                <a:solidFill>
                  <a:srgbClr val="8A929C"/>
                </a:solidFill>
                <a:latin typeface="+mn-lt"/>
              </a:defRPr>
            </a:pPr>
            <a:endParaRPr lang="en-US"/>
          </a:p>
        </c:txPr>
        <c:crossAx val="2094734554"/>
        <c:crosses val="autoZero"/>
        <c:crossBetween val="midCat"/>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This deck documents the orthology project of the AI hackathon. Everything after the title page, including these slides, was produced by the agent.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Information from the hackathon repository README and the project-flow figure. Dates, participant list and the final hackathon link are left blank on purpose: the agent has no access to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PI agent never wrote method code itself. It split the work, launched subagents in the background (often several at once), reviewed their reports and committed decisions to git. Opus subagents: literature, design, algorithms, verification. Sonnet subagents: environment, competitor and scaling runs, bookkeeping, reference checks. Human instructions: Foldcomp databases, include an OMA resource in every comparison, pause and move to a GPU node, resume, soft deadline plus README header, write the report, second round of data layers.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full prompt is in PROMPT.md (verbatim). Left: rules that would apply to any agent-led project and could be reused by the other hackathon projects. Right: what is specific to orthology.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Times are hours on the budget clock (the one-hour pause to move nodes is excluded). Freeze at T+15.4 h. Everything after the freeze is evaluation or post-freeze exploration on development data only. An API session limit at T+11.7 h stopped four agents; their background jobs survived.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v0 was rejected before any code was written: a reviewer agent estimated 2.0e11 pairs vs 4.9e11 for all-vs-all on QfO, because ancestral proteomes stay large and 60% of deep ancestral genes have no partner. v2 puts all proteins into families first and never searches ancestral genes again; their scores are aggregated from member proteins (as in SYNERGY). QfO peek 1 exposed low recall; a dev-only diagnosis found 78% of missed TreeFam-A pairs were merge failures at the pair's last common ancestor.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non-inferiority margin was -0.03 (3 F points on OrthoBench). Paired bootstrap B=2000, seed 11. Verification found real errors, for example omitted pre-registered comparators and a preset mismatch in the scaling claims.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S0: DIAMOND clustering at 30% identity, all genes vs cluster representatives, connected components, Leiden split of components above 7,500 genes. S2: DIAMOND inside families plus MMseqs2 re-alignment of missed pairs. S3: walk the NCBI taxonomy bottom-up; at each node merge child ancestral genes by mutual best matches, absorb in-paralogs, and resolve ambiguous clusters with a small FastTree (accurate) or NJ (fast) tree labelled by species overlap. Scores of an ancestral gene are aggregated from its member proteins.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Commonality with FastOMA: both build hierarchical orthologous groups level by level along a species tree, family by family. Differences: FastOMA places proteins into a precomputed OMA reference with OMAmer; Ancestra finds families de novo and uses score rules with small local trees only where candidates are ambiguous. SonicParanoid2 reduces its all-vs-all searches with machine learning but remains pairwise.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Official Open OrthoBench scoring, test half only (36 reference orthogroups split by homology component), scored once after the freeze. Paired bootstrap over groups. With 36 groups the standard error of the difference is 5-6 F points. FastOMA was patched for a gene-dropping bug; F did not change (33.5 to 33.1).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Full official QfO 2022 suite run locally (78 species, 988,778 proteins). Local scoring reproduced 60 of 60 published TPR/PPV values. Competitor rows are the published OpenEBench submissions. Ancestra also has the worst G-STD2 Eukaryota species-tree discordance of the main comparators.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Ancestra accurate minus each method, TreeFam-A test recall, 95% CI. Five primary comparators were pre-registered (OrthoFinder, FastOMA, Hieranoid 2, InParanoid 5, SonicParanoid2-sens-g); the OMA resources were added after the human instruction to include an OMA resource in every comparison.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OrthoFinder at 64 species was stopped at the 6 h cap (more than 45.9 CPU-h); SonicParanoid2 failed at 64 species with an internal error. Single runs on shared nodes; the QfO series spans two nodes. No competitor was run on the 1,000-proteome set and accuracy cannot be measured there; all outputs passed OrthoXML validation.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Round 1 (before the freeze): gene order, 3D structure, expression, isoforms, genomic DNA. Round 2 (after the freeze, development data only): networks, abundance, domain architecture, protein language models including a model trained on our own synteny labels, intron positions, synteny-driven fission repair, expression revisited, structure rescue at full coverage. The species tree and GPU slides are not data layers but were explicit asks of the prompt.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Gene order may only re-rank partners inside the group the sequence-only pass chose (constrained mode); an unconstrained bonus cost 4-8 recall points. Round 2 tried gated synteny repair of fission errors: fission candidates fell from 706 to 426-499 with no change under shuffled order, but only 7 executed joins touched a labelled pair (5 correct), so its accuracy is unmeasured.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3Di was tested in family building (rescue of fragments missed by sequence) and in merge scoring (deep AUC 0.694 vs 0.751 for sequence, rejected). Coverage: 94.5% of QfO proteins from AlphaFold DB/Foldcomp.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 were confirmed pseudogenes or deletions, for example the UOX pseudogene in human; GULO was confirmed by a separate clade-level search.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further policies were planned but not run: delaying merges at uncertain nodes, and per-family guide trees.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Per-species co-fractionation data (Wan et al. 2015, McWhite et al. 2020) could not be obtained quickly and were not used; hu.MAP 3.0 is human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ProtT5 licence was unclear on the model hub; it was used locally only and no weights or embeddings were committed.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78-85% of DIAMOND time goes to a few families above 1,000 genes. A rank-ratio sparsified all-GPU variant needed about 15x fewer CPU-hours on QfO with similar TreeFam-A dev accuracy, but lost 8.4 OrthoBench dev OG-F. A 1% jitter of CPU scores alone cost 3-7 OG-F, showing how sensitive the small benchmark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Gene order and the structure rescue reached the held-out test before the freeze; neither replicated. In round 2 no layer passed the keep rule, so nothing reached test. The domain gate passed its own metric but failed the guard metrics.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protocol file docs/L2_protocol.md is general: worktrees per agent, flags default off, data rules, pre-registration, two-step test, resources and deadlines. Five agents ran eight layers in about 14 hours with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Other friction: an API session limit stopped all agents at T+11.7 h (jobs survived); two QfO runs were lost to script edits during a run; the project was paused once to move to a GPU node.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1F3A5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828800"/>
            <a:ext cx="10698480" cy="1463040"/>
          </a:xfrm>
          <a:prstGeom prst="rect">
            <a:avLst/>
          </a:prstGeom>
          <a:noFill/>
          <a:ln/>
        </p:spPr>
        <p:txBody>
          <a:bodyPr wrap="square" rtlCol="0"/>
          <a:lstStyle>
            <a:lvl1pPr algn="l" indent="0" marL="0">
              <a:buNone/>
              <a:defRPr lang="en-US" sz="54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5400" dirty="0"/>
          </a:p>
        </p:txBody>
      </p:sp>
      <p:sp>
        <p:nvSpPr>
          <p:cNvPr id="3" name="Text 0"/>
          <p:cNvSpPr/>
          <p:nvPr>
            <p:ph idx="101" type="body" hasCustomPrompt="1"/>
          </p:nvPr>
        </p:nvSpPr>
        <p:spPr>
          <a:xfrm>
            <a:off x="731520" y="3429000"/>
            <a:ext cx="10698480" cy="1280160"/>
          </a:xfrm>
          <a:prstGeom prst="rect">
            <a:avLst/>
          </a:prstGeom>
          <a:noFill/>
          <a:ln/>
        </p:spPr>
        <p:txBody>
          <a:bodyPr wrap="square" rtlCol="0"/>
          <a:lstStyle>
            <a:lvl1pPr indent="0" marL="0">
              <a:buNone/>
              <a:defRPr lang="en-US" sz="2400" dirty="0">
                <a:solidFill>
                  <a:schemeClr val="bg2"/>
                </a:solidFill>
              </a:defRPr>
            </a:lvl1pPr>
          </a:lstStyle>
          <a:p>
            <a:pPr indent="0" marL="0">
              <a:buNone/>
            </a:pPr>
            <a:endParaRPr lang="en-US" sz="2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rgbClr val="1F3A5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651760"/>
            <a:ext cx="10698480" cy="1097280"/>
          </a:xfrm>
          <a:prstGeom prst="rect">
            <a:avLst/>
          </a:prstGeom>
          <a:noFill/>
          <a:ln/>
        </p:spPr>
        <p:txBody>
          <a:bodyPr wrap="square" rtlCol="0"/>
          <a:lstStyle>
            <a:lvl1pPr algn="l" indent="0" marL="0">
              <a:buNone/>
              <a:defRPr lang="en-US" sz="44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4400" dirty="0"/>
          </a:p>
        </p:txBody>
      </p:sp>
      <p:sp>
        <p:nvSpPr>
          <p:cNvPr id="3" name="Text 0"/>
          <p:cNvSpPr/>
          <p:nvPr>
            <p:ph idx="101" type="body" hasCustomPrompt="1"/>
          </p:nvPr>
        </p:nvSpPr>
        <p:spPr>
          <a:xfrm>
            <a:off x="731520" y="3794760"/>
            <a:ext cx="10698480" cy="731520"/>
          </a:xfrm>
          <a:prstGeom prst="rect">
            <a:avLst/>
          </a:prstGeom>
          <a:noFill/>
          <a:ln/>
        </p:spPr>
        <p:txBody>
          <a:bodyPr wrap="square" rtlCol="0"/>
          <a:lstStyle>
            <a:lvl1pPr indent="0" marL="0">
              <a:buNone/>
              <a:defRPr lang="en-US" sz="2000" dirty="0">
                <a:solidFill>
                  <a:schemeClr val="bg2"/>
                </a:solidFill>
              </a:defRPr>
            </a:lvl1pPr>
          </a:lstStyle>
          <a:p>
            <a:pPr indent="0" marL="0">
              <a:buNone/>
            </a:pPr>
            <a:endParaRPr lang="en-US" sz="20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bg2"/>
                </a:solidFill>
              </a:defRPr>
            </a:lvl1pPr>
          </a:lstStyle>
          <a:p>
            <a:pPr algn="l"/>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rtlCol="0"/>
          <a:lstStyle>
            <a:lvl1pPr algn="l" indent="0" marL="0">
              <a:buNone/>
              <a:defRPr lang="en-US" sz="3200" b="1" dirty="0">
                <a:solidFill>
                  <a:schemeClr val="tx2"/>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3" name="Text 0"/>
          <p:cNvSpPr/>
          <p:nvPr/>
        </p:nvSpPr>
        <p:spPr>
          <a:xfrm>
            <a:off x="548640" y="6400800"/>
            <a:ext cx="7315200" cy="274320"/>
          </a:xfrm>
          <a:prstGeom prst="rect">
            <a:avLst/>
          </a:prstGeom>
          <a:noFill/>
          <a:ln/>
        </p:spPr>
        <p:txBody>
          <a:bodyPr wrap="square" rtlCol="0" anchor="ctr"/>
          <a:lstStyle/>
          <a:p>
            <a:pPr indent="0" marL="0">
              <a:buNone/>
            </a:pPr>
            <a:r>
              <a:rPr lang="en-US" sz="1000" dirty="0">
                <a:solidFill>
                  <a:schemeClr val="accent6"/>
                </a:solidFill>
              </a:rPr>
              <a:t>Ancestra · AI hackathon · agent-generated, not yet verified by a human</a:t>
            </a:r>
            <a:endParaRPr lang="en-US" sz="10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l"/>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bg2"/>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4.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4.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4.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4.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4.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4.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4.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4.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4.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4.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4.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4.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4.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4.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4.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4.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4.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4.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4.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828800"/>
            <a:ext cx="10698480" cy="1463040"/>
          </a:xfrm>
          <a:prstGeom prst="rect">
            <a:avLst/>
          </a:prstGeom>
          <a:noFill/>
          <a:ln/>
        </p:spPr>
        <p:txBody>
          <a:bodyPr wrap="square" rtlCol="0" anchor="b"/>
          <a:lstStyle/>
          <a:p>
            <a:pPr algn="l" indent="0" marL="0">
              <a:buNone/>
            </a:pPr>
            <a:r>
              <a:rPr lang="en-US" sz="5400" b="1" dirty="0">
                <a:solidFill>
                  <a:schemeClr val="bg1"/>
                </a:solidFill>
                <a:latin typeface="Cambria" pitchFamily="34" charset="0"/>
                <a:ea typeface="Cambria" pitchFamily="34" charset="-122"/>
                <a:cs typeface="Cambria" pitchFamily="34" charset="-120"/>
              </a:rPr>
              <a:t>Ancestra</a:t>
            </a:r>
            <a:endParaRPr lang="en-US" sz="5400" dirty="0"/>
          </a:p>
        </p:txBody>
      </p:sp>
      <p:sp>
        <p:nvSpPr>
          <p:cNvPr id="3" name="Text 0"/>
          <p:cNvSpPr/>
          <p:nvPr>
            <p:ph idx="101" type="body" hasCustomPrompt="1"/>
          </p:nvPr>
        </p:nvSpPr>
        <p:spPr>
          <a:xfrm>
            <a:off x="731520" y="3429000"/>
            <a:ext cx="10698480" cy="1280160"/>
          </a:xfrm>
          <a:prstGeom prst="rect">
            <a:avLst/>
          </a:prstGeom>
          <a:noFill/>
          <a:ln/>
        </p:spPr>
        <p:txBody>
          <a:bodyPr wrap="square" rtlCol="0" anchor="t"/>
          <a:lstStyle/>
          <a:p>
            <a:pPr indent="0" marL="0">
              <a:buNone/>
            </a:pPr>
            <a:r>
              <a:rPr lang="en-US" sz="2400" dirty="0">
                <a:solidFill>
                  <a:schemeClr val="bg2"/>
                </a:solidFill>
              </a:rPr>
              <a:t>An AI agent leads an orthology research project in 48 hours</a:t>
            </a:r>
            <a:endParaRPr lang="en-US" sz="2400" dirty="0"/>
          </a:p>
        </p:txBody>
      </p:sp>
      <p:sp>
        <p:nvSpPr>
          <p:cNvPr id="4" name="Text 2"/>
          <p:cNvSpPr txBox="1"/>
          <p:nvPr/>
        </p:nvSpPr>
        <p:spPr>
          <a:xfrm>
            <a:off x="731520" y="4937760"/>
            <a:ext cx="10058400" cy="365760"/>
          </a:xfrm>
          <a:prstGeom prst="rect">
            <a:avLst/>
          </a:prstGeom>
          <a:noFill/>
          <a:ln/>
        </p:spPr>
        <p:txBody>
          <a:bodyPr wrap="square" lIns="0" tIns="0" rIns="0" bIns="0" rtlCol="0" anchor="t"/>
          <a:lstStyle/>
          <a:p>
            <a:pPr indent="0" marL="0">
              <a:buNone/>
            </a:pPr>
            <a:r>
              <a:rPr lang="en-US" sz="1800" dirty="0">
                <a:solidFill>
                  <a:schemeClr val="bg1"/>
                </a:solidFill>
              </a:rPr>
              <a:t>AI hackathon · Beltrao lab, ETH Zurich · [date to be added]</a:t>
            </a:r>
            <a:endParaRPr lang="en-US" sz="1800" dirty="0"/>
          </a:p>
        </p:txBody>
      </p:sp>
      <p:sp>
        <p:nvSpPr>
          <p:cNvPr id="5" name="Text 3"/>
          <p:cNvSpPr txBox="1"/>
          <p:nvPr/>
        </p:nvSpPr>
        <p:spPr>
          <a:xfrm>
            <a:off x="731520" y="5943600"/>
            <a:ext cx="10515600" cy="365760"/>
          </a:xfrm>
          <a:prstGeom prst="rect">
            <a:avLst/>
          </a:prstGeom>
          <a:noFill/>
          <a:ln/>
        </p:spPr>
        <p:txBody>
          <a:bodyPr wrap="square" lIns="0" tIns="0" rIns="0" bIns="0" rtlCol="0" anchor="t"/>
          <a:lstStyle/>
          <a:p>
            <a:pPr indent="0" marL="0">
              <a:buNone/>
            </a:pPr>
            <a:r>
              <a:rPr lang="en-US" sz="1300" i="1" dirty="0">
                <a:solidFill>
                  <a:schemeClr val="bg2"/>
                </a:solidFill>
              </a:rPr>
              <a:t>Slides generated by the PI agent (Claude Opus 5.5). Results are agent-generated and not yet verified by a human.</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The hackathon: can AI agents run bioinformatics projects?</a:t>
            </a:r>
            <a:endParaRPr lang="en-US" sz="3200" dirty="0"/>
          </a:p>
        </p:txBody>
      </p:sp>
      <p:pic>
        <p:nvPicPr>
          <p:cNvPr id="3" name="Image 0" descr="Hackathon project flow: phase 1 predict X, phase 2 models and datasets, phase 3 discovery">    </p:cNvPr>
          <p:cNvPicPr>
            <a:picLocks noChangeAspect="1"/>
          </p:cNvPicPr>
          <p:nvPr/>
        </p:nvPicPr>
        <p:blipFill>
          <a:blip r:embed="rId1"/>
          <a:stretch>
            <a:fillRect/>
          </a:stretch>
        </p:blipFill>
        <p:spPr>
          <a:xfrm>
            <a:off x="548640" y="1234440"/>
            <a:ext cx="7040880" cy="4059936"/>
          </a:xfrm>
          <a:prstGeom prst="rect">
            <a:avLst/>
          </a:prstGeom>
        </p:spPr>
      </p:pic>
      <p:sp>
        <p:nvSpPr>
          <p:cNvPr id="4" name="Text 1"/>
          <p:cNvSpPr txBox="1"/>
          <p:nvPr/>
        </p:nvSpPr>
        <p:spPr>
          <a:xfrm>
            <a:off x="548640" y="5394960"/>
            <a:ext cx="7040880" cy="731520"/>
          </a:xfrm>
          <a:prstGeom prst="rect">
            <a:avLst/>
          </a:prstGeom>
          <a:noFill/>
          <a:ln/>
        </p:spPr>
        <p:txBody>
          <a:bodyPr wrap="square" lIns="0" tIns="0" rIns="0" bIns="0" rtlCol="0" anchor="t"/>
          <a:lstStyle/>
          <a:p>
            <a:pPr indent="0" marL="0">
              <a:buNone/>
            </a:pPr>
            <a:r>
              <a:rPr lang="en-US" sz="1300" i="1" dirty="0">
                <a:solidFill>
                  <a:schemeClr val="accent6"/>
                </a:solidFill>
              </a:rPr>
              <a:t>Project flow shared by the organisers. This project: orthology. Its output feeds phase 3 (protein-universe similarity, complex evolution).</a:t>
            </a:r>
            <a:endParaRPr lang="en-US" sz="1300" dirty="0"/>
          </a:p>
        </p:txBody>
      </p:sp>
      <p:sp>
        <p:nvSpPr>
          <p:cNvPr id="5" name="Shape 2"/>
          <p:cNvSpPr/>
          <p:nvPr/>
        </p:nvSpPr>
        <p:spPr>
          <a:xfrm>
            <a:off x="7955280" y="1389888"/>
            <a:ext cx="384048" cy="384048"/>
          </a:xfrm>
          <a:prstGeom prst="ellipse">
            <a:avLst/>
          </a:prstGeom>
          <a:solidFill>
            <a:schemeClr val="accent1"/>
          </a:solidFill>
          <a:ln w="12700">
            <a:solidFill>
              <a:schemeClr val="accent1"/>
            </a:solidFill>
            <a:prstDash val="solid"/>
          </a:ln>
        </p:spPr>
      </p:sp>
      <p:sp>
        <p:nvSpPr>
          <p:cNvPr id="6" name="Text 3"/>
          <p:cNvSpPr txBox="1"/>
          <p:nvPr/>
        </p:nvSpPr>
        <p:spPr>
          <a:xfrm>
            <a:off x="8503920" y="1280160"/>
            <a:ext cx="3200400" cy="320040"/>
          </a:xfrm>
          <a:prstGeom prst="rect">
            <a:avLst/>
          </a:prstGeom>
          <a:noFill/>
          <a:ln/>
        </p:spPr>
        <p:txBody>
          <a:bodyPr wrap="square" lIns="0" tIns="0" rIns="0" bIns="0" rtlCol="0" anchor="t"/>
          <a:lstStyle/>
          <a:p>
            <a:pPr indent="0" marL="0">
              <a:buNone/>
            </a:pPr>
            <a:r>
              <a:rPr lang="en-US" sz="1500" b="1" dirty="0">
                <a:solidFill>
                  <a:schemeClr val="tx2"/>
                </a:solidFill>
              </a:rPr>
              <a:t>Organisers</a:t>
            </a:r>
            <a:endParaRPr lang="en-US" sz="1500" dirty="0"/>
          </a:p>
        </p:txBody>
      </p:sp>
      <p:sp>
        <p:nvSpPr>
          <p:cNvPr id="7" name="Text 4"/>
          <p:cNvSpPr txBox="1"/>
          <p:nvPr/>
        </p:nvSpPr>
        <p:spPr>
          <a:xfrm>
            <a:off x="8503920" y="1609344"/>
            <a:ext cx="3291840" cy="594360"/>
          </a:xfrm>
          <a:prstGeom prst="rect">
            <a:avLst/>
          </a:prstGeom>
          <a:noFill/>
          <a:ln/>
        </p:spPr>
        <p:txBody>
          <a:bodyPr wrap="square" lIns="0" tIns="0" rIns="0" bIns="0" rtlCol="0" anchor="t"/>
          <a:lstStyle/>
          <a:p>
            <a:pPr indent="0" marL="0">
              <a:buNone/>
            </a:pPr>
            <a:r>
              <a:rPr lang="en-US" sz="1300" dirty="0">
                <a:solidFill>
                  <a:schemeClr val="tx1"/>
                </a:solidFill>
              </a:rPr>
              <a:t>Beltrao (ETH Zurich), Ryan (UCD), Gonçalves (IST), Dessimoz (UNIL) labs</a:t>
            </a:r>
            <a:endParaRPr lang="en-US" sz="1300" dirty="0"/>
          </a:p>
        </p:txBody>
      </p:sp>
      <p:sp>
        <p:nvSpPr>
          <p:cNvPr id="8" name="Shape 5"/>
          <p:cNvSpPr/>
          <p:nvPr/>
        </p:nvSpPr>
        <p:spPr>
          <a:xfrm>
            <a:off x="7955280" y="2377440"/>
            <a:ext cx="384048" cy="384048"/>
          </a:xfrm>
          <a:prstGeom prst="ellipse">
            <a:avLst/>
          </a:prstGeom>
          <a:solidFill>
            <a:schemeClr val="accent3"/>
          </a:solidFill>
          <a:ln w="12700">
            <a:solidFill>
              <a:schemeClr val="accent3"/>
            </a:solidFill>
            <a:prstDash val="solid"/>
          </a:ln>
        </p:spPr>
      </p:sp>
      <p:sp>
        <p:nvSpPr>
          <p:cNvPr id="9" name="Text 6"/>
          <p:cNvSpPr txBox="1"/>
          <p:nvPr/>
        </p:nvSpPr>
        <p:spPr>
          <a:xfrm>
            <a:off x="8503920" y="2267712"/>
            <a:ext cx="3200400" cy="320040"/>
          </a:xfrm>
          <a:prstGeom prst="rect">
            <a:avLst/>
          </a:prstGeom>
          <a:noFill/>
          <a:ln/>
        </p:spPr>
        <p:txBody>
          <a:bodyPr wrap="square" lIns="0" tIns="0" rIns="0" bIns="0" rtlCol="0" anchor="t"/>
          <a:lstStyle/>
          <a:p>
            <a:pPr indent="0" marL="0">
              <a:buNone/>
            </a:pPr>
            <a:r>
              <a:rPr lang="en-US" sz="1500" b="1" dirty="0">
                <a:solidFill>
                  <a:schemeClr val="tx2"/>
                </a:solidFill>
              </a:rPr>
              <a:t>Projects</a:t>
            </a:r>
            <a:endParaRPr lang="en-US" sz="1500" dirty="0"/>
          </a:p>
        </p:txBody>
      </p:sp>
      <p:sp>
        <p:nvSpPr>
          <p:cNvPr id="10" name="Text 7"/>
          <p:cNvSpPr txBox="1"/>
          <p:nvPr/>
        </p:nvSpPr>
        <p:spPr>
          <a:xfrm>
            <a:off x="8503920" y="2596896"/>
            <a:ext cx="3291840" cy="594360"/>
          </a:xfrm>
          <a:prstGeom prst="rect">
            <a:avLst/>
          </a:prstGeom>
          <a:noFill/>
          <a:ln/>
        </p:spPr>
        <p:txBody>
          <a:bodyPr wrap="square" lIns="0" tIns="0" rIns="0" bIns="0" rtlCol="0" anchor="t"/>
          <a:lstStyle/>
          <a:p>
            <a:pPr indent="0" marL="0">
              <a:buNone/>
            </a:pPr>
            <a:r>
              <a:rPr lang="en-US" sz="1300" dirty="0">
                <a:solidFill>
                  <a:schemeClr val="tx1"/>
                </a:solidFill>
              </a:rPr>
              <a:t>12 projects, each led by Claude Opus 5.5 with Opus/Sonnet subagents</a:t>
            </a:r>
            <a:endParaRPr lang="en-US" sz="1300" dirty="0"/>
          </a:p>
        </p:txBody>
      </p:sp>
      <p:sp>
        <p:nvSpPr>
          <p:cNvPr id="11" name="Shape 8"/>
          <p:cNvSpPr/>
          <p:nvPr/>
        </p:nvSpPr>
        <p:spPr>
          <a:xfrm>
            <a:off x="7955280" y="3364992"/>
            <a:ext cx="384048" cy="384048"/>
          </a:xfrm>
          <a:prstGeom prst="ellipse">
            <a:avLst/>
          </a:prstGeom>
          <a:solidFill>
            <a:schemeClr val="accent2"/>
          </a:solidFill>
          <a:ln w="12700">
            <a:solidFill>
              <a:schemeClr val="accent2"/>
            </a:solidFill>
            <a:prstDash val="solid"/>
          </a:ln>
        </p:spPr>
      </p:sp>
      <p:sp>
        <p:nvSpPr>
          <p:cNvPr id="12" name="Text 9"/>
          <p:cNvSpPr txBox="1"/>
          <p:nvPr/>
        </p:nvSpPr>
        <p:spPr>
          <a:xfrm>
            <a:off x="8503920" y="3255264"/>
            <a:ext cx="3200400" cy="320040"/>
          </a:xfrm>
          <a:prstGeom prst="rect">
            <a:avLst/>
          </a:prstGeom>
          <a:noFill/>
          <a:ln/>
        </p:spPr>
        <p:txBody>
          <a:bodyPr wrap="square" lIns="0" tIns="0" rIns="0" bIns="0" rtlCol="0" anchor="t"/>
          <a:lstStyle/>
          <a:p>
            <a:pPr indent="0" marL="0">
              <a:buNone/>
            </a:pPr>
            <a:r>
              <a:rPr lang="en-US" sz="1500" b="1" dirty="0">
                <a:solidFill>
                  <a:schemeClr val="tx2"/>
                </a:solidFill>
              </a:rPr>
              <a:t>Rule</a:t>
            </a:r>
            <a:endParaRPr lang="en-US" sz="1500" dirty="0"/>
          </a:p>
        </p:txBody>
      </p:sp>
      <p:sp>
        <p:nvSpPr>
          <p:cNvPr id="13" name="Text 10"/>
          <p:cNvSpPr txBox="1"/>
          <p:nvPr/>
        </p:nvSpPr>
        <p:spPr>
          <a:xfrm>
            <a:off x="8503920" y="3584448"/>
            <a:ext cx="3291840" cy="594360"/>
          </a:xfrm>
          <a:prstGeom prst="rect">
            <a:avLst/>
          </a:prstGeom>
          <a:noFill/>
          <a:ln/>
        </p:spPr>
        <p:txBody>
          <a:bodyPr wrap="square" lIns="0" tIns="0" rIns="0" bIns="0" rtlCol="0" anchor="t"/>
          <a:lstStyle/>
          <a:p>
            <a:pPr indent="0" marL="0">
              <a:buNone/>
            </a:pPr>
            <a:r>
              <a:rPr lang="en-US" sz="1300" dirty="0">
                <a:solidFill>
                  <a:schemeClr val="tx1"/>
                </a:solidFill>
              </a:rPr>
              <a:t>AI builds, benchmarks and documents; humans only verify</a:t>
            </a:r>
            <a:endParaRPr lang="en-US" sz="1300" dirty="0"/>
          </a:p>
        </p:txBody>
      </p:sp>
      <p:sp>
        <p:nvSpPr>
          <p:cNvPr id="14" name="Shape 11"/>
          <p:cNvSpPr/>
          <p:nvPr/>
        </p:nvSpPr>
        <p:spPr>
          <a:xfrm>
            <a:off x="7955280" y="4352544"/>
            <a:ext cx="384048" cy="384048"/>
          </a:xfrm>
          <a:prstGeom prst="ellipse">
            <a:avLst/>
          </a:prstGeom>
          <a:solidFill>
            <a:schemeClr val="accent6"/>
          </a:solidFill>
          <a:ln w="12700">
            <a:solidFill>
              <a:schemeClr val="accent6"/>
            </a:solidFill>
            <a:prstDash val="solid"/>
          </a:ln>
        </p:spPr>
      </p:sp>
      <p:sp>
        <p:nvSpPr>
          <p:cNvPr id="15" name="Text 12"/>
          <p:cNvSpPr txBox="1"/>
          <p:nvPr/>
        </p:nvSpPr>
        <p:spPr>
          <a:xfrm>
            <a:off x="8503920" y="4242816"/>
            <a:ext cx="3200400" cy="320040"/>
          </a:xfrm>
          <a:prstGeom prst="rect">
            <a:avLst/>
          </a:prstGeom>
          <a:noFill/>
          <a:ln/>
        </p:spPr>
        <p:txBody>
          <a:bodyPr wrap="square" lIns="0" tIns="0" rIns="0" bIns="0" rtlCol="0" anchor="t"/>
          <a:lstStyle/>
          <a:p>
            <a:pPr indent="0" marL="0">
              <a:buNone/>
            </a:pPr>
            <a:r>
              <a:rPr lang="en-US" sz="1500" b="1" dirty="0">
                <a:solidFill>
                  <a:schemeClr val="tx2"/>
                </a:solidFill>
              </a:rPr>
              <a:t>Dates · people</a:t>
            </a:r>
            <a:endParaRPr lang="en-US" sz="1500" dirty="0"/>
          </a:p>
        </p:txBody>
      </p:sp>
      <p:sp>
        <p:nvSpPr>
          <p:cNvPr id="16" name="Text 13"/>
          <p:cNvSpPr txBox="1"/>
          <p:nvPr/>
        </p:nvSpPr>
        <p:spPr>
          <a:xfrm>
            <a:off x="8503920" y="4572000"/>
            <a:ext cx="3291840" cy="594360"/>
          </a:xfrm>
          <a:prstGeom prst="rect">
            <a:avLst/>
          </a:prstGeom>
          <a:noFill/>
          <a:ln/>
        </p:spPr>
        <p:txBody>
          <a:bodyPr wrap="square" lIns="0" tIns="0" rIns="0" bIns="0" rtlCol="0" anchor="t"/>
          <a:lstStyle/>
          <a:p>
            <a:pPr indent="0" marL="0">
              <a:buNone/>
            </a:pPr>
            <a:r>
              <a:rPr lang="en-US" sz="1300" dirty="0">
                <a:solidFill>
                  <a:schemeClr val="tx1"/>
                </a:solidFill>
              </a:rPr>
              <a:t>[to be added]</a:t>
            </a:r>
            <a:endParaRPr lang="en-US" sz="1300" dirty="0"/>
          </a:p>
        </p:txBody>
      </p:sp>
      <p:sp>
        <p:nvSpPr>
          <p:cNvPr id="17" name="Shape 14"/>
          <p:cNvSpPr/>
          <p:nvPr/>
        </p:nvSpPr>
        <p:spPr>
          <a:xfrm>
            <a:off x="7955280" y="5340096"/>
            <a:ext cx="384048" cy="384048"/>
          </a:xfrm>
          <a:prstGeom prst="ellipse">
            <a:avLst/>
          </a:prstGeom>
          <a:solidFill>
            <a:schemeClr val="tx2"/>
          </a:solidFill>
          <a:ln w="12700">
            <a:solidFill>
              <a:schemeClr val="tx2"/>
            </a:solidFill>
            <a:prstDash val="solid"/>
          </a:ln>
        </p:spPr>
      </p:sp>
      <p:sp>
        <p:nvSpPr>
          <p:cNvPr id="18" name="Text 15"/>
          <p:cNvSpPr txBox="1"/>
          <p:nvPr/>
        </p:nvSpPr>
        <p:spPr>
          <a:xfrm>
            <a:off x="8503920" y="5230368"/>
            <a:ext cx="3200400" cy="320040"/>
          </a:xfrm>
          <a:prstGeom prst="rect">
            <a:avLst/>
          </a:prstGeom>
          <a:noFill/>
          <a:ln/>
        </p:spPr>
        <p:txBody>
          <a:bodyPr wrap="square" lIns="0" tIns="0" rIns="0" bIns="0" rtlCol="0" anchor="t"/>
          <a:lstStyle/>
          <a:p>
            <a:pPr indent="0" marL="0">
              <a:buNone/>
            </a:pPr>
            <a:r>
              <a:rPr lang="en-US" sz="1500" b="1" dirty="0">
                <a:solidFill>
                  <a:schemeClr val="tx2"/>
                </a:solidFill>
              </a:rPr>
              <a:t>Code</a:t>
            </a:r>
            <a:endParaRPr lang="en-US" sz="1500" dirty="0"/>
          </a:p>
        </p:txBody>
      </p:sp>
      <p:sp>
        <p:nvSpPr>
          <p:cNvPr id="19" name="Text 16"/>
          <p:cNvSpPr txBox="1"/>
          <p:nvPr/>
        </p:nvSpPr>
        <p:spPr>
          <a:xfrm>
            <a:off x="8503920" y="5559552"/>
            <a:ext cx="3291840" cy="594360"/>
          </a:xfrm>
          <a:prstGeom prst="rect">
            <a:avLst/>
          </a:prstGeom>
          <a:noFill/>
          <a:ln/>
        </p:spPr>
        <p:txBody>
          <a:bodyPr wrap="square" lIns="0" tIns="0" rIns="0" bIns="0" rtlCol="0" anchor="t"/>
          <a:lstStyle/>
          <a:p>
            <a:pPr indent="0" marL="0">
              <a:buNone/>
            </a:pPr>
            <a:r>
              <a:rPr lang="en-US" sz="1300" dirty="0">
                <a:solidFill>
                  <a:schemeClr val="tx1"/>
                </a:solidFill>
              </a:rPr>
              <a:t>github.com/evocellnet/ai-hackathon</a:t>
            </a:r>
            <a:endParaRPr lang="en-US" sz="13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One PI agent, many subagents, one repository</a:t>
            </a:r>
            <a:endParaRPr lang="en-US" sz="3200" dirty="0"/>
          </a:p>
        </p:txBody>
      </p:sp>
      <p:pic>
        <p:nvPicPr>
          <p:cNvPr id="3" name="Image 0" descr="PI agent delegating to Opus and Sonnet subagents">    </p:cNvPr>
          <p:cNvPicPr>
            <a:picLocks noChangeAspect="1"/>
          </p:cNvPicPr>
          <p:nvPr/>
        </p:nvPicPr>
        <p:blipFill>
          <a:blip r:embed="rId1"/>
          <a:stretch>
            <a:fillRect/>
          </a:stretch>
        </p:blipFill>
        <p:spPr>
          <a:xfrm>
            <a:off x="457200" y="1280160"/>
            <a:ext cx="7406640" cy="3621024"/>
          </a:xfrm>
          <a:prstGeom prst="rect">
            <a:avLst/>
          </a:prstGeom>
        </p:spPr>
      </p:pic>
      <p:sp>
        <p:nvSpPr>
          <p:cNvPr id="4" name="Text 1"/>
          <p:cNvSpPr txBox="1"/>
          <p:nvPr/>
        </p:nvSpPr>
        <p:spPr>
          <a:xfrm>
            <a:off x="8229600" y="1188720"/>
            <a:ext cx="3474720" cy="868680"/>
          </a:xfrm>
          <a:prstGeom prst="rect">
            <a:avLst/>
          </a:prstGeom>
          <a:noFill/>
          <a:ln/>
        </p:spPr>
        <p:txBody>
          <a:bodyPr wrap="square" lIns="0" tIns="0" rIns="0" bIns="0" rtlCol="0" anchor="b"/>
          <a:lstStyle/>
          <a:p>
            <a:pPr indent="0" marL="0">
              <a:buNone/>
            </a:pPr>
            <a:r>
              <a:rPr lang="en-US" sz="4400" b="1" dirty="0">
                <a:solidFill>
                  <a:schemeClr val="tx2"/>
                </a:solidFill>
                <a:latin typeface="Cambria" pitchFamily="34" charset="0"/>
                <a:ea typeface="Cambria" pitchFamily="34" charset="-122"/>
                <a:cs typeface="Cambria" pitchFamily="34" charset="-120"/>
              </a:rPr>
              <a:t>48 h</a:t>
            </a:r>
            <a:endParaRPr lang="en-US" sz="4400" dirty="0"/>
          </a:p>
        </p:txBody>
      </p:sp>
      <p:sp>
        <p:nvSpPr>
          <p:cNvPr id="5" name="Text 2"/>
          <p:cNvSpPr txBox="1"/>
          <p:nvPr/>
        </p:nvSpPr>
        <p:spPr>
          <a:xfrm>
            <a:off x="8229600" y="2103120"/>
            <a:ext cx="3474720" cy="731520"/>
          </a:xfrm>
          <a:prstGeom prst="rect">
            <a:avLst/>
          </a:prstGeom>
          <a:noFill/>
          <a:ln/>
        </p:spPr>
        <p:txBody>
          <a:bodyPr wrap="square" lIns="0" tIns="0" rIns="0" bIns="0" rtlCol="0" anchor="t"/>
          <a:lstStyle/>
          <a:p>
            <a:pPr indent="0" marL="0">
              <a:buNone/>
            </a:pPr>
            <a:r>
              <a:rPr lang="en-US" sz="1400" dirty="0">
                <a:solidFill>
                  <a:schemeClr val="tx1"/>
                </a:solidFill>
              </a:rPr>
              <a:t>budget, checked against START.txt at every milestone</a:t>
            </a:r>
            <a:endParaRPr lang="en-US" sz="1400" dirty="0"/>
          </a:p>
        </p:txBody>
      </p:sp>
      <p:sp>
        <p:nvSpPr>
          <p:cNvPr id="6" name="Text 3"/>
          <p:cNvSpPr txBox="1"/>
          <p:nvPr/>
        </p:nvSpPr>
        <p:spPr>
          <a:xfrm>
            <a:off x="8229600" y="2834640"/>
            <a:ext cx="3474720" cy="868680"/>
          </a:xfrm>
          <a:prstGeom prst="rect">
            <a:avLst/>
          </a:prstGeom>
          <a:noFill/>
          <a:ln/>
        </p:spPr>
        <p:txBody>
          <a:bodyPr wrap="square" lIns="0" tIns="0" rIns="0" bIns="0" rtlCol="0" anchor="b"/>
          <a:lstStyle/>
          <a:p>
            <a:pPr indent="0" marL="0">
              <a:buNone/>
            </a:pPr>
            <a:r>
              <a:rPr lang="en-US" sz="4400" b="1" dirty="0">
                <a:solidFill>
                  <a:schemeClr val="tx2"/>
                </a:solidFill>
                <a:latin typeface="Cambria" pitchFamily="34" charset="0"/>
                <a:ea typeface="Cambria" pitchFamily="34" charset="-122"/>
                <a:cs typeface="Cambria" pitchFamily="34" charset="-120"/>
              </a:rPr>
              <a:t>24 → 48</a:t>
            </a:r>
            <a:endParaRPr lang="en-US" sz="4400" dirty="0"/>
          </a:p>
        </p:txBody>
      </p:sp>
      <p:sp>
        <p:nvSpPr>
          <p:cNvPr id="7" name="Text 4"/>
          <p:cNvSpPr txBox="1"/>
          <p:nvPr/>
        </p:nvSpPr>
        <p:spPr>
          <a:xfrm>
            <a:off x="8229600" y="3749040"/>
            <a:ext cx="3474720" cy="731520"/>
          </a:xfrm>
          <a:prstGeom prst="rect">
            <a:avLst/>
          </a:prstGeom>
          <a:noFill/>
          <a:ln/>
        </p:spPr>
        <p:txBody>
          <a:bodyPr wrap="square" lIns="0" tIns="0" rIns="0" bIns="0" rtlCol="0" anchor="t"/>
          <a:lstStyle/>
          <a:p>
            <a:pPr indent="0" marL="0">
              <a:buNone/>
            </a:pPr>
            <a:r>
              <a:rPr lang="en-US" sz="1400" dirty="0">
                <a:solidFill>
                  <a:schemeClr val="tx1"/>
                </a:solidFill>
              </a:rPr>
              <a:t>CPUs; an A100 GPU was added after 19.5 h</a:t>
            </a:r>
            <a:endParaRPr lang="en-US" sz="1400" dirty="0"/>
          </a:p>
        </p:txBody>
      </p:sp>
      <p:sp>
        <p:nvSpPr>
          <p:cNvPr id="8" name="Text 5"/>
          <p:cNvSpPr txBox="1"/>
          <p:nvPr/>
        </p:nvSpPr>
        <p:spPr>
          <a:xfrm>
            <a:off x="8229600" y="4480560"/>
            <a:ext cx="3474720" cy="868680"/>
          </a:xfrm>
          <a:prstGeom prst="rect">
            <a:avLst/>
          </a:prstGeom>
          <a:noFill/>
          <a:ln/>
        </p:spPr>
        <p:txBody>
          <a:bodyPr wrap="square" lIns="0" tIns="0" rIns="0" bIns="0" rtlCol="0" anchor="b"/>
          <a:lstStyle/>
          <a:p>
            <a:pPr indent="0" marL="0">
              <a:buNone/>
            </a:pPr>
            <a:r>
              <a:rPr lang="en-US" sz="4400" b="1" dirty="0">
                <a:solidFill>
                  <a:schemeClr val="tx2"/>
                </a:solidFill>
                <a:latin typeface="Cambria" pitchFamily="34" charset="0"/>
                <a:ea typeface="Cambria" pitchFamily="34" charset="-122"/>
                <a:cs typeface="Cambria" pitchFamily="34" charset="-120"/>
              </a:rPr>
              <a:t>7</a:t>
            </a:r>
            <a:endParaRPr lang="en-US" sz="4400" dirty="0"/>
          </a:p>
        </p:txBody>
      </p:sp>
      <p:sp>
        <p:nvSpPr>
          <p:cNvPr id="9" name="Text 6"/>
          <p:cNvSpPr txBox="1"/>
          <p:nvPr/>
        </p:nvSpPr>
        <p:spPr>
          <a:xfrm>
            <a:off x="8229600" y="5394960"/>
            <a:ext cx="3474720" cy="731520"/>
          </a:xfrm>
          <a:prstGeom prst="rect">
            <a:avLst/>
          </a:prstGeom>
          <a:noFill/>
          <a:ln/>
        </p:spPr>
        <p:txBody>
          <a:bodyPr wrap="square" lIns="0" tIns="0" rIns="0" bIns="0" rtlCol="0" anchor="t"/>
          <a:lstStyle/>
          <a:p>
            <a:pPr indent="0" marL="0">
              <a:buNone/>
            </a:pPr>
            <a:r>
              <a:rPr lang="en-US" sz="1400" dirty="0">
                <a:solidFill>
                  <a:schemeClr val="tx1"/>
                </a:solidFill>
              </a:rPr>
              <a:t>human instructions after the first prompt</a:t>
            </a:r>
            <a:endParaRPr lang="en-US" sz="14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The prompt: half research protocol, half orthology task</a:t>
            </a:r>
            <a:endParaRPr lang="en-US" sz="3200" dirty="0"/>
          </a:p>
        </p:txBody>
      </p:sp>
      <p:sp>
        <p:nvSpPr>
          <p:cNvPr id="3" name="Shape 1"/>
          <p:cNvSpPr/>
          <p:nvPr/>
        </p:nvSpPr>
        <p:spPr>
          <a:xfrm>
            <a:off x="548640" y="1188720"/>
            <a:ext cx="11064240" cy="777240"/>
          </a:xfrm>
          <a:prstGeom prst="roundRect">
            <a:avLst>
              <a:gd name="adj" fmla="val 14118"/>
            </a:avLst>
          </a:prstGeom>
          <a:solidFill>
            <a:schemeClr val="bg2"/>
          </a:solidFill>
          <a:ln w="12700">
            <a:solidFill>
              <a:schemeClr val="bg2"/>
            </a:solidFill>
            <a:prstDash val="solid"/>
          </a:ln>
        </p:spPr>
      </p:sp>
      <p:sp>
        <p:nvSpPr>
          <p:cNvPr id="4" name="Text 2"/>
          <p:cNvSpPr txBox="1"/>
          <p:nvPr/>
        </p:nvSpPr>
        <p:spPr>
          <a:xfrm>
            <a:off x="731520" y="1261872"/>
            <a:ext cx="10698480" cy="640080"/>
          </a:xfrm>
          <a:prstGeom prst="rect">
            <a:avLst/>
          </a:prstGeom>
          <a:noFill/>
          <a:ln/>
        </p:spPr>
        <p:txBody>
          <a:bodyPr wrap="square" lIns="0" tIns="0" rIns="0" bIns="0" rtlCol="0" anchor="ctr"/>
          <a:lstStyle/>
          <a:p>
            <a:pPr indent="0" marL="0">
              <a:buNone/>
            </a:pPr>
            <a:r>
              <a:rPr lang="en-US" sz="1600" i="1" dirty="0">
                <a:solidFill>
                  <a:schemeClr val="tx2"/>
                </a:solidFill>
              </a:rPr>
              <a:t>“Obtain a new orthology prediction method that is conceptually different from the state of the art, with comparable if not better accuracy and/or compute time.”</a:t>
            </a:r>
            <a:endParaRPr lang="en-US" sz="1600" dirty="0"/>
          </a:p>
        </p:txBody>
      </p:sp>
      <p:sp>
        <p:nvSpPr>
          <p:cNvPr id="5" name="Text 3"/>
          <p:cNvSpPr txBox="1"/>
          <p:nvPr/>
        </p:nvSpPr>
        <p:spPr>
          <a:xfrm>
            <a:off x="548640" y="2194560"/>
            <a:ext cx="5394960" cy="411480"/>
          </a:xfrm>
          <a:prstGeom prst="rect">
            <a:avLst/>
          </a:prstGeom>
          <a:noFill/>
          <a:ln/>
        </p:spPr>
        <p:txBody>
          <a:bodyPr wrap="square" lIns="0" tIns="0" rIns="0" bIns="0" rtlCol="0" anchor="t"/>
          <a:lstStyle/>
          <a:p>
            <a:pPr indent="0" marL="0">
              <a:buNone/>
            </a:pPr>
            <a:r>
              <a:rPr lang="en-US" sz="2000" b="1" dirty="0">
                <a:solidFill>
                  <a:schemeClr val="accent1"/>
                </a:solidFill>
                <a:latin typeface="Cambria" pitchFamily="34" charset="0"/>
                <a:ea typeface="Cambria" pitchFamily="34" charset="-122"/>
                <a:cs typeface="Cambria" pitchFamily="34" charset="-120"/>
              </a:rPr>
              <a:t>General: any AI-led project</a:t>
            </a:r>
            <a:endParaRPr lang="en-US" sz="2000" dirty="0"/>
          </a:p>
        </p:txBody>
      </p:sp>
      <p:sp>
        <p:nvSpPr>
          <p:cNvPr id="6" name="Shape 4"/>
          <p:cNvSpPr/>
          <p:nvPr/>
        </p:nvSpPr>
        <p:spPr>
          <a:xfrm>
            <a:off x="548640" y="2743200"/>
            <a:ext cx="2606040" cy="731520"/>
          </a:xfrm>
          <a:prstGeom prst="roundRect">
            <a:avLst>
              <a:gd name="adj" fmla="val 15000"/>
            </a:avLst>
          </a:prstGeom>
          <a:solidFill>
            <a:schemeClr val="accent1">
              <a:alpha val="18000"/>
            </a:schemeClr>
          </a:solidFill>
          <a:ln w="12700">
            <a:solidFill>
              <a:schemeClr val="accent1"/>
            </a:solidFill>
            <a:prstDash val="solid"/>
          </a:ln>
        </p:spPr>
      </p:sp>
      <p:sp>
        <p:nvSpPr>
          <p:cNvPr id="7" name="Text 5"/>
          <p:cNvSpPr txBox="1"/>
          <p:nvPr/>
        </p:nvSpPr>
        <p:spPr>
          <a:xfrm>
            <a:off x="658368" y="2743200"/>
            <a:ext cx="2423160" cy="731520"/>
          </a:xfrm>
          <a:prstGeom prst="rect">
            <a:avLst/>
          </a:prstGeom>
          <a:noFill/>
          <a:ln/>
        </p:spPr>
        <p:txBody>
          <a:bodyPr wrap="square" lIns="0" tIns="0" rIns="0" bIns="0" rtlCol="0" anchor="ctr"/>
          <a:lstStyle/>
          <a:p>
            <a:pPr indent="0" marL="0">
              <a:buNone/>
            </a:pPr>
            <a:r>
              <a:rPr lang="en-US" sz="1300" dirty="0">
                <a:solidFill>
                  <a:schemeClr val="tx1"/>
                </a:solidFill>
              </a:rPr>
              <a:t>PI role: delegate, review, decide</a:t>
            </a:r>
            <a:endParaRPr lang="en-US" sz="1300" dirty="0"/>
          </a:p>
        </p:txBody>
      </p:sp>
      <p:sp>
        <p:nvSpPr>
          <p:cNvPr id="8" name="Shape 6"/>
          <p:cNvSpPr/>
          <p:nvPr/>
        </p:nvSpPr>
        <p:spPr>
          <a:xfrm>
            <a:off x="3291840" y="2743200"/>
            <a:ext cx="2606040" cy="731520"/>
          </a:xfrm>
          <a:prstGeom prst="roundRect">
            <a:avLst>
              <a:gd name="adj" fmla="val 15000"/>
            </a:avLst>
          </a:prstGeom>
          <a:solidFill>
            <a:schemeClr val="accent1">
              <a:alpha val="18000"/>
            </a:schemeClr>
          </a:solidFill>
          <a:ln w="12700">
            <a:solidFill>
              <a:schemeClr val="accent1"/>
            </a:solidFill>
            <a:prstDash val="solid"/>
          </a:ln>
        </p:spPr>
      </p:sp>
      <p:sp>
        <p:nvSpPr>
          <p:cNvPr id="9" name="Text 7"/>
          <p:cNvSpPr txBox="1"/>
          <p:nvPr/>
        </p:nvSpPr>
        <p:spPr>
          <a:xfrm>
            <a:off x="3401568" y="2743200"/>
            <a:ext cx="2423160" cy="731520"/>
          </a:xfrm>
          <a:prstGeom prst="rect">
            <a:avLst/>
          </a:prstGeom>
          <a:noFill/>
          <a:ln/>
        </p:spPr>
        <p:txBody>
          <a:bodyPr wrap="square" lIns="0" tIns="0" rIns="0" bIns="0" rtlCol="0" anchor="ctr"/>
          <a:lstStyle/>
          <a:p>
            <a:pPr indent="0" marL="0">
              <a:buNone/>
            </a:pPr>
            <a:r>
              <a:rPr lang="en-US" sz="1300" dirty="0">
                <a:solidFill>
                  <a:schemeClr val="tx1"/>
                </a:solidFill>
              </a:rPr>
              <a:t>Sub-tasks, each with its own benchmark</a:t>
            </a:r>
            <a:endParaRPr lang="en-US" sz="1300" dirty="0"/>
          </a:p>
        </p:txBody>
      </p:sp>
      <p:sp>
        <p:nvSpPr>
          <p:cNvPr id="10" name="Shape 8"/>
          <p:cNvSpPr/>
          <p:nvPr/>
        </p:nvSpPr>
        <p:spPr>
          <a:xfrm>
            <a:off x="548640" y="3611880"/>
            <a:ext cx="2606040" cy="731520"/>
          </a:xfrm>
          <a:prstGeom prst="roundRect">
            <a:avLst>
              <a:gd name="adj" fmla="val 15000"/>
            </a:avLst>
          </a:prstGeom>
          <a:solidFill>
            <a:schemeClr val="accent1">
              <a:alpha val="18000"/>
            </a:schemeClr>
          </a:solidFill>
          <a:ln w="12700">
            <a:solidFill>
              <a:schemeClr val="accent1"/>
            </a:solidFill>
            <a:prstDash val="solid"/>
          </a:ln>
        </p:spPr>
      </p:sp>
      <p:sp>
        <p:nvSpPr>
          <p:cNvPr id="11" name="Text 9"/>
          <p:cNvSpPr txBox="1"/>
          <p:nvPr/>
        </p:nvSpPr>
        <p:spPr>
          <a:xfrm>
            <a:off x="658368" y="3611880"/>
            <a:ext cx="2423160" cy="731520"/>
          </a:xfrm>
          <a:prstGeom prst="rect">
            <a:avLst/>
          </a:prstGeom>
          <a:noFill/>
          <a:ln/>
        </p:spPr>
        <p:txBody>
          <a:bodyPr wrap="square" lIns="0" tIns="0" rIns="0" bIns="0" rtlCol="0" anchor="ctr"/>
          <a:lstStyle/>
          <a:p>
            <a:pPr indent="0" marL="0">
              <a:buNone/>
            </a:pPr>
            <a:r>
              <a:rPr lang="en-US" sz="1300" dirty="0">
                <a:solidFill>
                  <a:schemeClr val="tx1"/>
                </a:solidFill>
              </a:rPr>
              <a:t>Literature + design critiqued by agents</a:t>
            </a:r>
            <a:endParaRPr lang="en-US" sz="1300" dirty="0"/>
          </a:p>
        </p:txBody>
      </p:sp>
      <p:sp>
        <p:nvSpPr>
          <p:cNvPr id="12" name="Shape 10"/>
          <p:cNvSpPr/>
          <p:nvPr/>
        </p:nvSpPr>
        <p:spPr>
          <a:xfrm>
            <a:off x="3291840" y="3611880"/>
            <a:ext cx="2606040" cy="731520"/>
          </a:xfrm>
          <a:prstGeom prst="roundRect">
            <a:avLst>
              <a:gd name="adj" fmla="val 15000"/>
            </a:avLst>
          </a:prstGeom>
          <a:solidFill>
            <a:schemeClr val="accent1">
              <a:alpha val="18000"/>
            </a:schemeClr>
          </a:solidFill>
          <a:ln w="12700">
            <a:solidFill>
              <a:schemeClr val="accent1"/>
            </a:solidFill>
            <a:prstDash val="solid"/>
          </a:ln>
        </p:spPr>
      </p:sp>
      <p:sp>
        <p:nvSpPr>
          <p:cNvPr id="13" name="Text 11"/>
          <p:cNvSpPr txBox="1"/>
          <p:nvPr/>
        </p:nvSpPr>
        <p:spPr>
          <a:xfrm>
            <a:off x="3401568" y="3611880"/>
            <a:ext cx="2423160" cy="731520"/>
          </a:xfrm>
          <a:prstGeom prst="rect">
            <a:avLst/>
          </a:prstGeom>
          <a:noFill/>
          <a:ln/>
        </p:spPr>
        <p:txBody>
          <a:bodyPr wrap="square" lIns="0" tIns="0" rIns="0" bIns="0" rtlCol="0" anchor="ctr"/>
          <a:lstStyle/>
          <a:p>
            <a:pPr indent="0" marL="0">
              <a:buNone/>
            </a:pPr>
            <a:r>
              <a:rPr lang="en-US" sz="1300" dirty="0">
                <a:solidFill>
                  <a:schemeClr val="tx1"/>
                </a:solidFill>
              </a:rPr>
              <a:t>Reproducible: seeds, DATA.md, no metric changes</a:t>
            </a:r>
            <a:endParaRPr lang="en-US" sz="1300" dirty="0"/>
          </a:p>
        </p:txBody>
      </p:sp>
      <p:sp>
        <p:nvSpPr>
          <p:cNvPr id="14" name="Shape 12"/>
          <p:cNvSpPr/>
          <p:nvPr/>
        </p:nvSpPr>
        <p:spPr>
          <a:xfrm>
            <a:off x="548640" y="4480560"/>
            <a:ext cx="2606040" cy="731520"/>
          </a:xfrm>
          <a:prstGeom prst="roundRect">
            <a:avLst>
              <a:gd name="adj" fmla="val 15000"/>
            </a:avLst>
          </a:prstGeom>
          <a:solidFill>
            <a:schemeClr val="accent1">
              <a:alpha val="18000"/>
            </a:schemeClr>
          </a:solidFill>
          <a:ln w="12700">
            <a:solidFill>
              <a:schemeClr val="accent1"/>
            </a:solidFill>
            <a:prstDash val="solid"/>
          </a:ln>
        </p:spPr>
      </p:sp>
      <p:sp>
        <p:nvSpPr>
          <p:cNvPr id="15" name="Text 13"/>
          <p:cNvSpPr txBox="1"/>
          <p:nvPr/>
        </p:nvSpPr>
        <p:spPr>
          <a:xfrm>
            <a:off x="658368" y="4480560"/>
            <a:ext cx="2423160" cy="731520"/>
          </a:xfrm>
          <a:prstGeom prst="rect">
            <a:avLst/>
          </a:prstGeom>
          <a:noFill/>
          <a:ln/>
        </p:spPr>
        <p:txBody>
          <a:bodyPr wrap="square" lIns="0" tIns="0" rIns="0" bIns="0" rtlCol="0" anchor="ctr"/>
          <a:lstStyle/>
          <a:p>
            <a:pPr indent="0" marL="0">
              <a:buNone/>
            </a:pPr>
            <a:r>
              <a:rPr lang="en-US" sz="1300" dirty="0">
                <a:solidFill>
                  <a:schemeClr val="tx1"/>
                </a:solidFill>
              </a:rPr>
              <a:t>Results checked by a different agent</a:t>
            </a:r>
            <a:endParaRPr lang="en-US" sz="1300" dirty="0"/>
          </a:p>
        </p:txBody>
      </p:sp>
      <p:sp>
        <p:nvSpPr>
          <p:cNvPr id="16" name="Shape 14"/>
          <p:cNvSpPr/>
          <p:nvPr/>
        </p:nvSpPr>
        <p:spPr>
          <a:xfrm>
            <a:off x="3291840" y="4480560"/>
            <a:ext cx="2606040" cy="731520"/>
          </a:xfrm>
          <a:prstGeom prst="roundRect">
            <a:avLst>
              <a:gd name="adj" fmla="val 15000"/>
            </a:avLst>
          </a:prstGeom>
          <a:solidFill>
            <a:schemeClr val="accent1">
              <a:alpha val="18000"/>
            </a:schemeClr>
          </a:solidFill>
          <a:ln w="12700">
            <a:solidFill>
              <a:schemeClr val="accent1"/>
            </a:solidFill>
            <a:prstDash val="solid"/>
          </a:ln>
        </p:spPr>
      </p:sp>
      <p:sp>
        <p:nvSpPr>
          <p:cNvPr id="17" name="Text 15"/>
          <p:cNvSpPr txBox="1"/>
          <p:nvPr/>
        </p:nvSpPr>
        <p:spPr>
          <a:xfrm>
            <a:off x="3401568" y="4480560"/>
            <a:ext cx="2423160" cy="731520"/>
          </a:xfrm>
          <a:prstGeom prst="rect">
            <a:avLst/>
          </a:prstGeom>
          <a:noFill/>
          <a:ln/>
        </p:spPr>
        <p:txBody>
          <a:bodyPr wrap="square" lIns="0" tIns="0" rIns="0" bIns="0" rtlCol="0" anchor="ctr"/>
          <a:lstStyle/>
          <a:p>
            <a:pPr indent="0" marL="0">
              <a:buNone/>
            </a:pPr>
            <a:r>
              <a:rPr lang="en-US" sz="1300" dirty="0">
                <a:solidFill>
                  <a:schemeClr val="tx1"/>
                </a:solidFill>
              </a:rPr>
              <a:t>Research tree + lessons file</a:t>
            </a:r>
            <a:endParaRPr lang="en-US" sz="1300" dirty="0"/>
          </a:p>
        </p:txBody>
      </p:sp>
      <p:sp>
        <p:nvSpPr>
          <p:cNvPr id="18" name="Shape 16"/>
          <p:cNvSpPr/>
          <p:nvPr/>
        </p:nvSpPr>
        <p:spPr>
          <a:xfrm>
            <a:off x="548640" y="5349240"/>
            <a:ext cx="2606040" cy="731520"/>
          </a:xfrm>
          <a:prstGeom prst="roundRect">
            <a:avLst>
              <a:gd name="adj" fmla="val 15000"/>
            </a:avLst>
          </a:prstGeom>
          <a:solidFill>
            <a:schemeClr val="accent1">
              <a:alpha val="18000"/>
            </a:schemeClr>
          </a:solidFill>
          <a:ln w="12700">
            <a:solidFill>
              <a:schemeClr val="accent1"/>
            </a:solidFill>
            <a:prstDash val="solid"/>
          </a:ln>
        </p:spPr>
      </p:sp>
      <p:sp>
        <p:nvSpPr>
          <p:cNvPr id="19" name="Text 17"/>
          <p:cNvSpPr txBox="1"/>
          <p:nvPr/>
        </p:nvSpPr>
        <p:spPr>
          <a:xfrm>
            <a:off x="658368" y="5349240"/>
            <a:ext cx="2423160" cy="731520"/>
          </a:xfrm>
          <a:prstGeom prst="rect">
            <a:avLst/>
          </a:prstGeom>
          <a:noFill/>
          <a:ln/>
        </p:spPr>
        <p:txBody>
          <a:bodyPr wrap="square" lIns="0" tIns="0" rIns="0" bIns="0" rtlCol="0" anchor="ctr"/>
          <a:lstStyle/>
          <a:p>
            <a:pPr indent="0" marL="0">
              <a:buNone/>
            </a:pPr>
            <a:r>
              <a:rPr lang="en-US" sz="1300" dirty="0">
                <a:solidFill>
                  <a:schemeClr val="tx1"/>
                </a:solidFill>
              </a:rPr>
              <a:t>48 h budget with milestones</a:t>
            </a:r>
            <a:endParaRPr lang="en-US" sz="1300" dirty="0"/>
          </a:p>
        </p:txBody>
      </p:sp>
      <p:sp>
        <p:nvSpPr>
          <p:cNvPr id="20" name="Shape 18"/>
          <p:cNvSpPr/>
          <p:nvPr/>
        </p:nvSpPr>
        <p:spPr>
          <a:xfrm>
            <a:off x="3291840" y="5349240"/>
            <a:ext cx="2606040" cy="731520"/>
          </a:xfrm>
          <a:prstGeom prst="roundRect">
            <a:avLst>
              <a:gd name="adj" fmla="val 15000"/>
            </a:avLst>
          </a:prstGeom>
          <a:solidFill>
            <a:schemeClr val="accent1">
              <a:alpha val="18000"/>
            </a:schemeClr>
          </a:solidFill>
          <a:ln w="12700">
            <a:solidFill>
              <a:schemeClr val="accent1"/>
            </a:solidFill>
            <a:prstDash val="solid"/>
          </a:ln>
        </p:spPr>
      </p:sp>
      <p:sp>
        <p:nvSpPr>
          <p:cNvPr id="21" name="Text 19"/>
          <p:cNvSpPr txBox="1"/>
          <p:nvPr/>
        </p:nvSpPr>
        <p:spPr>
          <a:xfrm>
            <a:off x="3401568" y="5349240"/>
            <a:ext cx="2423160" cy="731520"/>
          </a:xfrm>
          <a:prstGeom prst="rect">
            <a:avLst/>
          </a:prstGeom>
          <a:noFill/>
          <a:ln/>
        </p:spPr>
        <p:txBody>
          <a:bodyPr wrap="square" lIns="0" tIns="0" rIns="0" bIns="0" rtlCol="0" anchor="ctr"/>
          <a:lstStyle/>
          <a:p>
            <a:pPr indent="0" marL="0">
              <a:buNone/>
            </a:pPr>
            <a:r>
              <a:rPr lang="en-US" sz="1300" dirty="0">
                <a:solidFill>
                  <a:schemeClr val="tx1"/>
                </a:solidFill>
              </a:rPr>
              <a:t>Journal-style REPORT</a:t>
            </a:r>
            <a:endParaRPr lang="en-US" sz="1300" dirty="0"/>
          </a:p>
        </p:txBody>
      </p:sp>
      <p:sp>
        <p:nvSpPr>
          <p:cNvPr id="22" name="Text 20"/>
          <p:cNvSpPr txBox="1"/>
          <p:nvPr/>
        </p:nvSpPr>
        <p:spPr>
          <a:xfrm>
            <a:off x="6172200" y="2194560"/>
            <a:ext cx="5394960" cy="411480"/>
          </a:xfrm>
          <a:prstGeom prst="rect">
            <a:avLst/>
          </a:prstGeom>
          <a:noFill/>
          <a:ln/>
        </p:spPr>
        <p:txBody>
          <a:bodyPr wrap="square" lIns="0" tIns="0" rIns="0" bIns="0" rtlCol="0" anchor="t"/>
          <a:lstStyle/>
          <a:p>
            <a:pPr indent="0" marL="0">
              <a:buNone/>
            </a:pPr>
            <a:r>
              <a:rPr lang="en-US" sz="2000" b="1" dirty="0">
                <a:solidFill>
                  <a:schemeClr val="accent2"/>
                </a:solidFill>
                <a:latin typeface="Cambria" pitchFamily="34" charset="0"/>
                <a:ea typeface="Cambria" pitchFamily="34" charset="-122"/>
                <a:cs typeface="Cambria" pitchFamily="34" charset="-120"/>
              </a:rPr>
              <a:t>Specific: orthology</a:t>
            </a:r>
            <a:endParaRPr lang="en-US" sz="2000" dirty="0"/>
          </a:p>
        </p:txBody>
      </p:sp>
      <p:sp>
        <p:nvSpPr>
          <p:cNvPr id="23" name="Shape 21"/>
          <p:cNvSpPr/>
          <p:nvPr/>
        </p:nvSpPr>
        <p:spPr>
          <a:xfrm>
            <a:off x="6172200" y="2743200"/>
            <a:ext cx="2606040" cy="731520"/>
          </a:xfrm>
          <a:prstGeom prst="roundRect">
            <a:avLst>
              <a:gd name="adj" fmla="val 15000"/>
            </a:avLst>
          </a:prstGeom>
          <a:solidFill>
            <a:schemeClr val="accent2">
              <a:alpha val="18000"/>
            </a:schemeClr>
          </a:solidFill>
          <a:ln w="12700">
            <a:solidFill>
              <a:schemeClr val="accent2"/>
            </a:solidFill>
            <a:prstDash val="solid"/>
          </a:ln>
        </p:spPr>
      </p:sp>
      <p:sp>
        <p:nvSpPr>
          <p:cNvPr id="24" name="Text 22"/>
          <p:cNvSpPr txBox="1"/>
          <p:nvPr/>
        </p:nvSpPr>
        <p:spPr>
          <a:xfrm>
            <a:off x="6281928" y="2743200"/>
            <a:ext cx="2423160" cy="731520"/>
          </a:xfrm>
          <a:prstGeom prst="rect">
            <a:avLst/>
          </a:prstGeom>
          <a:noFill/>
          <a:ln/>
        </p:spPr>
        <p:txBody>
          <a:bodyPr wrap="square" lIns="0" tIns="0" rIns="0" bIns="0" rtlCol="0" anchor="ctr"/>
          <a:lstStyle/>
          <a:p>
            <a:pPr indent="0" marL="0">
              <a:buNone/>
            </a:pPr>
            <a:r>
              <a:rPr lang="en-US" sz="1300" dirty="0">
                <a:solidFill>
                  <a:schemeClr val="tx1"/>
                </a:solidFill>
              </a:rPr>
              <a:t>Conceptually different method</a:t>
            </a:r>
            <a:endParaRPr lang="en-US" sz="1300" dirty="0"/>
          </a:p>
        </p:txBody>
      </p:sp>
      <p:sp>
        <p:nvSpPr>
          <p:cNvPr id="25" name="Shape 23"/>
          <p:cNvSpPr/>
          <p:nvPr/>
        </p:nvSpPr>
        <p:spPr>
          <a:xfrm>
            <a:off x="8915400" y="2743200"/>
            <a:ext cx="2606040" cy="731520"/>
          </a:xfrm>
          <a:prstGeom prst="roundRect">
            <a:avLst>
              <a:gd name="adj" fmla="val 15000"/>
            </a:avLst>
          </a:prstGeom>
          <a:solidFill>
            <a:schemeClr val="accent2">
              <a:alpha val="18000"/>
            </a:schemeClr>
          </a:solidFill>
          <a:ln w="12700">
            <a:solidFill>
              <a:schemeClr val="accent2"/>
            </a:solidFill>
            <a:prstDash val="solid"/>
          </a:ln>
        </p:spPr>
      </p:sp>
      <p:sp>
        <p:nvSpPr>
          <p:cNvPr id="26" name="Text 24"/>
          <p:cNvSpPr txBox="1"/>
          <p:nvPr/>
        </p:nvSpPr>
        <p:spPr>
          <a:xfrm>
            <a:off x="9025128" y="2743200"/>
            <a:ext cx="2423160" cy="731520"/>
          </a:xfrm>
          <a:prstGeom prst="rect">
            <a:avLst/>
          </a:prstGeom>
          <a:noFill/>
          <a:ln/>
        </p:spPr>
        <p:txBody>
          <a:bodyPr wrap="square" lIns="0" tIns="0" rIns="0" bIns="0" rtlCol="0" anchor="ctr"/>
          <a:lstStyle/>
          <a:p>
            <a:pPr indent="0" marL="0">
              <a:buNone/>
            </a:pPr>
            <a:r>
              <a:rPr lang="en-US" sz="1300" dirty="0">
                <a:solidFill>
                  <a:schemeClr val="tx1"/>
                </a:solidFill>
              </a:rPr>
              <a:t>Dozens → thousands of proteomes</a:t>
            </a:r>
            <a:endParaRPr lang="en-US" sz="1300" dirty="0"/>
          </a:p>
        </p:txBody>
      </p:sp>
      <p:sp>
        <p:nvSpPr>
          <p:cNvPr id="27" name="Shape 25"/>
          <p:cNvSpPr/>
          <p:nvPr/>
        </p:nvSpPr>
        <p:spPr>
          <a:xfrm>
            <a:off x="6172200" y="3611880"/>
            <a:ext cx="2606040" cy="731520"/>
          </a:xfrm>
          <a:prstGeom prst="roundRect">
            <a:avLst>
              <a:gd name="adj" fmla="val 15000"/>
            </a:avLst>
          </a:prstGeom>
          <a:solidFill>
            <a:schemeClr val="accent2">
              <a:alpha val="18000"/>
            </a:schemeClr>
          </a:solidFill>
          <a:ln w="12700">
            <a:solidFill>
              <a:schemeClr val="accent2"/>
            </a:solidFill>
            <a:prstDash val="solid"/>
          </a:ln>
        </p:spPr>
      </p:sp>
      <p:sp>
        <p:nvSpPr>
          <p:cNvPr id="28" name="Text 26"/>
          <p:cNvSpPr txBox="1"/>
          <p:nvPr/>
        </p:nvSpPr>
        <p:spPr>
          <a:xfrm>
            <a:off x="6281928" y="3611880"/>
            <a:ext cx="2423160" cy="731520"/>
          </a:xfrm>
          <a:prstGeom prst="rect">
            <a:avLst/>
          </a:prstGeom>
          <a:noFill/>
          <a:ln/>
        </p:spPr>
        <p:txBody>
          <a:bodyPr wrap="square" lIns="0" tIns="0" rIns="0" bIns="0" rtlCol="0" anchor="ctr"/>
          <a:lstStyle/>
          <a:p>
            <a:pPr indent="0" marL="0">
              <a:buNone/>
            </a:pPr>
            <a:r>
              <a:rPr lang="en-US" sz="1300" dirty="0">
                <a:solidFill>
                  <a:schemeClr val="tx1"/>
                </a:solidFill>
              </a:rPr>
              <a:t>Hierarchical groups in OrthoXML</a:t>
            </a:r>
            <a:endParaRPr lang="en-US" sz="1300" dirty="0"/>
          </a:p>
        </p:txBody>
      </p:sp>
      <p:sp>
        <p:nvSpPr>
          <p:cNvPr id="29" name="Shape 27"/>
          <p:cNvSpPr/>
          <p:nvPr/>
        </p:nvSpPr>
        <p:spPr>
          <a:xfrm>
            <a:off x="8915400" y="3611880"/>
            <a:ext cx="2606040" cy="731520"/>
          </a:xfrm>
          <a:prstGeom prst="roundRect">
            <a:avLst>
              <a:gd name="adj" fmla="val 15000"/>
            </a:avLst>
          </a:prstGeom>
          <a:solidFill>
            <a:schemeClr val="accent2">
              <a:alpha val="18000"/>
            </a:schemeClr>
          </a:solidFill>
          <a:ln w="12700">
            <a:solidFill>
              <a:schemeClr val="accent2"/>
            </a:solidFill>
            <a:prstDash val="solid"/>
          </a:ln>
        </p:spPr>
      </p:sp>
      <p:sp>
        <p:nvSpPr>
          <p:cNvPr id="30" name="Text 28"/>
          <p:cNvSpPr txBox="1"/>
          <p:nvPr/>
        </p:nvSpPr>
        <p:spPr>
          <a:xfrm>
            <a:off x="9025128" y="3611880"/>
            <a:ext cx="2423160" cy="731520"/>
          </a:xfrm>
          <a:prstGeom prst="rect">
            <a:avLst/>
          </a:prstGeom>
          <a:noFill/>
          <a:ln/>
        </p:spPr>
        <p:txBody>
          <a:bodyPr wrap="square" lIns="0" tIns="0" rIns="0" bIns="0" rtlCol="0" anchor="ctr"/>
          <a:lstStyle/>
          <a:p>
            <a:pPr indent="0" marL="0">
              <a:buNone/>
            </a:pPr>
            <a:r>
              <a:rPr lang="en-US" sz="1300" dirty="0">
                <a:solidFill>
                  <a:schemeClr val="tx1"/>
                </a:solidFill>
              </a:rPr>
              <a:t>Alternatives to one species tree</a:t>
            </a:r>
            <a:endParaRPr lang="en-US" sz="1300" dirty="0"/>
          </a:p>
        </p:txBody>
      </p:sp>
      <p:sp>
        <p:nvSpPr>
          <p:cNvPr id="31" name="Shape 29"/>
          <p:cNvSpPr/>
          <p:nvPr/>
        </p:nvSpPr>
        <p:spPr>
          <a:xfrm>
            <a:off x="6172200" y="4480560"/>
            <a:ext cx="2606040" cy="731520"/>
          </a:xfrm>
          <a:prstGeom prst="roundRect">
            <a:avLst>
              <a:gd name="adj" fmla="val 15000"/>
            </a:avLst>
          </a:prstGeom>
          <a:solidFill>
            <a:schemeClr val="accent2">
              <a:alpha val="18000"/>
            </a:schemeClr>
          </a:solidFill>
          <a:ln w="12700">
            <a:solidFill>
              <a:schemeClr val="accent2"/>
            </a:solidFill>
            <a:prstDash val="solid"/>
          </a:ln>
        </p:spPr>
      </p:sp>
      <p:sp>
        <p:nvSpPr>
          <p:cNvPr id="32" name="Text 30"/>
          <p:cNvSpPr txBox="1"/>
          <p:nvPr/>
        </p:nvSpPr>
        <p:spPr>
          <a:xfrm>
            <a:off x="6281928" y="4480560"/>
            <a:ext cx="2423160" cy="731520"/>
          </a:xfrm>
          <a:prstGeom prst="rect">
            <a:avLst/>
          </a:prstGeom>
          <a:noFill/>
          <a:ln/>
        </p:spPr>
        <p:txBody>
          <a:bodyPr wrap="square" lIns="0" tIns="0" rIns="0" bIns="0" rtlCol="0" anchor="ctr"/>
          <a:lstStyle/>
          <a:p>
            <a:pPr indent="0" marL="0">
              <a:buNone/>
            </a:pPr>
            <a:r>
              <a:rPr lang="en-US" sz="1300" dirty="0">
                <a:solidFill>
                  <a:schemeClr val="tx1"/>
                </a:solidFill>
              </a:rPr>
              <a:t>Extra data: structure, synteny, omics, isoforms, DNA</a:t>
            </a:r>
            <a:endParaRPr lang="en-US" sz="1300" dirty="0"/>
          </a:p>
        </p:txBody>
      </p:sp>
      <p:sp>
        <p:nvSpPr>
          <p:cNvPr id="33" name="Shape 31"/>
          <p:cNvSpPr/>
          <p:nvPr/>
        </p:nvSpPr>
        <p:spPr>
          <a:xfrm>
            <a:off x="8915400" y="4480560"/>
            <a:ext cx="2606040" cy="731520"/>
          </a:xfrm>
          <a:prstGeom prst="roundRect">
            <a:avLst>
              <a:gd name="adj" fmla="val 15000"/>
            </a:avLst>
          </a:prstGeom>
          <a:solidFill>
            <a:schemeClr val="accent2">
              <a:alpha val="18000"/>
            </a:schemeClr>
          </a:solidFill>
          <a:ln w="12700">
            <a:solidFill>
              <a:schemeClr val="accent2"/>
            </a:solidFill>
            <a:prstDash val="solid"/>
          </a:ln>
        </p:spPr>
      </p:sp>
      <p:sp>
        <p:nvSpPr>
          <p:cNvPr id="34" name="Text 32"/>
          <p:cNvSpPr txBox="1"/>
          <p:nvPr/>
        </p:nvSpPr>
        <p:spPr>
          <a:xfrm>
            <a:off x="9025128" y="4480560"/>
            <a:ext cx="2423160" cy="731520"/>
          </a:xfrm>
          <a:prstGeom prst="rect">
            <a:avLst/>
          </a:prstGeom>
          <a:noFill/>
          <a:ln/>
        </p:spPr>
        <p:txBody>
          <a:bodyPr wrap="square" lIns="0" tIns="0" rIns="0" bIns="0" rtlCol="0" anchor="ctr"/>
          <a:lstStyle/>
          <a:p>
            <a:pPr indent="0" marL="0">
              <a:buNone/>
            </a:pPr>
            <a:r>
              <a:rPr lang="en-US" sz="1300" dirty="0">
                <a:solidFill>
                  <a:schemeClr val="tx1"/>
                </a:solidFill>
              </a:rPr>
              <a:t>Benchmarks: QfO, OrthoBench, SwissTree</a:t>
            </a:r>
            <a:endParaRPr lang="en-US" sz="1300" dirty="0"/>
          </a:p>
        </p:txBody>
      </p:sp>
      <p:sp>
        <p:nvSpPr>
          <p:cNvPr id="35" name="Shape 33"/>
          <p:cNvSpPr/>
          <p:nvPr/>
        </p:nvSpPr>
        <p:spPr>
          <a:xfrm>
            <a:off x="6172200" y="5349240"/>
            <a:ext cx="2606040" cy="731520"/>
          </a:xfrm>
          <a:prstGeom prst="roundRect">
            <a:avLst>
              <a:gd name="adj" fmla="val 15000"/>
            </a:avLst>
          </a:prstGeom>
          <a:solidFill>
            <a:schemeClr val="accent2">
              <a:alpha val="18000"/>
            </a:schemeClr>
          </a:solidFill>
          <a:ln w="12700">
            <a:solidFill>
              <a:schemeClr val="accent2"/>
            </a:solidFill>
            <a:prstDash val="solid"/>
          </a:ln>
        </p:spPr>
      </p:sp>
      <p:sp>
        <p:nvSpPr>
          <p:cNvPr id="36" name="Text 34"/>
          <p:cNvSpPr txBox="1"/>
          <p:nvPr/>
        </p:nvSpPr>
        <p:spPr>
          <a:xfrm>
            <a:off x="6281928" y="5349240"/>
            <a:ext cx="2423160" cy="731520"/>
          </a:xfrm>
          <a:prstGeom prst="rect">
            <a:avLst/>
          </a:prstGeom>
          <a:noFill/>
          <a:ln/>
        </p:spPr>
        <p:txBody>
          <a:bodyPr wrap="square" lIns="0" tIns="0" rIns="0" bIns="0" rtlCol="0" anchor="ctr"/>
          <a:lstStyle/>
          <a:p>
            <a:pPr indent="0" marL="0">
              <a:buNone/>
            </a:pPr>
            <a:r>
              <a:rPr lang="en-US" sz="1300" dirty="0">
                <a:solidFill>
                  <a:schemeClr val="tx1"/>
                </a:solidFill>
              </a:rPr>
              <a:t>Separate benchmark repository</a:t>
            </a:r>
            <a:endParaRPr lang="en-US" sz="1300" dirty="0"/>
          </a:p>
        </p:txBody>
      </p:sp>
      <p:sp>
        <p:nvSpPr>
          <p:cNvPr id="37" name="Shape 35"/>
          <p:cNvSpPr/>
          <p:nvPr/>
        </p:nvSpPr>
        <p:spPr>
          <a:xfrm>
            <a:off x="8915400" y="5349240"/>
            <a:ext cx="2606040" cy="731520"/>
          </a:xfrm>
          <a:prstGeom prst="roundRect">
            <a:avLst>
              <a:gd name="adj" fmla="val 15000"/>
            </a:avLst>
          </a:prstGeom>
          <a:solidFill>
            <a:schemeClr val="accent2">
              <a:alpha val="18000"/>
            </a:schemeClr>
          </a:solidFill>
          <a:ln w="12700">
            <a:solidFill>
              <a:schemeClr val="accent2"/>
            </a:solidFill>
            <a:prstDash val="solid"/>
          </a:ln>
        </p:spPr>
      </p:sp>
      <p:sp>
        <p:nvSpPr>
          <p:cNvPr id="38" name="Text 36"/>
          <p:cNvSpPr txBox="1"/>
          <p:nvPr/>
        </p:nvSpPr>
        <p:spPr>
          <a:xfrm>
            <a:off x="9025128" y="5349240"/>
            <a:ext cx="2423160" cy="731520"/>
          </a:xfrm>
          <a:prstGeom prst="rect">
            <a:avLst/>
          </a:prstGeom>
          <a:noFill/>
          <a:ln/>
        </p:spPr>
        <p:txBody>
          <a:bodyPr wrap="square" lIns="0" tIns="0" rIns="0" bIns="0" rtlCol="0" anchor="ctr"/>
          <a:lstStyle/>
          <a:p>
            <a:pPr indent="0" marL="0">
              <a:buNone/>
            </a:pPr>
            <a:r>
              <a:rPr lang="en-US" sz="1300" dirty="0">
                <a:solidFill>
                  <a:schemeClr val="tx1"/>
                </a:solidFill>
              </a:rPr>
              <a:t>Consider GPU speed-ups</a:t>
            </a:r>
            <a:endParaRPr lang="en-US" sz="13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48 hours at a glance</a:t>
            </a:r>
            <a:endParaRPr lang="en-US" sz="3200" dirty="0"/>
          </a:p>
        </p:txBody>
      </p:sp>
      <p:sp>
        <p:nvSpPr>
          <p:cNvPr id="3" name="Shape 1"/>
          <p:cNvSpPr/>
          <p:nvPr/>
        </p:nvSpPr>
        <p:spPr>
          <a:xfrm>
            <a:off x="731520" y="3291840"/>
            <a:ext cx="10698480" cy="0"/>
          </a:xfrm>
          <a:prstGeom prst="line">
            <a:avLst/>
          </a:prstGeom>
          <a:noFill/>
          <a:ln w="38100">
            <a:solidFill>
              <a:schemeClr val="tx2"/>
            </a:solidFill>
            <a:prstDash val="solid"/>
          </a:ln>
        </p:spPr>
      </p:sp>
      <p:sp>
        <p:nvSpPr>
          <p:cNvPr id="4" name="Shape 2"/>
          <p:cNvSpPr/>
          <p:nvPr/>
        </p:nvSpPr>
        <p:spPr>
          <a:xfrm>
            <a:off x="4163949" y="3236976"/>
            <a:ext cx="7266051" cy="109728"/>
          </a:xfrm>
          <a:prstGeom prst="rect">
            <a:avLst/>
          </a:prstGeom>
          <a:solidFill>
            <a:schemeClr val="accent2">
              <a:alpha val="60000"/>
            </a:schemeClr>
          </a:solidFill>
          <a:ln w="12700">
            <a:solidFill>
              <a:schemeClr val="accent2"/>
            </a:solidFill>
            <a:prstDash val="solid"/>
          </a:ln>
        </p:spPr>
      </p:sp>
      <p:sp>
        <p:nvSpPr>
          <p:cNvPr id="5" name="Shape 3"/>
          <p:cNvSpPr/>
          <p:nvPr/>
        </p:nvSpPr>
        <p:spPr>
          <a:xfrm>
            <a:off x="630936" y="3191256"/>
            <a:ext cx="201168" cy="201168"/>
          </a:xfrm>
          <a:prstGeom prst="ellipse">
            <a:avLst/>
          </a:prstGeom>
          <a:solidFill>
            <a:schemeClr val="tx2"/>
          </a:solidFill>
          <a:ln w="12700">
            <a:solidFill>
              <a:schemeClr val="tx2"/>
            </a:solidFill>
            <a:prstDash val="solid"/>
          </a:ln>
        </p:spPr>
      </p:sp>
      <p:sp>
        <p:nvSpPr>
          <p:cNvPr id="6" name="Shape 4"/>
          <p:cNvSpPr/>
          <p:nvPr/>
        </p:nvSpPr>
        <p:spPr>
          <a:xfrm>
            <a:off x="731520" y="2880360"/>
            <a:ext cx="0" cy="301752"/>
          </a:xfrm>
          <a:prstGeom prst="line">
            <a:avLst/>
          </a:prstGeom>
          <a:noFill/>
          <a:ln w="12700">
            <a:solidFill>
              <a:schemeClr val="accent6"/>
            </a:solidFill>
            <a:prstDash val="solid"/>
          </a:ln>
        </p:spPr>
      </p:sp>
      <p:sp>
        <p:nvSpPr>
          <p:cNvPr id="7" name="Text 5"/>
          <p:cNvSpPr txBox="1"/>
          <p:nvPr/>
        </p:nvSpPr>
        <p:spPr>
          <a:xfrm>
            <a:off x="0" y="2194560"/>
            <a:ext cx="1463040" cy="320040"/>
          </a:xfrm>
          <a:prstGeom prst="rect">
            <a:avLst/>
          </a:prstGeom>
          <a:noFill/>
          <a:ln/>
        </p:spPr>
        <p:txBody>
          <a:bodyPr wrap="square" lIns="0" tIns="0" rIns="0" bIns="0" rtlCol="0" anchor="t"/>
          <a:lstStyle/>
          <a:p>
            <a:pPr algn="ctr" indent="0" marL="0">
              <a:buNone/>
            </a:pPr>
            <a:r>
              <a:rPr lang="en-US" sz="1400" b="1" dirty="0">
                <a:solidFill>
                  <a:schemeClr val="tx2"/>
                </a:solidFill>
              </a:rPr>
              <a:t>Start</a:t>
            </a:r>
            <a:endParaRPr lang="en-US" sz="1400" dirty="0"/>
          </a:p>
        </p:txBody>
      </p:sp>
      <p:sp>
        <p:nvSpPr>
          <p:cNvPr id="8" name="Text 6"/>
          <p:cNvSpPr txBox="1"/>
          <p:nvPr/>
        </p:nvSpPr>
        <p:spPr>
          <a:xfrm>
            <a:off x="0" y="2496312"/>
            <a:ext cx="1463040" cy="411480"/>
          </a:xfrm>
          <a:prstGeom prst="rect">
            <a:avLst/>
          </a:prstGeom>
          <a:noFill/>
          <a:ln/>
        </p:spPr>
        <p:txBody>
          <a:bodyPr wrap="square" lIns="0" tIns="0" rIns="0" bIns="0" rtlCol="0" anchor="t"/>
          <a:lstStyle/>
          <a:p>
            <a:pPr algn="ctr" indent="0" marL="0">
              <a:buNone/>
            </a:pPr>
            <a:r>
              <a:rPr lang="en-US" sz="1200" dirty="0">
                <a:solidFill>
                  <a:schemeClr val="accent6"/>
                </a:solidFill>
              </a:rPr>
              <a:t>prompt + START.txt</a:t>
            </a:r>
            <a:endParaRPr lang="en-US" sz="1200" dirty="0"/>
          </a:p>
        </p:txBody>
      </p:sp>
      <p:sp>
        <p:nvSpPr>
          <p:cNvPr id="9" name="Shape 7"/>
          <p:cNvSpPr/>
          <p:nvPr/>
        </p:nvSpPr>
        <p:spPr>
          <a:xfrm>
            <a:off x="876110" y="3191256"/>
            <a:ext cx="201168" cy="201168"/>
          </a:xfrm>
          <a:prstGeom prst="ellipse">
            <a:avLst/>
          </a:prstGeom>
          <a:solidFill>
            <a:schemeClr val="tx2"/>
          </a:solidFill>
          <a:ln w="12700">
            <a:solidFill>
              <a:schemeClr val="tx2"/>
            </a:solidFill>
            <a:prstDash val="solid"/>
          </a:ln>
        </p:spPr>
      </p:sp>
      <p:sp>
        <p:nvSpPr>
          <p:cNvPr id="10" name="Shape 8"/>
          <p:cNvSpPr/>
          <p:nvPr/>
        </p:nvSpPr>
        <p:spPr>
          <a:xfrm>
            <a:off x="976694" y="3401568"/>
            <a:ext cx="0" cy="301752"/>
          </a:xfrm>
          <a:prstGeom prst="line">
            <a:avLst/>
          </a:prstGeom>
          <a:noFill/>
          <a:ln w="12700">
            <a:solidFill>
              <a:schemeClr val="accent6"/>
            </a:solidFill>
            <a:prstDash val="solid"/>
          </a:ln>
        </p:spPr>
      </p:sp>
      <p:sp>
        <p:nvSpPr>
          <p:cNvPr id="11" name="Text 9"/>
          <p:cNvSpPr txBox="1"/>
          <p:nvPr/>
        </p:nvSpPr>
        <p:spPr>
          <a:xfrm>
            <a:off x="245173" y="3721608"/>
            <a:ext cx="1463040" cy="320040"/>
          </a:xfrm>
          <a:prstGeom prst="rect">
            <a:avLst/>
          </a:prstGeom>
          <a:noFill/>
          <a:ln/>
        </p:spPr>
        <p:txBody>
          <a:bodyPr wrap="square" lIns="0" tIns="0" rIns="0" bIns="0" rtlCol="0" anchor="t"/>
          <a:lstStyle/>
          <a:p>
            <a:pPr algn="ctr" indent="0" marL="0">
              <a:buNone/>
            </a:pPr>
            <a:r>
              <a:rPr lang="en-US" sz="1400" b="1" dirty="0">
                <a:solidFill>
                  <a:schemeClr val="tx2"/>
                </a:solidFill>
              </a:rPr>
              <a:t>Design v2</a:t>
            </a:r>
            <a:endParaRPr lang="en-US" sz="1400" dirty="0"/>
          </a:p>
        </p:txBody>
      </p:sp>
      <p:sp>
        <p:nvSpPr>
          <p:cNvPr id="12" name="Text 10"/>
          <p:cNvSpPr txBox="1"/>
          <p:nvPr/>
        </p:nvSpPr>
        <p:spPr>
          <a:xfrm>
            <a:off x="245173" y="4023360"/>
            <a:ext cx="1463040" cy="411480"/>
          </a:xfrm>
          <a:prstGeom prst="rect">
            <a:avLst/>
          </a:prstGeom>
          <a:noFill/>
          <a:ln/>
        </p:spPr>
        <p:txBody>
          <a:bodyPr wrap="square" lIns="0" tIns="0" rIns="0" bIns="0" rtlCol="0" anchor="t"/>
          <a:lstStyle/>
          <a:p>
            <a:pPr algn="ctr" indent="0" marL="0">
              <a:buNone/>
            </a:pPr>
            <a:r>
              <a:rPr lang="en-US" sz="1200" dirty="0">
                <a:solidFill>
                  <a:schemeClr val="accent6"/>
                </a:solidFill>
              </a:rPr>
              <a:t>8 agent reviews</a:t>
            </a:r>
            <a:endParaRPr lang="en-US" sz="1200" dirty="0"/>
          </a:p>
        </p:txBody>
      </p:sp>
      <p:sp>
        <p:nvSpPr>
          <p:cNvPr id="13" name="Shape 11"/>
          <p:cNvSpPr/>
          <p:nvPr/>
        </p:nvSpPr>
        <p:spPr>
          <a:xfrm>
            <a:off x="1789938" y="3191256"/>
            <a:ext cx="201168" cy="201168"/>
          </a:xfrm>
          <a:prstGeom prst="ellipse">
            <a:avLst/>
          </a:prstGeom>
          <a:solidFill>
            <a:schemeClr val="tx2"/>
          </a:solidFill>
          <a:ln w="12700">
            <a:solidFill>
              <a:schemeClr val="tx2"/>
            </a:solidFill>
            <a:prstDash val="solid"/>
          </a:ln>
        </p:spPr>
      </p:sp>
      <p:sp>
        <p:nvSpPr>
          <p:cNvPr id="14" name="Shape 12"/>
          <p:cNvSpPr/>
          <p:nvPr/>
        </p:nvSpPr>
        <p:spPr>
          <a:xfrm>
            <a:off x="1890522" y="2880360"/>
            <a:ext cx="0" cy="301752"/>
          </a:xfrm>
          <a:prstGeom prst="line">
            <a:avLst/>
          </a:prstGeom>
          <a:noFill/>
          <a:ln w="12700">
            <a:solidFill>
              <a:schemeClr val="accent6"/>
            </a:solidFill>
            <a:prstDash val="solid"/>
          </a:ln>
        </p:spPr>
      </p:sp>
      <p:sp>
        <p:nvSpPr>
          <p:cNvPr id="15" name="Text 13"/>
          <p:cNvSpPr txBox="1"/>
          <p:nvPr/>
        </p:nvSpPr>
        <p:spPr>
          <a:xfrm>
            <a:off x="1159002" y="2194560"/>
            <a:ext cx="1463040" cy="320040"/>
          </a:xfrm>
          <a:prstGeom prst="rect">
            <a:avLst/>
          </a:prstGeom>
          <a:noFill/>
          <a:ln/>
        </p:spPr>
        <p:txBody>
          <a:bodyPr wrap="square" lIns="0" tIns="0" rIns="0" bIns="0" rtlCol="0" anchor="t"/>
          <a:lstStyle/>
          <a:p>
            <a:pPr algn="ctr" indent="0" marL="0">
              <a:buNone/>
            </a:pPr>
            <a:r>
              <a:rPr lang="en-US" sz="1400" b="1" dirty="0">
                <a:solidFill>
                  <a:schemeClr val="tx2"/>
                </a:solidFill>
              </a:rPr>
              <a:t>Core works</a:t>
            </a:r>
            <a:endParaRPr lang="en-US" sz="1400" dirty="0"/>
          </a:p>
        </p:txBody>
      </p:sp>
      <p:sp>
        <p:nvSpPr>
          <p:cNvPr id="16" name="Text 14"/>
          <p:cNvSpPr txBox="1"/>
          <p:nvPr/>
        </p:nvSpPr>
        <p:spPr>
          <a:xfrm>
            <a:off x="1159002" y="2496312"/>
            <a:ext cx="1463040" cy="411480"/>
          </a:xfrm>
          <a:prstGeom prst="rect">
            <a:avLst/>
          </a:prstGeom>
          <a:noFill/>
          <a:ln/>
        </p:spPr>
        <p:txBody>
          <a:bodyPr wrap="square" lIns="0" tIns="0" rIns="0" bIns="0" rtlCol="0" anchor="t"/>
          <a:lstStyle/>
          <a:p>
            <a:pPr algn="ctr" indent="0" marL="0">
              <a:buNone/>
            </a:pPr>
            <a:r>
              <a:rPr lang="en-US" sz="1200" dirty="0">
                <a:solidFill>
                  <a:schemeClr val="accent6"/>
                </a:solidFill>
              </a:rPr>
              <a:t>OrthoBench dev</a:t>
            </a:r>
            <a:endParaRPr lang="en-US" sz="1200" dirty="0"/>
          </a:p>
        </p:txBody>
      </p:sp>
      <p:sp>
        <p:nvSpPr>
          <p:cNvPr id="17" name="Shape 15"/>
          <p:cNvSpPr/>
          <p:nvPr/>
        </p:nvSpPr>
        <p:spPr>
          <a:xfrm>
            <a:off x="2414016" y="3191256"/>
            <a:ext cx="201168" cy="201168"/>
          </a:xfrm>
          <a:prstGeom prst="ellipse">
            <a:avLst/>
          </a:prstGeom>
          <a:solidFill>
            <a:schemeClr val="tx2"/>
          </a:solidFill>
          <a:ln w="12700">
            <a:solidFill>
              <a:schemeClr val="tx2"/>
            </a:solidFill>
            <a:prstDash val="solid"/>
          </a:ln>
        </p:spPr>
      </p:sp>
      <p:sp>
        <p:nvSpPr>
          <p:cNvPr id="18" name="Shape 16"/>
          <p:cNvSpPr/>
          <p:nvPr/>
        </p:nvSpPr>
        <p:spPr>
          <a:xfrm>
            <a:off x="2514600" y="3401568"/>
            <a:ext cx="0" cy="301752"/>
          </a:xfrm>
          <a:prstGeom prst="line">
            <a:avLst/>
          </a:prstGeom>
          <a:noFill/>
          <a:ln w="12700">
            <a:solidFill>
              <a:schemeClr val="accent6"/>
            </a:solidFill>
            <a:prstDash val="solid"/>
          </a:ln>
        </p:spPr>
      </p:sp>
      <p:sp>
        <p:nvSpPr>
          <p:cNvPr id="19" name="Text 17"/>
          <p:cNvSpPr txBox="1"/>
          <p:nvPr/>
        </p:nvSpPr>
        <p:spPr>
          <a:xfrm>
            <a:off x="1783080" y="3721608"/>
            <a:ext cx="1463040" cy="320040"/>
          </a:xfrm>
          <a:prstGeom prst="rect">
            <a:avLst/>
          </a:prstGeom>
          <a:noFill/>
          <a:ln/>
        </p:spPr>
        <p:txBody>
          <a:bodyPr wrap="square" lIns="0" tIns="0" rIns="0" bIns="0" rtlCol="0" anchor="t"/>
          <a:lstStyle/>
          <a:p>
            <a:pPr algn="ctr" indent="0" marL="0">
              <a:buNone/>
            </a:pPr>
            <a:r>
              <a:rPr lang="en-US" sz="1400" b="1" dirty="0">
                <a:solidFill>
                  <a:schemeClr val="tx2"/>
                </a:solidFill>
              </a:rPr>
              <a:t>QfO peek 1</a:t>
            </a:r>
            <a:endParaRPr lang="en-US" sz="1400" dirty="0"/>
          </a:p>
        </p:txBody>
      </p:sp>
      <p:sp>
        <p:nvSpPr>
          <p:cNvPr id="20" name="Text 18"/>
          <p:cNvSpPr txBox="1"/>
          <p:nvPr/>
        </p:nvSpPr>
        <p:spPr>
          <a:xfrm>
            <a:off x="1783080" y="4023360"/>
            <a:ext cx="1463040" cy="411480"/>
          </a:xfrm>
          <a:prstGeom prst="rect">
            <a:avLst/>
          </a:prstGeom>
          <a:noFill/>
          <a:ln/>
        </p:spPr>
        <p:txBody>
          <a:bodyPr wrap="square" lIns="0" tIns="0" rIns="0" bIns="0" rtlCol="0" anchor="t"/>
          <a:lstStyle/>
          <a:p>
            <a:pPr algn="ctr" indent="0" marL="0">
              <a:buNone/>
            </a:pPr>
            <a:r>
              <a:rPr lang="en-US" sz="1200" dirty="0">
                <a:solidFill>
                  <a:schemeClr val="accent6"/>
                </a:solidFill>
              </a:rPr>
              <a:t>recall too low</a:t>
            </a:r>
            <a:endParaRPr lang="en-US" sz="1200" dirty="0"/>
          </a:p>
        </p:txBody>
      </p:sp>
      <p:sp>
        <p:nvSpPr>
          <p:cNvPr id="21" name="Shape 19"/>
          <p:cNvSpPr/>
          <p:nvPr/>
        </p:nvSpPr>
        <p:spPr>
          <a:xfrm>
            <a:off x="4063365" y="3191256"/>
            <a:ext cx="201168" cy="201168"/>
          </a:xfrm>
          <a:prstGeom prst="ellipse">
            <a:avLst/>
          </a:prstGeom>
          <a:solidFill>
            <a:schemeClr val="tx2"/>
          </a:solidFill>
          <a:ln w="12700">
            <a:solidFill>
              <a:schemeClr val="tx2"/>
            </a:solidFill>
            <a:prstDash val="solid"/>
          </a:ln>
        </p:spPr>
      </p:sp>
      <p:sp>
        <p:nvSpPr>
          <p:cNvPr id="22" name="Shape 20"/>
          <p:cNvSpPr/>
          <p:nvPr/>
        </p:nvSpPr>
        <p:spPr>
          <a:xfrm>
            <a:off x="4163949" y="2880360"/>
            <a:ext cx="0" cy="301752"/>
          </a:xfrm>
          <a:prstGeom prst="line">
            <a:avLst/>
          </a:prstGeom>
          <a:noFill/>
          <a:ln w="12700">
            <a:solidFill>
              <a:schemeClr val="accent6"/>
            </a:solidFill>
            <a:prstDash val="solid"/>
          </a:ln>
        </p:spPr>
      </p:sp>
      <p:sp>
        <p:nvSpPr>
          <p:cNvPr id="23" name="Text 21"/>
          <p:cNvSpPr txBox="1"/>
          <p:nvPr/>
        </p:nvSpPr>
        <p:spPr>
          <a:xfrm>
            <a:off x="3432429" y="2194560"/>
            <a:ext cx="1463040" cy="320040"/>
          </a:xfrm>
          <a:prstGeom prst="rect">
            <a:avLst/>
          </a:prstGeom>
          <a:noFill/>
          <a:ln/>
        </p:spPr>
        <p:txBody>
          <a:bodyPr wrap="square" lIns="0" tIns="0" rIns="0" bIns="0" rtlCol="0" anchor="t"/>
          <a:lstStyle/>
          <a:p>
            <a:pPr algn="ctr" indent="0" marL="0">
              <a:buNone/>
            </a:pPr>
            <a:r>
              <a:rPr lang="en-US" sz="1400" b="1" dirty="0">
                <a:solidFill>
                  <a:schemeClr val="tx2"/>
                </a:solidFill>
              </a:rPr>
              <a:t>Freeze v1</a:t>
            </a:r>
            <a:endParaRPr lang="en-US" sz="1400" dirty="0"/>
          </a:p>
        </p:txBody>
      </p:sp>
      <p:sp>
        <p:nvSpPr>
          <p:cNvPr id="24" name="Text 22"/>
          <p:cNvSpPr txBox="1"/>
          <p:nvPr/>
        </p:nvSpPr>
        <p:spPr>
          <a:xfrm>
            <a:off x="3432429" y="2496312"/>
            <a:ext cx="1463040" cy="411480"/>
          </a:xfrm>
          <a:prstGeom prst="rect">
            <a:avLst/>
          </a:prstGeom>
          <a:noFill/>
          <a:ln/>
        </p:spPr>
        <p:txBody>
          <a:bodyPr wrap="square" lIns="0" tIns="0" rIns="0" bIns="0" rtlCol="0" anchor="t"/>
          <a:lstStyle/>
          <a:p>
            <a:pPr algn="ctr" indent="0" marL="0">
              <a:buNone/>
            </a:pPr>
            <a:r>
              <a:rPr lang="en-US" sz="1200" dirty="0">
                <a:solidFill>
                  <a:schemeClr val="accent6"/>
                </a:solidFill>
              </a:rPr>
              <a:t>two presets</a:t>
            </a:r>
            <a:endParaRPr lang="en-US" sz="1200" dirty="0"/>
          </a:p>
        </p:txBody>
      </p:sp>
      <p:sp>
        <p:nvSpPr>
          <p:cNvPr id="25" name="Shape 23"/>
          <p:cNvSpPr/>
          <p:nvPr/>
        </p:nvSpPr>
        <p:spPr>
          <a:xfrm>
            <a:off x="4531424" y="3191256"/>
            <a:ext cx="201168" cy="201168"/>
          </a:xfrm>
          <a:prstGeom prst="ellipse">
            <a:avLst/>
          </a:prstGeom>
          <a:solidFill>
            <a:schemeClr val="accent2"/>
          </a:solidFill>
          <a:ln w="12700">
            <a:solidFill>
              <a:schemeClr val="accent2"/>
            </a:solidFill>
            <a:prstDash val="solid"/>
          </a:ln>
        </p:spPr>
      </p:sp>
      <p:sp>
        <p:nvSpPr>
          <p:cNvPr id="26" name="Shape 24"/>
          <p:cNvSpPr/>
          <p:nvPr/>
        </p:nvSpPr>
        <p:spPr>
          <a:xfrm>
            <a:off x="4632008" y="3401568"/>
            <a:ext cx="0" cy="301752"/>
          </a:xfrm>
          <a:prstGeom prst="line">
            <a:avLst/>
          </a:prstGeom>
          <a:noFill/>
          <a:ln w="12700">
            <a:solidFill>
              <a:schemeClr val="accent6"/>
            </a:solidFill>
            <a:prstDash val="solid"/>
          </a:ln>
        </p:spPr>
      </p:sp>
      <p:sp>
        <p:nvSpPr>
          <p:cNvPr id="27" name="Text 25"/>
          <p:cNvSpPr txBox="1"/>
          <p:nvPr/>
        </p:nvSpPr>
        <p:spPr>
          <a:xfrm>
            <a:off x="3900488" y="3721608"/>
            <a:ext cx="1463040" cy="320040"/>
          </a:xfrm>
          <a:prstGeom prst="rect">
            <a:avLst/>
          </a:prstGeom>
          <a:noFill/>
          <a:ln/>
        </p:spPr>
        <p:txBody>
          <a:bodyPr wrap="square" lIns="0" tIns="0" rIns="0" bIns="0" rtlCol="0" anchor="t"/>
          <a:lstStyle/>
          <a:p>
            <a:pPr algn="ctr" indent="0" marL="0">
              <a:buNone/>
            </a:pPr>
            <a:r>
              <a:rPr lang="en-US" sz="1400" b="1" dirty="0">
                <a:solidFill>
                  <a:schemeClr val="tx2"/>
                </a:solidFill>
              </a:rPr>
              <a:t>Test scored</a:t>
            </a:r>
            <a:endParaRPr lang="en-US" sz="1400" dirty="0"/>
          </a:p>
        </p:txBody>
      </p:sp>
      <p:sp>
        <p:nvSpPr>
          <p:cNvPr id="28" name="Text 26"/>
          <p:cNvSpPr txBox="1"/>
          <p:nvPr/>
        </p:nvSpPr>
        <p:spPr>
          <a:xfrm>
            <a:off x="3900488" y="4023360"/>
            <a:ext cx="1463040" cy="411480"/>
          </a:xfrm>
          <a:prstGeom prst="rect">
            <a:avLst/>
          </a:prstGeom>
          <a:noFill/>
          <a:ln/>
        </p:spPr>
        <p:txBody>
          <a:bodyPr wrap="square" lIns="0" tIns="0" rIns="0" bIns="0" rtlCol="0" anchor="t"/>
          <a:lstStyle/>
          <a:p>
            <a:pPr algn="ctr" indent="0" marL="0">
              <a:buNone/>
            </a:pPr>
            <a:r>
              <a:rPr lang="en-US" sz="1200" dirty="0">
                <a:solidFill>
                  <a:schemeClr val="accent6"/>
                </a:solidFill>
              </a:rPr>
              <a:t>OrthoBench, once</a:t>
            </a:r>
            <a:endParaRPr lang="en-US" sz="1200" dirty="0"/>
          </a:p>
        </p:txBody>
      </p:sp>
      <p:sp>
        <p:nvSpPr>
          <p:cNvPr id="29" name="Shape 27"/>
          <p:cNvSpPr/>
          <p:nvPr/>
        </p:nvSpPr>
        <p:spPr>
          <a:xfrm>
            <a:off x="4932616" y="3191256"/>
            <a:ext cx="201168" cy="201168"/>
          </a:xfrm>
          <a:prstGeom prst="ellipse">
            <a:avLst/>
          </a:prstGeom>
          <a:solidFill>
            <a:schemeClr val="accent2"/>
          </a:solidFill>
          <a:ln w="12700">
            <a:solidFill>
              <a:schemeClr val="accent2"/>
            </a:solidFill>
            <a:prstDash val="solid"/>
          </a:ln>
        </p:spPr>
      </p:sp>
      <p:sp>
        <p:nvSpPr>
          <p:cNvPr id="30" name="Shape 28"/>
          <p:cNvSpPr/>
          <p:nvPr/>
        </p:nvSpPr>
        <p:spPr>
          <a:xfrm>
            <a:off x="5033201" y="2880360"/>
            <a:ext cx="0" cy="301752"/>
          </a:xfrm>
          <a:prstGeom prst="line">
            <a:avLst/>
          </a:prstGeom>
          <a:noFill/>
          <a:ln w="12700">
            <a:solidFill>
              <a:schemeClr val="accent6"/>
            </a:solidFill>
            <a:prstDash val="solid"/>
          </a:ln>
        </p:spPr>
      </p:sp>
      <p:sp>
        <p:nvSpPr>
          <p:cNvPr id="31" name="Text 29"/>
          <p:cNvSpPr txBox="1"/>
          <p:nvPr/>
        </p:nvSpPr>
        <p:spPr>
          <a:xfrm>
            <a:off x="4301681" y="2194560"/>
            <a:ext cx="1463040" cy="320040"/>
          </a:xfrm>
          <a:prstGeom prst="rect">
            <a:avLst/>
          </a:prstGeom>
          <a:noFill/>
          <a:ln/>
        </p:spPr>
        <p:txBody>
          <a:bodyPr wrap="square" lIns="0" tIns="0" rIns="0" bIns="0" rtlCol="0" anchor="t"/>
          <a:lstStyle/>
          <a:p>
            <a:pPr algn="ctr" indent="0" marL="0">
              <a:buNone/>
            </a:pPr>
            <a:r>
              <a:rPr lang="en-US" sz="1400" b="1" dirty="0">
                <a:solidFill>
                  <a:schemeClr val="tx2"/>
                </a:solidFill>
              </a:rPr>
              <a:t>QfO final</a:t>
            </a:r>
            <a:endParaRPr lang="en-US" sz="1400" dirty="0"/>
          </a:p>
        </p:txBody>
      </p:sp>
      <p:sp>
        <p:nvSpPr>
          <p:cNvPr id="32" name="Text 30"/>
          <p:cNvSpPr txBox="1"/>
          <p:nvPr/>
        </p:nvSpPr>
        <p:spPr>
          <a:xfrm>
            <a:off x="4301681" y="2496312"/>
            <a:ext cx="1463040" cy="411480"/>
          </a:xfrm>
          <a:prstGeom prst="rect">
            <a:avLst/>
          </a:prstGeom>
          <a:noFill/>
          <a:ln/>
        </p:spPr>
        <p:txBody>
          <a:bodyPr wrap="square" lIns="0" tIns="0" rIns="0" bIns="0" rtlCol="0" anchor="t"/>
          <a:lstStyle/>
          <a:p>
            <a:pPr algn="ctr" indent="0" marL="0">
              <a:buNone/>
            </a:pPr>
            <a:r>
              <a:rPr lang="en-US" sz="1200" dirty="0">
                <a:solidFill>
                  <a:schemeClr val="accent6"/>
                </a:solidFill>
              </a:rPr>
              <a:t>then GPU node</a:t>
            </a:r>
            <a:endParaRPr lang="en-US" sz="1200" dirty="0"/>
          </a:p>
        </p:txBody>
      </p:sp>
      <p:sp>
        <p:nvSpPr>
          <p:cNvPr id="33" name="Shape 31"/>
          <p:cNvSpPr/>
          <p:nvPr/>
        </p:nvSpPr>
        <p:spPr>
          <a:xfrm>
            <a:off x="5645849" y="3191256"/>
            <a:ext cx="201168" cy="201168"/>
          </a:xfrm>
          <a:prstGeom prst="ellipse">
            <a:avLst/>
          </a:prstGeom>
          <a:solidFill>
            <a:schemeClr val="accent2"/>
          </a:solidFill>
          <a:ln w="12700">
            <a:solidFill>
              <a:schemeClr val="accent2"/>
            </a:solidFill>
            <a:prstDash val="solid"/>
          </a:ln>
        </p:spPr>
      </p:sp>
      <p:sp>
        <p:nvSpPr>
          <p:cNvPr id="34" name="Shape 32"/>
          <p:cNvSpPr/>
          <p:nvPr/>
        </p:nvSpPr>
        <p:spPr>
          <a:xfrm>
            <a:off x="5746433" y="3401568"/>
            <a:ext cx="0" cy="301752"/>
          </a:xfrm>
          <a:prstGeom prst="line">
            <a:avLst/>
          </a:prstGeom>
          <a:noFill/>
          <a:ln w="12700">
            <a:solidFill>
              <a:schemeClr val="accent6"/>
            </a:solidFill>
            <a:prstDash val="solid"/>
          </a:ln>
        </p:spPr>
      </p:sp>
      <p:sp>
        <p:nvSpPr>
          <p:cNvPr id="35" name="Text 33"/>
          <p:cNvSpPr txBox="1"/>
          <p:nvPr/>
        </p:nvSpPr>
        <p:spPr>
          <a:xfrm>
            <a:off x="5014913" y="3721608"/>
            <a:ext cx="1463040" cy="320040"/>
          </a:xfrm>
          <a:prstGeom prst="rect">
            <a:avLst/>
          </a:prstGeom>
          <a:noFill/>
          <a:ln/>
        </p:spPr>
        <p:txBody>
          <a:bodyPr wrap="square" lIns="0" tIns="0" rIns="0" bIns="0" rtlCol="0" anchor="t"/>
          <a:lstStyle/>
          <a:p>
            <a:pPr algn="ctr" indent="0" marL="0">
              <a:buNone/>
            </a:pPr>
            <a:r>
              <a:rPr lang="en-US" sz="1400" b="1" dirty="0">
                <a:solidFill>
                  <a:schemeClr val="tx2"/>
                </a:solidFill>
              </a:rPr>
              <a:t>Report</a:t>
            </a:r>
            <a:endParaRPr lang="en-US" sz="1400" dirty="0"/>
          </a:p>
        </p:txBody>
      </p:sp>
      <p:sp>
        <p:nvSpPr>
          <p:cNvPr id="36" name="Text 34"/>
          <p:cNvSpPr txBox="1"/>
          <p:nvPr/>
        </p:nvSpPr>
        <p:spPr>
          <a:xfrm>
            <a:off x="5014913" y="4023360"/>
            <a:ext cx="1463040" cy="411480"/>
          </a:xfrm>
          <a:prstGeom prst="rect">
            <a:avLst/>
          </a:prstGeom>
          <a:noFill/>
          <a:ln/>
        </p:spPr>
        <p:txBody>
          <a:bodyPr wrap="square" lIns="0" tIns="0" rIns="0" bIns="0" rtlCol="0" anchor="t"/>
          <a:lstStyle/>
          <a:p>
            <a:pPr algn="ctr" indent="0" marL="0">
              <a:buNone/>
            </a:pPr>
            <a:r>
              <a:rPr lang="en-US" sz="1200" dirty="0">
                <a:solidFill>
                  <a:schemeClr val="accent6"/>
                </a:solidFill>
              </a:rPr>
              <a:t>writing starts</a:t>
            </a:r>
            <a:endParaRPr lang="en-US" sz="1200" dirty="0"/>
          </a:p>
        </p:txBody>
      </p:sp>
      <p:sp>
        <p:nvSpPr>
          <p:cNvPr id="37" name="Shape 35"/>
          <p:cNvSpPr/>
          <p:nvPr/>
        </p:nvSpPr>
        <p:spPr>
          <a:xfrm>
            <a:off x="6715696" y="3191256"/>
            <a:ext cx="201168" cy="201168"/>
          </a:xfrm>
          <a:prstGeom prst="ellipse">
            <a:avLst/>
          </a:prstGeom>
          <a:solidFill>
            <a:schemeClr val="accent2"/>
          </a:solidFill>
          <a:ln w="12700">
            <a:solidFill>
              <a:schemeClr val="accent2"/>
            </a:solidFill>
            <a:prstDash val="solid"/>
          </a:ln>
        </p:spPr>
      </p:sp>
      <p:sp>
        <p:nvSpPr>
          <p:cNvPr id="38" name="Shape 36"/>
          <p:cNvSpPr/>
          <p:nvPr/>
        </p:nvSpPr>
        <p:spPr>
          <a:xfrm>
            <a:off x="6816281" y="2880360"/>
            <a:ext cx="0" cy="301752"/>
          </a:xfrm>
          <a:prstGeom prst="line">
            <a:avLst/>
          </a:prstGeom>
          <a:noFill/>
          <a:ln w="12700">
            <a:solidFill>
              <a:schemeClr val="accent6"/>
            </a:solidFill>
            <a:prstDash val="solid"/>
          </a:ln>
        </p:spPr>
      </p:sp>
      <p:sp>
        <p:nvSpPr>
          <p:cNvPr id="39" name="Text 37"/>
          <p:cNvSpPr txBox="1"/>
          <p:nvPr/>
        </p:nvSpPr>
        <p:spPr>
          <a:xfrm>
            <a:off x="6084761" y="2194560"/>
            <a:ext cx="1463040" cy="320040"/>
          </a:xfrm>
          <a:prstGeom prst="rect">
            <a:avLst/>
          </a:prstGeom>
          <a:noFill/>
          <a:ln/>
        </p:spPr>
        <p:txBody>
          <a:bodyPr wrap="square" lIns="0" tIns="0" rIns="0" bIns="0" rtlCol="0" anchor="t"/>
          <a:lstStyle/>
          <a:p>
            <a:pPr algn="ctr" indent="0" marL="0">
              <a:buNone/>
            </a:pPr>
            <a:r>
              <a:rPr lang="en-US" sz="1400" b="1" dirty="0">
                <a:solidFill>
                  <a:schemeClr val="tx2"/>
                </a:solidFill>
              </a:rPr>
              <a:t>Layers round 2</a:t>
            </a:r>
            <a:endParaRPr lang="en-US" sz="1400" dirty="0"/>
          </a:p>
        </p:txBody>
      </p:sp>
      <p:sp>
        <p:nvSpPr>
          <p:cNvPr id="40" name="Text 38"/>
          <p:cNvSpPr txBox="1"/>
          <p:nvPr/>
        </p:nvSpPr>
        <p:spPr>
          <a:xfrm>
            <a:off x="6084761" y="2496312"/>
            <a:ext cx="1463040" cy="411480"/>
          </a:xfrm>
          <a:prstGeom prst="rect">
            <a:avLst/>
          </a:prstGeom>
          <a:noFill/>
          <a:ln/>
        </p:spPr>
        <p:txBody>
          <a:bodyPr wrap="square" lIns="0" tIns="0" rIns="0" bIns="0" rtlCol="0" anchor="t"/>
          <a:lstStyle/>
          <a:p>
            <a:pPr algn="ctr" indent="0" marL="0">
              <a:buNone/>
            </a:pPr>
            <a:r>
              <a:rPr lang="en-US" sz="1200" dirty="0">
                <a:solidFill>
                  <a:schemeClr val="accent6"/>
                </a:solidFill>
              </a:rPr>
              <a:t>5 agents in parallel</a:t>
            </a:r>
            <a:endParaRPr lang="en-US" sz="1200" dirty="0"/>
          </a:p>
        </p:txBody>
      </p:sp>
      <p:sp>
        <p:nvSpPr>
          <p:cNvPr id="41" name="Shape 39"/>
          <p:cNvSpPr/>
          <p:nvPr/>
        </p:nvSpPr>
        <p:spPr>
          <a:xfrm>
            <a:off x="9457182" y="3191256"/>
            <a:ext cx="201168" cy="201168"/>
          </a:xfrm>
          <a:prstGeom prst="ellipse">
            <a:avLst/>
          </a:prstGeom>
          <a:solidFill>
            <a:schemeClr val="accent2"/>
          </a:solidFill>
          <a:ln w="12700">
            <a:solidFill>
              <a:schemeClr val="accent2"/>
            </a:solidFill>
            <a:prstDash val="solid"/>
          </a:ln>
        </p:spPr>
      </p:sp>
      <p:sp>
        <p:nvSpPr>
          <p:cNvPr id="42" name="Shape 40"/>
          <p:cNvSpPr/>
          <p:nvPr/>
        </p:nvSpPr>
        <p:spPr>
          <a:xfrm>
            <a:off x="9557766" y="3401568"/>
            <a:ext cx="0" cy="301752"/>
          </a:xfrm>
          <a:prstGeom prst="line">
            <a:avLst/>
          </a:prstGeom>
          <a:noFill/>
          <a:ln w="12700">
            <a:solidFill>
              <a:schemeClr val="accent6"/>
            </a:solidFill>
            <a:prstDash val="solid"/>
          </a:ln>
        </p:spPr>
      </p:sp>
      <p:sp>
        <p:nvSpPr>
          <p:cNvPr id="43" name="Text 41"/>
          <p:cNvSpPr txBox="1"/>
          <p:nvPr/>
        </p:nvSpPr>
        <p:spPr>
          <a:xfrm>
            <a:off x="8826246" y="3721608"/>
            <a:ext cx="1463040" cy="320040"/>
          </a:xfrm>
          <a:prstGeom prst="rect">
            <a:avLst/>
          </a:prstGeom>
          <a:noFill/>
          <a:ln/>
        </p:spPr>
        <p:txBody>
          <a:bodyPr wrap="square" lIns="0" tIns="0" rIns="0" bIns="0" rtlCol="0" anchor="t"/>
          <a:lstStyle/>
          <a:p>
            <a:pPr algn="ctr" indent="0" marL="0">
              <a:buNone/>
            </a:pPr>
            <a:r>
              <a:rPr lang="en-US" sz="1400" b="1" dirty="0">
                <a:solidFill>
                  <a:schemeClr val="tx2"/>
                </a:solidFill>
              </a:rPr>
              <a:t>1,000 proteomes</a:t>
            </a:r>
            <a:endParaRPr lang="en-US" sz="1400" dirty="0"/>
          </a:p>
        </p:txBody>
      </p:sp>
      <p:sp>
        <p:nvSpPr>
          <p:cNvPr id="44" name="Text 42"/>
          <p:cNvSpPr txBox="1"/>
          <p:nvPr/>
        </p:nvSpPr>
        <p:spPr>
          <a:xfrm>
            <a:off x="8826246" y="4023360"/>
            <a:ext cx="1463040" cy="411480"/>
          </a:xfrm>
          <a:prstGeom prst="rect">
            <a:avLst/>
          </a:prstGeom>
          <a:noFill/>
          <a:ln/>
        </p:spPr>
        <p:txBody>
          <a:bodyPr wrap="square" lIns="0" tIns="0" rIns="0" bIns="0" rtlCol="0" anchor="t"/>
          <a:lstStyle/>
          <a:p>
            <a:pPr algn="ctr" indent="0" marL="0">
              <a:buNone/>
            </a:pPr>
            <a:r>
              <a:rPr lang="en-US" sz="1200" dirty="0">
                <a:solidFill>
                  <a:schemeClr val="accent6"/>
                </a:solidFill>
              </a:rPr>
              <a:t>scaling done</a:t>
            </a:r>
            <a:endParaRPr lang="en-US" sz="1200" dirty="0"/>
          </a:p>
        </p:txBody>
      </p:sp>
      <p:sp>
        <p:nvSpPr>
          <p:cNvPr id="45" name="Shape 43"/>
          <p:cNvSpPr/>
          <p:nvPr/>
        </p:nvSpPr>
        <p:spPr>
          <a:xfrm>
            <a:off x="11329416" y="3191256"/>
            <a:ext cx="201168" cy="201168"/>
          </a:xfrm>
          <a:prstGeom prst="ellipse">
            <a:avLst/>
          </a:prstGeom>
          <a:solidFill>
            <a:schemeClr val="accent2"/>
          </a:solidFill>
          <a:ln w="12700">
            <a:solidFill>
              <a:schemeClr val="accent2"/>
            </a:solidFill>
            <a:prstDash val="solid"/>
          </a:ln>
        </p:spPr>
      </p:sp>
      <p:sp>
        <p:nvSpPr>
          <p:cNvPr id="46" name="Shape 44"/>
          <p:cNvSpPr/>
          <p:nvPr/>
        </p:nvSpPr>
        <p:spPr>
          <a:xfrm>
            <a:off x="11430000" y="2880360"/>
            <a:ext cx="0" cy="301752"/>
          </a:xfrm>
          <a:prstGeom prst="line">
            <a:avLst/>
          </a:prstGeom>
          <a:noFill/>
          <a:ln w="12700">
            <a:solidFill>
              <a:schemeClr val="accent6"/>
            </a:solidFill>
            <a:prstDash val="solid"/>
          </a:ln>
        </p:spPr>
      </p:sp>
      <p:sp>
        <p:nvSpPr>
          <p:cNvPr id="47" name="Text 45"/>
          <p:cNvSpPr txBox="1"/>
          <p:nvPr/>
        </p:nvSpPr>
        <p:spPr>
          <a:xfrm>
            <a:off x="10698480" y="2194560"/>
            <a:ext cx="1463040" cy="320040"/>
          </a:xfrm>
          <a:prstGeom prst="rect">
            <a:avLst/>
          </a:prstGeom>
          <a:noFill/>
          <a:ln/>
        </p:spPr>
        <p:txBody>
          <a:bodyPr wrap="square" lIns="0" tIns="0" rIns="0" bIns="0" rtlCol="0" anchor="t"/>
          <a:lstStyle/>
          <a:p>
            <a:pPr algn="ctr" indent="0" marL="0">
              <a:buNone/>
            </a:pPr>
            <a:r>
              <a:rPr lang="en-US" sz="1400" b="1" dirty="0">
                <a:solidFill>
                  <a:schemeClr val="tx2"/>
                </a:solidFill>
              </a:rPr>
              <a:t>Deadline</a:t>
            </a:r>
            <a:endParaRPr lang="en-US" sz="1400" dirty="0"/>
          </a:p>
        </p:txBody>
      </p:sp>
      <p:sp>
        <p:nvSpPr>
          <p:cNvPr id="48" name="Text 46"/>
          <p:cNvSpPr txBox="1"/>
          <p:nvPr/>
        </p:nvSpPr>
        <p:spPr>
          <a:xfrm>
            <a:off x="10698480" y="2496312"/>
            <a:ext cx="1463040" cy="411480"/>
          </a:xfrm>
          <a:prstGeom prst="rect">
            <a:avLst/>
          </a:prstGeom>
          <a:noFill/>
          <a:ln/>
        </p:spPr>
        <p:txBody>
          <a:bodyPr wrap="square" lIns="0" tIns="0" rIns="0" bIns="0" rtlCol="0" anchor="t"/>
          <a:lstStyle/>
          <a:p>
            <a:pPr algn="ctr" indent="0" marL="0">
              <a:buNone/>
            </a:pPr>
            <a:r>
              <a:rPr lang="en-US" sz="1200" dirty="0">
                <a:solidFill>
                  <a:schemeClr val="accent6"/>
                </a:solidFill>
              </a:rPr>
              <a:t>soft</a:t>
            </a:r>
            <a:endParaRPr lang="en-US" sz="1200" dirty="0"/>
          </a:p>
        </p:txBody>
      </p:sp>
      <p:sp>
        <p:nvSpPr>
          <p:cNvPr id="49" name="Shape 47"/>
          <p:cNvSpPr/>
          <p:nvPr/>
        </p:nvSpPr>
        <p:spPr>
          <a:xfrm>
            <a:off x="731520" y="5120640"/>
            <a:ext cx="3291840" cy="502920"/>
          </a:xfrm>
          <a:prstGeom prst="roundRect">
            <a:avLst>
              <a:gd name="adj" fmla="val 21818"/>
            </a:avLst>
          </a:prstGeom>
          <a:solidFill>
            <a:schemeClr val="tx2">
              <a:alpha val="15000"/>
            </a:schemeClr>
          </a:solidFill>
          <a:ln w="12700">
            <a:solidFill>
              <a:schemeClr val="tx2"/>
            </a:solidFill>
            <a:prstDash val="solid"/>
          </a:ln>
        </p:spPr>
      </p:sp>
      <p:sp>
        <p:nvSpPr>
          <p:cNvPr id="50" name="Text 48"/>
          <p:cNvSpPr txBox="1"/>
          <p:nvPr/>
        </p:nvSpPr>
        <p:spPr>
          <a:xfrm>
            <a:off x="822960" y="5120640"/>
            <a:ext cx="3200400" cy="502920"/>
          </a:xfrm>
          <a:prstGeom prst="rect">
            <a:avLst/>
          </a:prstGeom>
          <a:noFill/>
          <a:ln/>
        </p:spPr>
        <p:txBody>
          <a:bodyPr wrap="square" lIns="0" tIns="0" rIns="0" bIns="0" rtlCol="0" anchor="ctr"/>
          <a:lstStyle/>
          <a:p>
            <a:pPr indent="0" marL="0">
              <a:buNone/>
            </a:pPr>
            <a:r>
              <a:rPr lang="en-US" sz="1300" dirty="0">
                <a:solidFill>
                  <a:schemeClr val="tx2"/>
                </a:solidFill>
              </a:rPr>
              <a:t>Build and tune on development data</a:t>
            </a:r>
            <a:endParaRPr lang="en-US" sz="1300" dirty="0"/>
          </a:p>
        </p:txBody>
      </p:sp>
      <p:sp>
        <p:nvSpPr>
          <p:cNvPr id="51" name="Shape 49"/>
          <p:cNvSpPr/>
          <p:nvPr/>
        </p:nvSpPr>
        <p:spPr>
          <a:xfrm>
            <a:off x="4297680" y="5120640"/>
            <a:ext cx="4206240" cy="502920"/>
          </a:xfrm>
          <a:prstGeom prst="roundRect">
            <a:avLst>
              <a:gd name="adj" fmla="val 21818"/>
            </a:avLst>
          </a:prstGeom>
          <a:solidFill>
            <a:schemeClr val="accent2">
              <a:alpha val="25000"/>
            </a:schemeClr>
          </a:solidFill>
          <a:ln w="12700">
            <a:solidFill>
              <a:schemeClr val="accent2"/>
            </a:solidFill>
            <a:prstDash val="solid"/>
          </a:ln>
        </p:spPr>
      </p:sp>
      <p:sp>
        <p:nvSpPr>
          <p:cNvPr id="52" name="Text 50"/>
          <p:cNvSpPr txBox="1"/>
          <p:nvPr/>
        </p:nvSpPr>
        <p:spPr>
          <a:xfrm>
            <a:off x="4389120" y="5120640"/>
            <a:ext cx="4114800" cy="502920"/>
          </a:xfrm>
          <a:prstGeom prst="rect">
            <a:avLst/>
          </a:prstGeom>
          <a:noFill/>
          <a:ln/>
        </p:spPr>
        <p:txBody>
          <a:bodyPr wrap="square" lIns="0" tIns="0" rIns="0" bIns="0" rtlCol="0" anchor="ctr"/>
          <a:lstStyle/>
          <a:p>
            <a:pPr indent="0" marL="0">
              <a:buNone/>
            </a:pPr>
            <a:r>
              <a:rPr lang="en-US" sz="1300" dirty="0">
                <a:solidFill>
                  <a:schemeClr val="tx1"/>
                </a:solidFill>
              </a:rPr>
              <a:t>After the freeze: evaluation, GPU, layers, scaling</a:t>
            </a:r>
            <a:endParaRPr lang="en-US" sz="13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731520" y="2651760"/>
            <a:ext cx="10698480" cy="1097280"/>
          </a:xfrm>
          <a:prstGeom prst="rect">
            <a:avLst/>
          </a:prstGeom>
          <a:noFill/>
          <a:ln/>
        </p:spPr>
        <p:txBody>
          <a:bodyPr wrap="square" rtlCol="0"/>
          <a:lstStyle/>
          <a:p>
            <a:pPr algn="l" indent="0" marL="0">
              <a:buNone/>
            </a:pPr>
            <a:r>
              <a:rPr lang="en-US" sz="4400" b="1" dirty="0">
                <a:solidFill>
                  <a:schemeClr val="bg1"/>
                </a:solidFill>
                <a:latin typeface="Cambria" pitchFamily="34" charset="0"/>
                <a:ea typeface="Cambria" pitchFamily="34" charset="-122"/>
                <a:cs typeface="Cambria" pitchFamily="34" charset="-120"/>
              </a:rPr>
              <a:t>How the method was chosen</a:t>
            </a:r>
            <a:endParaRPr lang="en-US" sz="4400" dirty="0"/>
          </a:p>
        </p:txBody>
      </p:sp>
      <p:sp>
        <p:nvSpPr>
          <p:cNvPr id="3" name="Text 0"/>
          <p:cNvSpPr/>
          <p:nvPr>
            <p:ph idx="101" type="body" hasCustomPrompt="1"/>
          </p:nvPr>
        </p:nvSpPr>
        <p:spPr>
          <a:xfrm>
            <a:off x="731520" y="3794760"/>
            <a:ext cx="10698480" cy="731520"/>
          </a:xfrm>
          <a:prstGeom prst="rect">
            <a:avLst/>
          </a:prstGeom>
          <a:noFill/>
          <a:ln/>
        </p:spPr>
        <p:txBody>
          <a:bodyPr wrap="square" rtlCol="0"/>
          <a:lstStyle/>
          <a:p>
            <a:pPr indent="0" marL="0">
              <a:buNone/>
            </a:pPr>
            <a:r>
              <a:rPr lang="en-US" sz="2000" dirty="0">
                <a:solidFill>
                  <a:schemeClr val="bg2"/>
                </a:solidFill>
              </a:rPr>
              <a:t>Literature, agent critique, cost estimates and pre-registered rules</a:t>
            </a:r>
            <a:endParaRPr lang="en-US" sz="20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bg2"/>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From idea to frozen method</a:t>
            </a:r>
            <a:endParaRPr lang="en-US" sz="3200" dirty="0"/>
          </a:p>
        </p:txBody>
      </p:sp>
      <p:sp>
        <p:nvSpPr>
          <p:cNvPr id="3" name="Shape 1"/>
          <p:cNvSpPr/>
          <p:nvPr/>
        </p:nvSpPr>
        <p:spPr>
          <a:xfrm>
            <a:off x="640080" y="1463040"/>
            <a:ext cx="2377440" cy="1371600"/>
          </a:xfrm>
          <a:prstGeom prst="roundRect">
            <a:avLst>
              <a:gd name="adj" fmla="val 8000"/>
            </a:avLst>
          </a:prstGeom>
          <a:solidFill>
            <a:schemeClr val="bg2"/>
          </a:solidFill>
          <a:ln w="12700">
            <a:solidFill>
              <a:schemeClr val="bg2"/>
            </a:solidFill>
            <a:prstDash val="solid"/>
          </a:ln>
        </p:spPr>
      </p:sp>
      <p:sp>
        <p:nvSpPr>
          <p:cNvPr id="4" name="Text 2"/>
          <p:cNvSpPr txBox="1"/>
          <p:nvPr/>
        </p:nvSpPr>
        <p:spPr>
          <a:xfrm>
            <a:off x="777240" y="1554480"/>
            <a:ext cx="2103120" cy="365760"/>
          </a:xfrm>
          <a:prstGeom prst="rect">
            <a:avLst/>
          </a:prstGeom>
          <a:noFill/>
          <a:ln/>
        </p:spPr>
        <p:txBody>
          <a:bodyPr wrap="square" lIns="0" tIns="0" rIns="0" bIns="0" rtlCol="0" anchor="t"/>
          <a:lstStyle/>
          <a:p>
            <a:pPr indent="0" marL="0">
              <a:buNone/>
            </a:pPr>
            <a:r>
              <a:rPr lang="en-US" sz="1700" b="1" dirty="0">
                <a:solidFill>
                  <a:schemeClr val="tx1"/>
                </a:solidFill>
              </a:rPr>
              <a:t>Literature</a:t>
            </a:r>
            <a:endParaRPr lang="en-US" sz="1700" dirty="0"/>
          </a:p>
        </p:txBody>
      </p:sp>
      <p:sp>
        <p:nvSpPr>
          <p:cNvPr id="5" name="Text 3"/>
          <p:cNvSpPr txBox="1"/>
          <p:nvPr/>
        </p:nvSpPr>
        <p:spPr>
          <a:xfrm>
            <a:off x="777240" y="1938528"/>
            <a:ext cx="2103120" cy="822960"/>
          </a:xfrm>
          <a:prstGeom prst="rect">
            <a:avLst/>
          </a:prstGeom>
          <a:noFill/>
          <a:ln/>
        </p:spPr>
        <p:txBody>
          <a:bodyPr wrap="square" lIns="0" tIns="0" rIns="0" bIns="0" rtlCol="0" anchor="t"/>
          <a:lstStyle/>
          <a:p>
            <a:pPr indent="0" marL="0">
              <a:buNone/>
            </a:pPr>
            <a:r>
              <a:rPr lang="en-US" sz="1300" dirty="0">
                <a:solidFill>
                  <a:schemeClr val="tx1"/>
                </a:solidFill>
              </a:rPr>
              <a:t>SYNERGY, Hieranoid, OMA/FastOMA, OrthoFinder</a:t>
            </a:r>
            <a:endParaRPr lang="en-US" sz="1300" dirty="0"/>
          </a:p>
        </p:txBody>
      </p:sp>
      <p:sp>
        <p:nvSpPr>
          <p:cNvPr id="6" name="Shape 4"/>
          <p:cNvSpPr/>
          <p:nvPr/>
        </p:nvSpPr>
        <p:spPr>
          <a:xfrm>
            <a:off x="3063240" y="2148840"/>
            <a:ext cx="411480" cy="914"/>
          </a:xfrm>
          <a:prstGeom prst="line">
            <a:avLst/>
          </a:prstGeom>
          <a:noFill/>
          <a:ln w="25400">
            <a:solidFill>
              <a:schemeClr val="accent6"/>
            </a:solidFill>
            <a:prstDash val="solid"/>
            <a:tailEnd type="triangle"/>
          </a:ln>
        </p:spPr>
      </p:sp>
      <p:sp>
        <p:nvSpPr>
          <p:cNvPr id="7" name="Shape 5"/>
          <p:cNvSpPr/>
          <p:nvPr/>
        </p:nvSpPr>
        <p:spPr>
          <a:xfrm>
            <a:off x="3520440" y="1463040"/>
            <a:ext cx="2377440" cy="1371600"/>
          </a:xfrm>
          <a:prstGeom prst="roundRect">
            <a:avLst>
              <a:gd name="adj" fmla="val 8000"/>
            </a:avLst>
          </a:prstGeom>
          <a:solidFill>
            <a:schemeClr val="accent4"/>
          </a:solidFill>
          <a:ln w="12700">
            <a:solidFill>
              <a:schemeClr val="accent4"/>
            </a:solidFill>
            <a:prstDash val="solid"/>
          </a:ln>
        </p:spPr>
      </p:sp>
      <p:sp>
        <p:nvSpPr>
          <p:cNvPr id="8" name="Text 6"/>
          <p:cNvSpPr txBox="1"/>
          <p:nvPr/>
        </p:nvSpPr>
        <p:spPr>
          <a:xfrm>
            <a:off x="3657600" y="1554480"/>
            <a:ext cx="2103120" cy="365760"/>
          </a:xfrm>
          <a:prstGeom prst="rect">
            <a:avLst/>
          </a:prstGeom>
          <a:noFill/>
          <a:ln/>
        </p:spPr>
        <p:txBody>
          <a:bodyPr wrap="square" lIns="0" tIns="0" rIns="0" bIns="0" rtlCol="0" anchor="t"/>
          <a:lstStyle/>
          <a:p>
            <a:pPr indent="0" marL="0">
              <a:buNone/>
            </a:pPr>
            <a:r>
              <a:rPr lang="en-US" sz="1700" b="1" dirty="0">
                <a:solidFill>
                  <a:schemeClr val="bg1"/>
                </a:solidFill>
              </a:rPr>
              <a:t>Design v0</a:t>
            </a:r>
            <a:endParaRPr lang="en-US" sz="1700" dirty="0"/>
          </a:p>
        </p:txBody>
      </p:sp>
      <p:sp>
        <p:nvSpPr>
          <p:cNvPr id="9" name="Text 7"/>
          <p:cNvSpPr txBox="1"/>
          <p:nvPr/>
        </p:nvSpPr>
        <p:spPr>
          <a:xfrm>
            <a:off x="3657600" y="1938528"/>
            <a:ext cx="2103120" cy="822960"/>
          </a:xfrm>
          <a:prstGeom prst="rect">
            <a:avLst/>
          </a:prstGeom>
          <a:noFill/>
          <a:ln/>
        </p:spPr>
        <p:txBody>
          <a:bodyPr wrap="square" lIns="0" tIns="0" rIns="0" bIns="0" rtlCol="0" anchor="t"/>
          <a:lstStyle/>
          <a:p>
            <a:pPr indent="0" marL="0">
              <a:buNone/>
            </a:pPr>
            <a:r>
              <a:rPr lang="en-US" sz="1300" dirty="0">
                <a:solidFill>
                  <a:schemeClr val="bg1"/>
                </a:solidFill>
              </a:rPr>
              <a:t>merge whole ancestral proteomes up the tree</a:t>
            </a:r>
            <a:endParaRPr lang="en-US" sz="1300" dirty="0"/>
          </a:p>
        </p:txBody>
      </p:sp>
      <p:sp>
        <p:nvSpPr>
          <p:cNvPr id="10" name="Shape 8"/>
          <p:cNvSpPr/>
          <p:nvPr/>
        </p:nvSpPr>
        <p:spPr>
          <a:xfrm>
            <a:off x="5943600" y="2148840"/>
            <a:ext cx="411480" cy="914"/>
          </a:xfrm>
          <a:prstGeom prst="line">
            <a:avLst/>
          </a:prstGeom>
          <a:noFill/>
          <a:ln w="25400">
            <a:solidFill>
              <a:schemeClr val="accent6"/>
            </a:solidFill>
            <a:prstDash val="solid"/>
            <a:tailEnd type="triangle"/>
          </a:ln>
        </p:spPr>
      </p:sp>
      <p:sp>
        <p:nvSpPr>
          <p:cNvPr id="11" name="Shape 9"/>
          <p:cNvSpPr/>
          <p:nvPr/>
        </p:nvSpPr>
        <p:spPr>
          <a:xfrm>
            <a:off x="6400800" y="1463040"/>
            <a:ext cx="2377440" cy="1371600"/>
          </a:xfrm>
          <a:prstGeom prst="roundRect">
            <a:avLst>
              <a:gd name="adj" fmla="val 8000"/>
            </a:avLst>
          </a:prstGeom>
          <a:solidFill>
            <a:schemeClr val="accent3"/>
          </a:solidFill>
          <a:ln w="12700">
            <a:solidFill>
              <a:schemeClr val="accent3"/>
            </a:solidFill>
            <a:prstDash val="solid"/>
          </a:ln>
        </p:spPr>
      </p:sp>
      <p:sp>
        <p:nvSpPr>
          <p:cNvPr id="12" name="Text 10"/>
          <p:cNvSpPr txBox="1"/>
          <p:nvPr/>
        </p:nvSpPr>
        <p:spPr>
          <a:xfrm>
            <a:off x="6537960" y="1554480"/>
            <a:ext cx="2103120" cy="365760"/>
          </a:xfrm>
          <a:prstGeom prst="rect">
            <a:avLst/>
          </a:prstGeom>
          <a:noFill/>
          <a:ln/>
        </p:spPr>
        <p:txBody>
          <a:bodyPr wrap="square" lIns="0" tIns="0" rIns="0" bIns="0" rtlCol="0" anchor="t"/>
          <a:lstStyle/>
          <a:p>
            <a:pPr indent="0" marL="0">
              <a:buNone/>
            </a:pPr>
            <a:r>
              <a:rPr lang="en-US" sz="1700" b="1" dirty="0">
                <a:solidFill>
                  <a:schemeClr val="bg1"/>
                </a:solidFill>
              </a:rPr>
              <a:t>Design v2</a:t>
            </a:r>
            <a:endParaRPr lang="en-US" sz="1700" dirty="0"/>
          </a:p>
        </p:txBody>
      </p:sp>
      <p:sp>
        <p:nvSpPr>
          <p:cNvPr id="13" name="Text 11"/>
          <p:cNvSpPr txBox="1"/>
          <p:nvPr/>
        </p:nvSpPr>
        <p:spPr>
          <a:xfrm>
            <a:off x="6537960" y="1938528"/>
            <a:ext cx="2103120" cy="822960"/>
          </a:xfrm>
          <a:prstGeom prst="rect">
            <a:avLst/>
          </a:prstGeom>
          <a:noFill/>
          <a:ln/>
        </p:spPr>
        <p:txBody>
          <a:bodyPr wrap="square" lIns="0" tIns="0" rIns="0" bIns="0" rtlCol="0" anchor="t"/>
          <a:lstStyle/>
          <a:p>
            <a:pPr indent="0" marL="0">
              <a:buNone/>
            </a:pPr>
            <a:r>
              <a:rPr lang="en-US" sz="1300" dirty="0">
                <a:solidFill>
                  <a:schemeClr val="bg1"/>
                </a:solidFill>
              </a:rPr>
              <a:t>families first, merge inside each family</a:t>
            </a:r>
            <a:endParaRPr lang="en-US" sz="1300" dirty="0"/>
          </a:p>
        </p:txBody>
      </p:sp>
      <p:sp>
        <p:nvSpPr>
          <p:cNvPr id="14" name="Shape 12"/>
          <p:cNvSpPr/>
          <p:nvPr/>
        </p:nvSpPr>
        <p:spPr>
          <a:xfrm>
            <a:off x="8823960" y="2148840"/>
            <a:ext cx="411480" cy="914"/>
          </a:xfrm>
          <a:prstGeom prst="line">
            <a:avLst/>
          </a:prstGeom>
          <a:noFill/>
          <a:ln w="25400">
            <a:solidFill>
              <a:schemeClr val="accent6"/>
            </a:solidFill>
            <a:prstDash val="solid"/>
            <a:tailEnd type="triangle"/>
          </a:ln>
        </p:spPr>
      </p:sp>
      <p:sp>
        <p:nvSpPr>
          <p:cNvPr id="15" name="Shape 13"/>
          <p:cNvSpPr/>
          <p:nvPr/>
        </p:nvSpPr>
        <p:spPr>
          <a:xfrm>
            <a:off x="9281160" y="1463040"/>
            <a:ext cx="2377440" cy="1371600"/>
          </a:xfrm>
          <a:prstGeom prst="roundRect">
            <a:avLst>
              <a:gd name="adj" fmla="val 8000"/>
            </a:avLst>
          </a:prstGeom>
          <a:solidFill>
            <a:schemeClr val="accent1"/>
          </a:solidFill>
          <a:ln w="12700">
            <a:solidFill>
              <a:schemeClr val="accent1"/>
            </a:solidFill>
            <a:prstDash val="solid"/>
          </a:ln>
        </p:spPr>
      </p:sp>
      <p:sp>
        <p:nvSpPr>
          <p:cNvPr id="16" name="Text 14"/>
          <p:cNvSpPr txBox="1"/>
          <p:nvPr/>
        </p:nvSpPr>
        <p:spPr>
          <a:xfrm>
            <a:off x="9418320" y="1554480"/>
            <a:ext cx="2103120" cy="365760"/>
          </a:xfrm>
          <a:prstGeom prst="rect">
            <a:avLst/>
          </a:prstGeom>
          <a:noFill/>
          <a:ln/>
        </p:spPr>
        <p:txBody>
          <a:bodyPr wrap="square" lIns="0" tIns="0" rIns="0" bIns="0" rtlCol="0" anchor="t"/>
          <a:lstStyle/>
          <a:p>
            <a:pPr indent="0" marL="0">
              <a:buNone/>
            </a:pPr>
            <a:r>
              <a:rPr lang="en-US" sz="1700" b="1" dirty="0">
                <a:solidFill>
                  <a:schemeClr val="bg1"/>
                </a:solidFill>
              </a:rPr>
              <a:t>Dev tuning</a:t>
            </a:r>
            <a:endParaRPr lang="en-US" sz="1700" dirty="0"/>
          </a:p>
        </p:txBody>
      </p:sp>
      <p:sp>
        <p:nvSpPr>
          <p:cNvPr id="17" name="Text 15"/>
          <p:cNvSpPr txBox="1"/>
          <p:nvPr/>
        </p:nvSpPr>
        <p:spPr>
          <a:xfrm>
            <a:off x="9418320" y="1938528"/>
            <a:ext cx="2103120" cy="822960"/>
          </a:xfrm>
          <a:prstGeom prst="rect">
            <a:avLst/>
          </a:prstGeom>
          <a:noFill/>
          <a:ln/>
        </p:spPr>
        <p:txBody>
          <a:bodyPr wrap="square" lIns="0" tIns="0" rIns="0" bIns="0" rtlCol="0" anchor="t"/>
          <a:lstStyle/>
          <a:p>
            <a:pPr indent="0" marL="0">
              <a:buNone/>
            </a:pPr>
            <a:r>
              <a:rPr lang="en-US" sz="1300" dirty="0">
                <a:solidFill>
                  <a:schemeClr val="bg1"/>
                </a:solidFill>
              </a:rPr>
              <a:t>OrthoBench, 34 reference groups</a:t>
            </a:r>
            <a:endParaRPr lang="en-US" sz="1300" dirty="0"/>
          </a:p>
        </p:txBody>
      </p:sp>
      <p:sp>
        <p:nvSpPr>
          <p:cNvPr id="18" name="Shape 16"/>
          <p:cNvSpPr/>
          <p:nvPr/>
        </p:nvSpPr>
        <p:spPr>
          <a:xfrm>
            <a:off x="640080" y="3931920"/>
            <a:ext cx="2377440" cy="1371600"/>
          </a:xfrm>
          <a:prstGeom prst="roundRect">
            <a:avLst>
              <a:gd name="adj" fmla="val 8000"/>
            </a:avLst>
          </a:prstGeom>
          <a:solidFill>
            <a:schemeClr val="accent2"/>
          </a:solidFill>
          <a:ln w="12700">
            <a:solidFill>
              <a:schemeClr val="accent2"/>
            </a:solidFill>
            <a:prstDash val="solid"/>
          </a:ln>
        </p:spPr>
      </p:sp>
      <p:sp>
        <p:nvSpPr>
          <p:cNvPr id="19" name="Text 17"/>
          <p:cNvSpPr txBox="1"/>
          <p:nvPr/>
        </p:nvSpPr>
        <p:spPr>
          <a:xfrm>
            <a:off x="777240" y="4023360"/>
            <a:ext cx="2103120" cy="365760"/>
          </a:xfrm>
          <a:prstGeom prst="rect">
            <a:avLst/>
          </a:prstGeom>
          <a:noFill/>
          <a:ln/>
        </p:spPr>
        <p:txBody>
          <a:bodyPr wrap="square" lIns="0" tIns="0" rIns="0" bIns="0" rtlCol="0" anchor="t"/>
          <a:lstStyle/>
          <a:p>
            <a:pPr indent="0" marL="0">
              <a:buNone/>
            </a:pPr>
            <a:r>
              <a:rPr lang="en-US" sz="1700" b="1" dirty="0">
                <a:solidFill>
                  <a:schemeClr val="bg1"/>
                </a:solidFill>
              </a:rPr>
              <a:t>QfO peek 1</a:t>
            </a:r>
            <a:endParaRPr lang="en-US" sz="1700" dirty="0"/>
          </a:p>
        </p:txBody>
      </p:sp>
      <p:sp>
        <p:nvSpPr>
          <p:cNvPr id="20" name="Text 18"/>
          <p:cNvSpPr txBox="1"/>
          <p:nvPr/>
        </p:nvSpPr>
        <p:spPr>
          <a:xfrm>
            <a:off x="777240" y="4407408"/>
            <a:ext cx="2103120" cy="822960"/>
          </a:xfrm>
          <a:prstGeom prst="rect">
            <a:avLst/>
          </a:prstGeom>
          <a:noFill/>
          <a:ln/>
        </p:spPr>
        <p:txBody>
          <a:bodyPr wrap="square" lIns="0" tIns="0" rIns="0" bIns="0" rtlCol="0" anchor="t"/>
          <a:lstStyle/>
          <a:p>
            <a:pPr indent="0" marL="0">
              <a:buNone/>
            </a:pPr>
            <a:r>
              <a:rPr lang="en-US" sz="1300" dirty="0">
                <a:solidFill>
                  <a:schemeClr val="bg1"/>
                </a:solidFill>
              </a:rPr>
              <a:t>recall too low: 78% of misses are merge failures</a:t>
            </a:r>
            <a:endParaRPr lang="en-US" sz="1300" dirty="0"/>
          </a:p>
        </p:txBody>
      </p:sp>
      <p:sp>
        <p:nvSpPr>
          <p:cNvPr id="21" name="Shape 19"/>
          <p:cNvSpPr/>
          <p:nvPr/>
        </p:nvSpPr>
        <p:spPr>
          <a:xfrm>
            <a:off x="3063240" y="4617720"/>
            <a:ext cx="411480" cy="914"/>
          </a:xfrm>
          <a:prstGeom prst="line">
            <a:avLst/>
          </a:prstGeom>
          <a:noFill/>
          <a:ln w="25400">
            <a:solidFill>
              <a:schemeClr val="accent6"/>
            </a:solidFill>
            <a:prstDash val="solid"/>
            <a:tailEnd type="triangle"/>
          </a:ln>
        </p:spPr>
      </p:sp>
      <p:sp>
        <p:nvSpPr>
          <p:cNvPr id="22" name="Shape 20"/>
          <p:cNvSpPr/>
          <p:nvPr/>
        </p:nvSpPr>
        <p:spPr>
          <a:xfrm>
            <a:off x="3520440" y="3931920"/>
            <a:ext cx="2377440" cy="1371600"/>
          </a:xfrm>
          <a:prstGeom prst="roundRect">
            <a:avLst>
              <a:gd name="adj" fmla="val 8000"/>
            </a:avLst>
          </a:prstGeom>
          <a:solidFill>
            <a:schemeClr val="accent1"/>
          </a:solidFill>
          <a:ln w="12700">
            <a:solidFill>
              <a:schemeClr val="accent1"/>
            </a:solidFill>
            <a:prstDash val="solid"/>
          </a:ln>
        </p:spPr>
      </p:sp>
      <p:sp>
        <p:nvSpPr>
          <p:cNvPr id="23" name="Text 21"/>
          <p:cNvSpPr txBox="1"/>
          <p:nvPr/>
        </p:nvSpPr>
        <p:spPr>
          <a:xfrm>
            <a:off x="3657600" y="4023360"/>
            <a:ext cx="2103120" cy="365760"/>
          </a:xfrm>
          <a:prstGeom prst="rect">
            <a:avLst/>
          </a:prstGeom>
          <a:noFill/>
          <a:ln/>
        </p:spPr>
        <p:txBody>
          <a:bodyPr wrap="square" lIns="0" tIns="0" rIns="0" bIns="0" rtlCol="0" anchor="t"/>
          <a:lstStyle/>
          <a:p>
            <a:pPr indent="0" marL="0">
              <a:buNone/>
            </a:pPr>
            <a:r>
              <a:rPr lang="en-US" sz="1700" b="1" dirty="0">
                <a:solidFill>
                  <a:schemeClr val="bg1"/>
                </a:solidFill>
              </a:rPr>
              <a:t>Fixes</a:t>
            </a:r>
            <a:endParaRPr lang="en-US" sz="1700" dirty="0"/>
          </a:p>
        </p:txBody>
      </p:sp>
      <p:sp>
        <p:nvSpPr>
          <p:cNvPr id="24" name="Text 22"/>
          <p:cNvSpPr txBox="1"/>
          <p:nvPr/>
        </p:nvSpPr>
        <p:spPr>
          <a:xfrm>
            <a:off x="3657600" y="4407408"/>
            <a:ext cx="2103120" cy="822960"/>
          </a:xfrm>
          <a:prstGeom prst="rect">
            <a:avLst/>
          </a:prstGeom>
          <a:noFill/>
          <a:ln/>
        </p:spPr>
        <p:txBody>
          <a:bodyPr wrap="square" lIns="0" tIns="0" rIns="0" bIns="0" rtlCol="0" anchor="t"/>
          <a:lstStyle/>
          <a:p>
            <a:pPr indent="0" marL="0">
              <a:buNone/>
            </a:pPr>
            <a:r>
              <a:rPr lang="en-US" sz="1300" dirty="0">
                <a:solidFill>
                  <a:schemeClr val="bg1"/>
                </a:solidFill>
              </a:rPr>
              <a:t>small FastTree trees + deep-node rule</a:t>
            </a:r>
            <a:endParaRPr lang="en-US" sz="1300" dirty="0"/>
          </a:p>
        </p:txBody>
      </p:sp>
      <p:sp>
        <p:nvSpPr>
          <p:cNvPr id="25" name="Shape 23"/>
          <p:cNvSpPr/>
          <p:nvPr/>
        </p:nvSpPr>
        <p:spPr>
          <a:xfrm>
            <a:off x="5943600" y="4617720"/>
            <a:ext cx="411480" cy="914"/>
          </a:xfrm>
          <a:prstGeom prst="line">
            <a:avLst/>
          </a:prstGeom>
          <a:noFill/>
          <a:ln w="25400">
            <a:solidFill>
              <a:schemeClr val="accent6"/>
            </a:solidFill>
            <a:prstDash val="solid"/>
            <a:tailEnd type="triangle"/>
          </a:ln>
        </p:spPr>
      </p:sp>
      <p:sp>
        <p:nvSpPr>
          <p:cNvPr id="26" name="Shape 24"/>
          <p:cNvSpPr/>
          <p:nvPr/>
        </p:nvSpPr>
        <p:spPr>
          <a:xfrm>
            <a:off x="6400800" y="3931920"/>
            <a:ext cx="2377440" cy="1371600"/>
          </a:xfrm>
          <a:prstGeom prst="roundRect">
            <a:avLst>
              <a:gd name="adj" fmla="val 8000"/>
            </a:avLst>
          </a:prstGeom>
          <a:solidFill>
            <a:schemeClr val="tx2"/>
          </a:solidFill>
          <a:ln w="12700">
            <a:solidFill>
              <a:schemeClr val="tx2"/>
            </a:solidFill>
            <a:prstDash val="solid"/>
          </a:ln>
        </p:spPr>
      </p:sp>
      <p:sp>
        <p:nvSpPr>
          <p:cNvPr id="27" name="Text 25"/>
          <p:cNvSpPr txBox="1"/>
          <p:nvPr/>
        </p:nvSpPr>
        <p:spPr>
          <a:xfrm>
            <a:off x="6537960" y="4023360"/>
            <a:ext cx="2103120" cy="365760"/>
          </a:xfrm>
          <a:prstGeom prst="rect">
            <a:avLst/>
          </a:prstGeom>
          <a:noFill/>
          <a:ln/>
        </p:spPr>
        <p:txBody>
          <a:bodyPr wrap="square" lIns="0" tIns="0" rIns="0" bIns="0" rtlCol="0" anchor="t"/>
          <a:lstStyle/>
          <a:p>
            <a:pPr indent="0" marL="0">
              <a:buNone/>
            </a:pPr>
            <a:r>
              <a:rPr lang="en-US" sz="1700" b="1" dirty="0">
                <a:solidFill>
                  <a:schemeClr val="bg1"/>
                </a:solidFill>
              </a:rPr>
              <a:t>Freeze v1</a:t>
            </a:r>
            <a:endParaRPr lang="en-US" sz="1700" dirty="0"/>
          </a:p>
        </p:txBody>
      </p:sp>
      <p:sp>
        <p:nvSpPr>
          <p:cNvPr id="28" name="Text 26"/>
          <p:cNvSpPr txBox="1"/>
          <p:nvPr/>
        </p:nvSpPr>
        <p:spPr>
          <a:xfrm>
            <a:off x="6537960" y="4407408"/>
            <a:ext cx="2103120" cy="822960"/>
          </a:xfrm>
          <a:prstGeom prst="rect">
            <a:avLst/>
          </a:prstGeom>
          <a:noFill/>
          <a:ln/>
        </p:spPr>
        <p:txBody>
          <a:bodyPr wrap="square" lIns="0" tIns="0" rIns="0" bIns="0" rtlCol="0" anchor="t"/>
          <a:lstStyle/>
          <a:p>
            <a:pPr indent="0" marL="0">
              <a:buNone/>
            </a:pPr>
            <a:r>
              <a:rPr lang="en-US" sz="1300" dirty="0">
                <a:solidFill>
                  <a:schemeClr val="bg1"/>
                </a:solidFill>
              </a:rPr>
              <a:t>accurate + fast presets</a:t>
            </a:r>
            <a:endParaRPr lang="en-US" sz="1300" dirty="0"/>
          </a:p>
        </p:txBody>
      </p:sp>
      <p:sp>
        <p:nvSpPr>
          <p:cNvPr id="29" name="Shape 27"/>
          <p:cNvSpPr/>
          <p:nvPr/>
        </p:nvSpPr>
        <p:spPr>
          <a:xfrm>
            <a:off x="8823960" y="4617720"/>
            <a:ext cx="411480" cy="914"/>
          </a:xfrm>
          <a:prstGeom prst="line">
            <a:avLst/>
          </a:prstGeom>
          <a:noFill/>
          <a:ln w="25400">
            <a:solidFill>
              <a:schemeClr val="accent6"/>
            </a:solidFill>
            <a:prstDash val="solid"/>
            <a:tailEnd type="triangle"/>
          </a:ln>
        </p:spPr>
      </p:sp>
      <p:sp>
        <p:nvSpPr>
          <p:cNvPr id="30" name="Shape 28"/>
          <p:cNvSpPr/>
          <p:nvPr/>
        </p:nvSpPr>
        <p:spPr>
          <a:xfrm>
            <a:off x="9281160" y="3931920"/>
            <a:ext cx="2377440" cy="1371600"/>
          </a:xfrm>
          <a:prstGeom prst="roundRect">
            <a:avLst>
              <a:gd name="adj" fmla="val 8000"/>
            </a:avLst>
          </a:prstGeom>
          <a:solidFill>
            <a:schemeClr val="accent3"/>
          </a:solidFill>
          <a:ln w="12700">
            <a:solidFill>
              <a:schemeClr val="accent3"/>
            </a:solidFill>
            <a:prstDash val="solid"/>
          </a:ln>
        </p:spPr>
      </p:sp>
      <p:sp>
        <p:nvSpPr>
          <p:cNvPr id="31" name="Text 29"/>
          <p:cNvSpPr txBox="1"/>
          <p:nvPr/>
        </p:nvSpPr>
        <p:spPr>
          <a:xfrm>
            <a:off x="9418320" y="4023360"/>
            <a:ext cx="2103120" cy="365760"/>
          </a:xfrm>
          <a:prstGeom prst="rect">
            <a:avLst/>
          </a:prstGeom>
          <a:noFill/>
          <a:ln/>
        </p:spPr>
        <p:txBody>
          <a:bodyPr wrap="square" lIns="0" tIns="0" rIns="0" bIns="0" rtlCol="0" anchor="t"/>
          <a:lstStyle/>
          <a:p>
            <a:pPr indent="0" marL="0">
              <a:buNone/>
            </a:pPr>
            <a:r>
              <a:rPr lang="en-US" sz="1700" b="1" dirty="0">
                <a:solidFill>
                  <a:schemeClr val="bg1"/>
                </a:solidFill>
              </a:rPr>
              <a:t>Test, once</a:t>
            </a:r>
            <a:endParaRPr lang="en-US" sz="1700" dirty="0"/>
          </a:p>
        </p:txBody>
      </p:sp>
      <p:sp>
        <p:nvSpPr>
          <p:cNvPr id="32" name="Text 30"/>
          <p:cNvSpPr txBox="1"/>
          <p:nvPr/>
        </p:nvSpPr>
        <p:spPr>
          <a:xfrm>
            <a:off x="9418320" y="4407408"/>
            <a:ext cx="2103120" cy="822960"/>
          </a:xfrm>
          <a:prstGeom prst="rect">
            <a:avLst/>
          </a:prstGeom>
          <a:noFill/>
          <a:ln/>
        </p:spPr>
        <p:txBody>
          <a:bodyPr wrap="square" lIns="0" tIns="0" rIns="0" bIns="0" rtlCol="0" anchor="t"/>
          <a:lstStyle/>
          <a:p>
            <a:pPr indent="0" marL="0">
              <a:buNone/>
            </a:pPr>
            <a:r>
              <a:rPr lang="en-US" sz="1300" dirty="0">
                <a:solidFill>
                  <a:schemeClr val="bg1"/>
                </a:solidFill>
              </a:rPr>
              <a:t>OrthoBench + QfO</a:t>
            </a:r>
            <a:endParaRPr lang="en-US" sz="1300" dirty="0"/>
          </a:p>
        </p:txBody>
      </p:sp>
      <p:sp>
        <p:nvSpPr>
          <p:cNvPr id="33" name="Shape 31"/>
          <p:cNvSpPr/>
          <p:nvPr/>
        </p:nvSpPr>
        <p:spPr>
          <a:xfrm flipH="1">
            <a:off x="1828800" y="2880360"/>
            <a:ext cx="8641080" cy="1005840"/>
          </a:xfrm>
          <a:prstGeom prst="line">
            <a:avLst/>
          </a:prstGeom>
          <a:noFill/>
          <a:ln w="25400">
            <a:solidFill>
              <a:schemeClr val="accent6"/>
            </a:solidFill>
            <a:prstDash val="dash"/>
            <a:tailEnd type="triangle"/>
          </a:ln>
        </p:spPr>
      </p:sp>
      <p:sp>
        <p:nvSpPr>
          <p:cNvPr id="34" name="Text 32"/>
          <p:cNvSpPr txBox="1"/>
          <p:nvPr/>
        </p:nvSpPr>
        <p:spPr>
          <a:xfrm>
            <a:off x="3429000" y="2926080"/>
            <a:ext cx="3108960" cy="548640"/>
          </a:xfrm>
          <a:prstGeom prst="rect">
            <a:avLst/>
          </a:prstGeom>
          <a:noFill/>
          <a:ln/>
        </p:spPr>
        <p:txBody>
          <a:bodyPr wrap="square" lIns="0" tIns="0" rIns="0" bIns="0" rtlCol="0" anchor="t"/>
          <a:lstStyle/>
          <a:p>
            <a:pPr indent="0" marL="0">
              <a:buNone/>
            </a:pPr>
            <a:r>
              <a:rPr lang="en-US" sz="1200" i="1" dirty="0">
                <a:solidFill>
                  <a:schemeClr val="accent4"/>
                </a:solidFill>
              </a:rPr>
              <a:t>✗ only ~2.5× cheaper than all-vs-all (reviewer's cost estimate)</a:t>
            </a:r>
            <a:endParaRPr lang="en-US" sz="1200" dirty="0"/>
          </a:p>
        </p:txBody>
      </p:sp>
      <p:sp>
        <p:nvSpPr>
          <p:cNvPr id="35" name="Text 33"/>
          <p:cNvSpPr txBox="1"/>
          <p:nvPr/>
        </p:nvSpPr>
        <p:spPr>
          <a:xfrm>
            <a:off x="640080" y="5577840"/>
            <a:ext cx="10881360" cy="457200"/>
          </a:xfrm>
          <a:prstGeom prst="rect">
            <a:avLst/>
          </a:prstGeom>
          <a:noFill/>
          <a:ln/>
        </p:spPr>
        <p:txBody>
          <a:bodyPr wrap="square" lIns="0" tIns="0" rIns="0" bIns="0" rtlCol="0" anchor="t"/>
          <a:lstStyle/>
          <a:p>
            <a:pPr indent="0" marL="0">
              <a:buNone/>
            </a:pPr>
            <a:r>
              <a:rPr lang="en-US" sz="1300" i="1" dirty="0">
                <a:solidFill>
                  <a:schemeClr val="accent6"/>
                </a:solidFill>
              </a:rPr>
              <a:t>Dropped after review: “novel” parts that SYNERGY, InParanoid/Hieranoid and OrthoFinder/SHOOT already had.</a:t>
            </a:r>
            <a:endParaRPr lang="en-US" sz="13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Four rules steered every decision</a:t>
            </a:r>
            <a:endParaRPr lang="en-US" sz="3200" dirty="0"/>
          </a:p>
        </p:txBody>
      </p:sp>
      <p:sp>
        <p:nvSpPr>
          <p:cNvPr id="3" name="Shape 1"/>
          <p:cNvSpPr/>
          <p:nvPr/>
        </p:nvSpPr>
        <p:spPr>
          <a:xfrm>
            <a:off x="548640" y="1325880"/>
            <a:ext cx="5394960" cy="1783080"/>
          </a:xfrm>
          <a:prstGeom prst="roundRect">
            <a:avLst>
              <a:gd name="adj" fmla="val 6154"/>
            </a:avLst>
          </a:prstGeom>
          <a:solidFill>
            <a:schemeClr val="bg2"/>
          </a:solidFill>
          <a:ln w="12700">
            <a:solidFill>
              <a:schemeClr val="bg2"/>
            </a:solidFill>
            <a:prstDash val="solid"/>
          </a:ln>
        </p:spPr>
      </p:sp>
      <p:sp>
        <p:nvSpPr>
          <p:cNvPr id="4" name="Shape 2"/>
          <p:cNvSpPr/>
          <p:nvPr/>
        </p:nvSpPr>
        <p:spPr>
          <a:xfrm>
            <a:off x="822960" y="1645920"/>
            <a:ext cx="731520" cy="731520"/>
          </a:xfrm>
          <a:prstGeom prst="ellipse">
            <a:avLst/>
          </a:prstGeom>
          <a:solidFill>
            <a:schemeClr val="accent1"/>
          </a:solidFill>
          <a:ln w="12700">
            <a:solidFill>
              <a:schemeClr val="accent1"/>
            </a:solidFill>
            <a:prstDash val="solid"/>
          </a:ln>
        </p:spPr>
      </p:sp>
      <p:sp>
        <p:nvSpPr>
          <p:cNvPr id="5" name="Text 3"/>
          <p:cNvSpPr txBox="1"/>
          <p:nvPr/>
        </p:nvSpPr>
        <p:spPr>
          <a:xfrm>
            <a:off x="822960" y="1645920"/>
            <a:ext cx="731520" cy="731520"/>
          </a:xfrm>
          <a:prstGeom prst="rect">
            <a:avLst/>
          </a:prstGeom>
          <a:noFill/>
          <a:ln/>
        </p:spPr>
        <p:txBody>
          <a:bodyPr wrap="square" lIns="0" tIns="0" rIns="0" bIns="0" rtlCol="0" anchor="ctr"/>
          <a:lstStyle/>
          <a:p>
            <a:pPr algn="ctr" indent="0" marL="0">
              <a:buNone/>
            </a:pPr>
            <a:r>
              <a:rPr lang="en-US" sz="2400" b="1" dirty="0">
                <a:solidFill>
                  <a:schemeClr val="bg1"/>
                </a:solidFill>
              </a:rPr>
              <a:t>1</a:t>
            </a:r>
            <a:endParaRPr lang="en-US" sz="2400" dirty="0"/>
          </a:p>
        </p:txBody>
      </p:sp>
      <p:sp>
        <p:nvSpPr>
          <p:cNvPr id="6" name="Text 4"/>
          <p:cNvSpPr txBox="1"/>
          <p:nvPr/>
        </p:nvSpPr>
        <p:spPr>
          <a:xfrm>
            <a:off x="1783080" y="1600200"/>
            <a:ext cx="4023360" cy="411480"/>
          </a:xfrm>
          <a:prstGeom prst="rect">
            <a:avLst/>
          </a:prstGeom>
          <a:noFill/>
          <a:ln/>
        </p:spPr>
        <p:txBody>
          <a:bodyPr wrap="square" lIns="0" tIns="0" rIns="0" bIns="0" rtlCol="0" anchor="t"/>
          <a:lstStyle/>
          <a:p>
            <a:pPr indent="0" marL="0">
              <a:buNone/>
            </a:pPr>
            <a:r>
              <a:rPr lang="en-US" sz="2000" b="1" dirty="0">
                <a:solidFill>
                  <a:schemeClr val="tx2"/>
                </a:solidFill>
              </a:rPr>
              <a:t>Pre-registration</a:t>
            </a:r>
            <a:endParaRPr lang="en-US" sz="2000" dirty="0"/>
          </a:p>
        </p:txBody>
      </p:sp>
      <p:sp>
        <p:nvSpPr>
          <p:cNvPr id="7" name="Text 5"/>
          <p:cNvSpPr txBox="1"/>
          <p:nvPr/>
        </p:nvSpPr>
        <p:spPr>
          <a:xfrm>
            <a:off x="1783080" y="2103120"/>
            <a:ext cx="3931920" cy="822960"/>
          </a:xfrm>
          <a:prstGeom prst="rect">
            <a:avLst/>
          </a:prstGeom>
          <a:noFill/>
          <a:ln/>
        </p:spPr>
        <p:txBody>
          <a:bodyPr wrap="square" lIns="0" tIns="0" rIns="0" bIns="0" rtlCol="0" anchor="t"/>
          <a:lstStyle/>
          <a:p>
            <a:pPr indent="0" marL="0">
              <a:buNone/>
            </a:pPr>
            <a:r>
              <a:rPr lang="en-US" sz="1500" dirty="0">
                <a:solidFill>
                  <a:schemeClr val="tx1"/>
                </a:solidFill>
              </a:rPr>
              <a:t>Hypothesis, arms and keep rule written before results</a:t>
            </a:r>
            <a:endParaRPr lang="en-US" sz="1500" dirty="0"/>
          </a:p>
        </p:txBody>
      </p:sp>
      <p:sp>
        <p:nvSpPr>
          <p:cNvPr id="8" name="Shape 6"/>
          <p:cNvSpPr/>
          <p:nvPr/>
        </p:nvSpPr>
        <p:spPr>
          <a:xfrm>
            <a:off x="6172200" y="1325880"/>
            <a:ext cx="5394960" cy="1783080"/>
          </a:xfrm>
          <a:prstGeom prst="roundRect">
            <a:avLst>
              <a:gd name="adj" fmla="val 6154"/>
            </a:avLst>
          </a:prstGeom>
          <a:solidFill>
            <a:schemeClr val="bg2"/>
          </a:solidFill>
          <a:ln w="12700">
            <a:solidFill>
              <a:schemeClr val="bg2"/>
            </a:solidFill>
            <a:prstDash val="solid"/>
          </a:ln>
        </p:spPr>
      </p:sp>
      <p:sp>
        <p:nvSpPr>
          <p:cNvPr id="9" name="Shape 7"/>
          <p:cNvSpPr/>
          <p:nvPr/>
        </p:nvSpPr>
        <p:spPr>
          <a:xfrm>
            <a:off x="6446520" y="1645920"/>
            <a:ext cx="731520" cy="731520"/>
          </a:xfrm>
          <a:prstGeom prst="ellipse">
            <a:avLst/>
          </a:prstGeom>
          <a:solidFill>
            <a:schemeClr val="accent3"/>
          </a:solidFill>
          <a:ln w="12700">
            <a:solidFill>
              <a:schemeClr val="accent3"/>
            </a:solidFill>
            <a:prstDash val="solid"/>
          </a:ln>
        </p:spPr>
      </p:sp>
      <p:sp>
        <p:nvSpPr>
          <p:cNvPr id="10" name="Text 8"/>
          <p:cNvSpPr txBox="1"/>
          <p:nvPr/>
        </p:nvSpPr>
        <p:spPr>
          <a:xfrm>
            <a:off x="6446520" y="1645920"/>
            <a:ext cx="731520" cy="731520"/>
          </a:xfrm>
          <a:prstGeom prst="rect">
            <a:avLst/>
          </a:prstGeom>
          <a:noFill/>
          <a:ln/>
        </p:spPr>
        <p:txBody>
          <a:bodyPr wrap="square" lIns="0" tIns="0" rIns="0" bIns="0" rtlCol="0" anchor="ctr"/>
          <a:lstStyle/>
          <a:p>
            <a:pPr algn="ctr" indent="0" marL="0">
              <a:buNone/>
            </a:pPr>
            <a:r>
              <a:rPr lang="en-US" sz="2400" b="1" dirty="0">
                <a:solidFill>
                  <a:schemeClr val="bg1"/>
                </a:solidFill>
              </a:rPr>
              <a:t>2</a:t>
            </a:r>
            <a:endParaRPr lang="en-US" sz="2400" dirty="0"/>
          </a:p>
        </p:txBody>
      </p:sp>
      <p:sp>
        <p:nvSpPr>
          <p:cNvPr id="11" name="Text 9"/>
          <p:cNvSpPr txBox="1"/>
          <p:nvPr/>
        </p:nvSpPr>
        <p:spPr>
          <a:xfrm>
            <a:off x="7406640" y="1600200"/>
            <a:ext cx="4023360" cy="411480"/>
          </a:xfrm>
          <a:prstGeom prst="rect">
            <a:avLst/>
          </a:prstGeom>
          <a:noFill/>
          <a:ln/>
        </p:spPr>
        <p:txBody>
          <a:bodyPr wrap="square" lIns="0" tIns="0" rIns="0" bIns="0" rtlCol="0" anchor="t"/>
          <a:lstStyle/>
          <a:p>
            <a:pPr indent="0" marL="0">
              <a:buNone/>
            </a:pPr>
            <a:r>
              <a:rPr lang="en-US" sz="2000" b="1" dirty="0">
                <a:solidFill>
                  <a:schemeClr val="tx2"/>
                </a:solidFill>
              </a:rPr>
              <a:t>Dev / test split</a:t>
            </a:r>
            <a:endParaRPr lang="en-US" sz="2000" dirty="0"/>
          </a:p>
        </p:txBody>
      </p:sp>
      <p:sp>
        <p:nvSpPr>
          <p:cNvPr id="12" name="Text 10"/>
          <p:cNvSpPr txBox="1"/>
          <p:nvPr/>
        </p:nvSpPr>
        <p:spPr>
          <a:xfrm>
            <a:off x="7406640" y="2103120"/>
            <a:ext cx="3931920" cy="822960"/>
          </a:xfrm>
          <a:prstGeom prst="rect">
            <a:avLst/>
          </a:prstGeom>
          <a:noFill/>
          <a:ln/>
        </p:spPr>
        <p:txBody>
          <a:bodyPr wrap="square" lIns="0" tIns="0" rIns="0" bIns="0" rtlCol="0" anchor="t"/>
          <a:lstStyle/>
          <a:p>
            <a:pPr indent="0" marL="0">
              <a:buNone/>
            </a:pPr>
            <a:r>
              <a:rPr lang="en-US" sz="1500" dirty="0">
                <a:solidFill>
                  <a:schemeClr val="tx1"/>
                </a:solidFill>
              </a:rPr>
              <a:t>OrthoBench split by homology: 34 dev, 36 test groups</a:t>
            </a:r>
            <a:endParaRPr lang="en-US" sz="1500" dirty="0"/>
          </a:p>
        </p:txBody>
      </p:sp>
      <p:sp>
        <p:nvSpPr>
          <p:cNvPr id="13" name="Shape 11"/>
          <p:cNvSpPr/>
          <p:nvPr/>
        </p:nvSpPr>
        <p:spPr>
          <a:xfrm>
            <a:off x="548640" y="3383280"/>
            <a:ext cx="5394960" cy="1783080"/>
          </a:xfrm>
          <a:prstGeom prst="roundRect">
            <a:avLst>
              <a:gd name="adj" fmla="val 6154"/>
            </a:avLst>
          </a:prstGeom>
          <a:solidFill>
            <a:schemeClr val="bg2"/>
          </a:solidFill>
          <a:ln w="12700">
            <a:solidFill>
              <a:schemeClr val="bg2"/>
            </a:solidFill>
            <a:prstDash val="solid"/>
          </a:ln>
        </p:spPr>
      </p:sp>
      <p:sp>
        <p:nvSpPr>
          <p:cNvPr id="14" name="Shape 12"/>
          <p:cNvSpPr/>
          <p:nvPr/>
        </p:nvSpPr>
        <p:spPr>
          <a:xfrm>
            <a:off x="822960" y="3703320"/>
            <a:ext cx="731520" cy="731520"/>
          </a:xfrm>
          <a:prstGeom prst="ellipse">
            <a:avLst/>
          </a:prstGeom>
          <a:solidFill>
            <a:schemeClr val="accent2"/>
          </a:solidFill>
          <a:ln w="12700">
            <a:solidFill>
              <a:schemeClr val="accent2"/>
            </a:solidFill>
            <a:prstDash val="solid"/>
          </a:ln>
        </p:spPr>
      </p:sp>
      <p:sp>
        <p:nvSpPr>
          <p:cNvPr id="15" name="Text 13"/>
          <p:cNvSpPr txBox="1"/>
          <p:nvPr/>
        </p:nvSpPr>
        <p:spPr>
          <a:xfrm>
            <a:off x="822960" y="3703320"/>
            <a:ext cx="731520" cy="731520"/>
          </a:xfrm>
          <a:prstGeom prst="rect">
            <a:avLst/>
          </a:prstGeom>
          <a:noFill/>
          <a:ln/>
        </p:spPr>
        <p:txBody>
          <a:bodyPr wrap="square" lIns="0" tIns="0" rIns="0" bIns="0" rtlCol="0" anchor="ctr"/>
          <a:lstStyle/>
          <a:p>
            <a:pPr algn="ctr" indent="0" marL="0">
              <a:buNone/>
            </a:pPr>
            <a:r>
              <a:rPr lang="en-US" sz="2400" b="1" dirty="0">
                <a:solidFill>
                  <a:schemeClr val="bg1"/>
                </a:solidFill>
              </a:rPr>
              <a:t>3</a:t>
            </a:r>
            <a:endParaRPr lang="en-US" sz="2400" dirty="0"/>
          </a:p>
        </p:txBody>
      </p:sp>
      <p:sp>
        <p:nvSpPr>
          <p:cNvPr id="16" name="Text 14"/>
          <p:cNvSpPr txBox="1"/>
          <p:nvPr/>
        </p:nvSpPr>
        <p:spPr>
          <a:xfrm>
            <a:off x="1783080" y="3657600"/>
            <a:ext cx="4023360" cy="411480"/>
          </a:xfrm>
          <a:prstGeom prst="rect">
            <a:avLst/>
          </a:prstGeom>
          <a:noFill/>
          <a:ln/>
        </p:spPr>
        <p:txBody>
          <a:bodyPr wrap="square" lIns="0" tIns="0" rIns="0" bIns="0" rtlCol="0" anchor="t"/>
          <a:lstStyle/>
          <a:p>
            <a:pPr indent="0" marL="0">
              <a:buNone/>
            </a:pPr>
            <a:r>
              <a:rPr lang="en-US" sz="2000" b="1" dirty="0">
                <a:solidFill>
                  <a:schemeClr val="tx2"/>
                </a:solidFill>
              </a:rPr>
              <a:t>Shuffled controls</a:t>
            </a:r>
            <a:endParaRPr lang="en-US" sz="2000" dirty="0"/>
          </a:p>
        </p:txBody>
      </p:sp>
      <p:sp>
        <p:nvSpPr>
          <p:cNvPr id="17" name="Text 15"/>
          <p:cNvSpPr txBox="1"/>
          <p:nvPr/>
        </p:nvSpPr>
        <p:spPr>
          <a:xfrm>
            <a:off x="1783080" y="4160520"/>
            <a:ext cx="3931920" cy="822960"/>
          </a:xfrm>
          <a:prstGeom prst="rect">
            <a:avLst/>
          </a:prstGeom>
          <a:noFill/>
          <a:ln/>
        </p:spPr>
        <p:txBody>
          <a:bodyPr wrap="square" lIns="0" tIns="0" rIns="0" bIns="0" rtlCol="0" anchor="t"/>
          <a:lstStyle/>
          <a:p>
            <a:pPr indent="0" marL="0">
              <a:buNone/>
            </a:pPr>
            <a:r>
              <a:rPr lang="en-US" sz="1500" dirty="0">
                <a:solidFill>
                  <a:schemeClr val="tx1"/>
                </a:solidFill>
              </a:rPr>
              <a:t>Every data layer vs a shuffled copy (seeds 11, 23, 47)</a:t>
            </a:r>
            <a:endParaRPr lang="en-US" sz="1500" dirty="0"/>
          </a:p>
        </p:txBody>
      </p:sp>
      <p:sp>
        <p:nvSpPr>
          <p:cNvPr id="18" name="Shape 16"/>
          <p:cNvSpPr/>
          <p:nvPr/>
        </p:nvSpPr>
        <p:spPr>
          <a:xfrm>
            <a:off x="6172200" y="3383280"/>
            <a:ext cx="5394960" cy="1783080"/>
          </a:xfrm>
          <a:prstGeom prst="roundRect">
            <a:avLst>
              <a:gd name="adj" fmla="val 6154"/>
            </a:avLst>
          </a:prstGeom>
          <a:solidFill>
            <a:schemeClr val="bg2"/>
          </a:solidFill>
          <a:ln w="12700">
            <a:solidFill>
              <a:schemeClr val="bg2"/>
            </a:solidFill>
            <a:prstDash val="solid"/>
          </a:ln>
        </p:spPr>
      </p:sp>
      <p:sp>
        <p:nvSpPr>
          <p:cNvPr id="19" name="Shape 17"/>
          <p:cNvSpPr/>
          <p:nvPr/>
        </p:nvSpPr>
        <p:spPr>
          <a:xfrm>
            <a:off x="6446520" y="3703320"/>
            <a:ext cx="731520" cy="731520"/>
          </a:xfrm>
          <a:prstGeom prst="ellipse">
            <a:avLst/>
          </a:prstGeom>
          <a:solidFill>
            <a:schemeClr val="tx2"/>
          </a:solidFill>
          <a:ln w="12700">
            <a:solidFill>
              <a:schemeClr val="tx2"/>
            </a:solidFill>
            <a:prstDash val="solid"/>
          </a:ln>
        </p:spPr>
      </p:sp>
      <p:sp>
        <p:nvSpPr>
          <p:cNvPr id="20" name="Text 18"/>
          <p:cNvSpPr txBox="1"/>
          <p:nvPr/>
        </p:nvSpPr>
        <p:spPr>
          <a:xfrm>
            <a:off x="6446520" y="3703320"/>
            <a:ext cx="731520" cy="731520"/>
          </a:xfrm>
          <a:prstGeom prst="rect">
            <a:avLst/>
          </a:prstGeom>
          <a:noFill/>
          <a:ln/>
        </p:spPr>
        <p:txBody>
          <a:bodyPr wrap="square" lIns="0" tIns="0" rIns="0" bIns="0" rtlCol="0" anchor="ctr"/>
          <a:lstStyle/>
          <a:p>
            <a:pPr algn="ctr" indent="0" marL="0">
              <a:buNone/>
            </a:pPr>
            <a:r>
              <a:rPr lang="en-US" sz="2400" b="1" dirty="0">
                <a:solidFill>
                  <a:schemeClr val="bg1"/>
                </a:solidFill>
              </a:rPr>
              <a:t>4</a:t>
            </a:r>
            <a:endParaRPr lang="en-US" sz="2400" dirty="0"/>
          </a:p>
        </p:txBody>
      </p:sp>
      <p:sp>
        <p:nvSpPr>
          <p:cNvPr id="21" name="Text 19"/>
          <p:cNvSpPr txBox="1"/>
          <p:nvPr/>
        </p:nvSpPr>
        <p:spPr>
          <a:xfrm>
            <a:off x="7406640" y="3657600"/>
            <a:ext cx="4023360" cy="411480"/>
          </a:xfrm>
          <a:prstGeom prst="rect">
            <a:avLst/>
          </a:prstGeom>
          <a:noFill/>
          <a:ln/>
        </p:spPr>
        <p:txBody>
          <a:bodyPr wrap="square" lIns="0" tIns="0" rIns="0" bIns="0" rtlCol="0" anchor="t"/>
          <a:lstStyle/>
          <a:p>
            <a:pPr indent="0" marL="0">
              <a:buNone/>
            </a:pPr>
            <a:r>
              <a:rPr lang="en-US" sz="2000" b="1" dirty="0">
                <a:solidFill>
                  <a:schemeClr val="tx2"/>
                </a:solidFill>
              </a:rPr>
              <a:t>Independent checks</a:t>
            </a:r>
            <a:endParaRPr lang="en-US" sz="2000" dirty="0"/>
          </a:p>
        </p:txBody>
      </p:sp>
      <p:sp>
        <p:nvSpPr>
          <p:cNvPr id="22" name="Text 20"/>
          <p:cNvSpPr txBox="1"/>
          <p:nvPr/>
        </p:nvSpPr>
        <p:spPr>
          <a:xfrm>
            <a:off x="7406640" y="4160520"/>
            <a:ext cx="3931920" cy="822960"/>
          </a:xfrm>
          <a:prstGeom prst="rect">
            <a:avLst/>
          </a:prstGeom>
          <a:noFill/>
          <a:ln/>
        </p:spPr>
        <p:txBody>
          <a:bodyPr wrap="square" lIns="0" tIns="0" rIns="0" bIns="0" rtlCol="0" anchor="t"/>
          <a:lstStyle/>
          <a:p>
            <a:pPr indent="0" marL="0">
              <a:buNone/>
            </a:pPr>
            <a:r>
              <a:rPr lang="en-US" sz="1500" dirty="0">
                <a:solidFill>
                  <a:schemeClr val="tx1"/>
                </a:solidFill>
              </a:rPr>
              <a:t>Another agent recomputes each result before it is used</a:t>
            </a:r>
            <a:endParaRPr lang="en-US" sz="1500" dirty="0"/>
          </a:p>
        </p:txBody>
      </p:sp>
      <p:sp>
        <p:nvSpPr>
          <p:cNvPr id="23" name="Text 21"/>
          <p:cNvSpPr txBox="1"/>
          <p:nvPr/>
        </p:nvSpPr>
        <p:spPr>
          <a:xfrm>
            <a:off x="548640" y="5257800"/>
            <a:ext cx="1188720" cy="731520"/>
          </a:xfrm>
          <a:prstGeom prst="rect">
            <a:avLst/>
          </a:prstGeom>
          <a:noFill/>
          <a:ln/>
        </p:spPr>
        <p:txBody>
          <a:bodyPr wrap="square" lIns="0" tIns="0" rIns="0" bIns="0" rtlCol="0" anchor="ctr"/>
          <a:lstStyle/>
          <a:p>
            <a:pPr indent="0" marL="0">
              <a:buNone/>
            </a:pPr>
            <a:r>
              <a:rPr lang="en-US" sz="4000" b="1" dirty="0">
                <a:solidFill>
                  <a:schemeClr val="tx2"/>
                </a:solidFill>
                <a:latin typeface="Cambria" pitchFamily="34" charset="0"/>
                <a:ea typeface="Cambria" pitchFamily="34" charset="-122"/>
                <a:cs typeface="Cambria" pitchFamily="34" charset="-120"/>
              </a:rPr>
              <a:t>83</a:t>
            </a:r>
            <a:endParaRPr lang="en-US" sz="4000" dirty="0"/>
          </a:p>
        </p:txBody>
      </p:sp>
      <p:sp>
        <p:nvSpPr>
          <p:cNvPr id="24" name="Text 22"/>
          <p:cNvSpPr txBox="1"/>
          <p:nvPr/>
        </p:nvSpPr>
        <p:spPr>
          <a:xfrm>
            <a:off x="1783080" y="5257800"/>
            <a:ext cx="1737360" cy="731520"/>
          </a:xfrm>
          <a:prstGeom prst="rect">
            <a:avLst/>
          </a:prstGeom>
          <a:noFill/>
          <a:ln/>
        </p:spPr>
        <p:txBody>
          <a:bodyPr wrap="square" lIns="0" tIns="0" rIns="0" bIns="0" rtlCol="0" anchor="ctr"/>
          <a:lstStyle/>
          <a:p>
            <a:pPr indent="0" marL="0">
              <a:buNone/>
            </a:pPr>
            <a:r>
              <a:rPr lang="en-US" sz="1400" dirty="0">
                <a:solidFill>
                  <a:schemeClr val="tx1"/>
                </a:solidFill>
              </a:rPr>
              <a:t>claims in the evidence ledger</a:t>
            </a:r>
            <a:endParaRPr lang="en-US" sz="1400" dirty="0"/>
          </a:p>
        </p:txBody>
      </p:sp>
      <p:sp>
        <p:nvSpPr>
          <p:cNvPr id="25" name="Text 23"/>
          <p:cNvSpPr txBox="1"/>
          <p:nvPr/>
        </p:nvSpPr>
        <p:spPr>
          <a:xfrm>
            <a:off x="3657600" y="5257800"/>
            <a:ext cx="914400" cy="731520"/>
          </a:xfrm>
          <a:prstGeom prst="rect">
            <a:avLst/>
          </a:prstGeom>
          <a:noFill/>
          <a:ln/>
        </p:spPr>
        <p:txBody>
          <a:bodyPr wrap="square" lIns="0" tIns="0" rIns="0" bIns="0" rtlCol="0" anchor="ctr"/>
          <a:lstStyle/>
          <a:p>
            <a:pPr indent="0" marL="0">
              <a:buNone/>
            </a:pPr>
            <a:r>
              <a:rPr lang="en-US" sz="4000" b="1" dirty="0">
                <a:solidFill>
                  <a:schemeClr val="tx2"/>
                </a:solidFill>
                <a:latin typeface="Cambria" pitchFamily="34" charset="0"/>
                <a:ea typeface="Cambria" pitchFamily="34" charset="-122"/>
                <a:cs typeface="Cambria" pitchFamily="34" charset="-120"/>
              </a:rPr>
              <a:t>19</a:t>
            </a:r>
            <a:endParaRPr lang="en-US" sz="4000" dirty="0"/>
          </a:p>
        </p:txBody>
      </p:sp>
      <p:sp>
        <p:nvSpPr>
          <p:cNvPr id="26" name="Text 24"/>
          <p:cNvSpPr txBox="1"/>
          <p:nvPr/>
        </p:nvSpPr>
        <p:spPr>
          <a:xfrm>
            <a:off x="4572000" y="5257800"/>
            <a:ext cx="1737360" cy="731520"/>
          </a:xfrm>
          <a:prstGeom prst="rect">
            <a:avLst/>
          </a:prstGeom>
          <a:noFill/>
          <a:ln/>
        </p:spPr>
        <p:txBody>
          <a:bodyPr wrap="square" lIns="0" tIns="0" rIns="0" bIns="0" rtlCol="0" anchor="ctr"/>
          <a:lstStyle/>
          <a:p>
            <a:pPr indent="0" marL="0">
              <a:buNone/>
            </a:pPr>
            <a:r>
              <a:rPr lang="en-US" sz="1400" dirty="0">
                <a:solidFill>
                  <a:schemeClr val="tx1"/>
                </a:solidFill>
              </a:rPr>
              <a:t>deviations disclosed</a:t>
            </a:r>
            <a:endParaRPr lang="en-US" sz="1400" dirty="0"/>
          </a:p>
        </p:txBody>
      </p:sp>
      <p:sp>
        <p:nvSpPr>
          <p:cNvPr id="27" name="Text 25"/>
          <p:cNvSpPr txBox="1"/>
          <p:nvPr/>
        </p:nvSpPr>
        <p:spPr>
          <a:xfrm>
            <a:off x="6766560" y="5257800"/>
            <a:ext cx="4846320" cy="822960"/>
          </a:xfrm>
          <a:prstGeom prst="rect">
            <a:avLst/>
          </a:prstGeom>
          <a:noFill/>
          <a:ln/>
        </p:spPr>
        <p:txBody>
          <a:bodyPr wrap="square" lIns="0" tIns="0" rIns="0" bIns="0" rtlCol="0" anchor="t"/>
          <a:lstStyle/>
          <a:p>
            <a:pPr indent="0" marL="0">
              <a:buNone/>
            </a:pPr>
            <a:r>
              <a:rPr lang="en-US" sz="1300" i="1" dirty="0">
                <a:solidFill>
                  <a:schemeClr val="accent6"/>
                </a:solidFill>
              </a:rPr>
              <a:t>Test sets were scored once, after the freeze. Keep rule: lower 95% CI of the gain above 0, beating the shuffled control, no guard metric worse.</a:t>
            </a:r>
            <a:endParaRPr lang="en-US" sz="13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731520" y="2651760"/>
            <a:ext cx="10698480" cy="1097280"/>
          </a:xfrm>
          <a:prstGeom prst="rect">
            <a:avLst/>
          </a:prstGeom>
          <a:noFill/>
          <a:ln/>
        </p:spPr>
        <p:txBody>
          <a:bodyPr wrap="square" rtlCol="0"/>
          <a:lstStyle/>
          <a:p>
            <a:pPr algn="l" indent="0" marL="0">
              <a:buNone/>
            </a:pPr>
            <a:r>
              <a:rPr lang="en-US" sz="4400" b="1" dirty="0">
                <a:solidFill>
                  <a:schemeClr val="bg1"/>
                </a:solidFill>
                <a:latin typeface="Cambria" pitchFamily="34" charset="0"/>
                <a:ea typeface="Cambria" pitchFamily="34" charset="-122"/>
                <a:cs typeface="Cambria" pitchFamily="34" charset="-120"/>
              </a:rPr>
              <a:t>The method: Ancestra</a:t>
            </a:r>
            <a:endParaRPr lang="en-US" sz="4400" dirty="0"/>
          </a:p>
        </p:txBody>
      </p:sp>
      <p:sp>
        <p:nvSpPr>
          <p:cNvPr id="3" name="Text 0"/>
          <p:cNvSpPr/>
          <p:nvPr>
            <p:ph idx="101" type="body" hasCustomPrompt="1"/>
          </p:nvPr>
        </p:nvSpPr>
        <p:spPr>
          <a:xfrm>
            <a:off x="731520" y="3794760"/>
            <a:ext cx="10698480" cy="731520"/>
          </a:xfrm>
          <a:prstGeom prst="rect">
            <a:avLst/>
          </a:prstGeom>
          <a:noFill/>
          <a:ln/>
        </p:spPr>
        <p:txBody>
          <a:bodyPr wrap="square" rtlCol="0"/>
          <a:lstStyle/>
          <a:p>
            <a:pPr indent="0" marL="0">
              <a:buNone/>
            </a:pPr>
            <a:r>
              <a:rPr lang="en-US" sz="2000" dirty="0">
                <a:solidFill>
                  <a:schemeClr val="bg2"/>
                </a:solidFill>
              </a:rPr>
              <a:t>Rebuild the genes of every ancestor, one tree level at a time, inside protein families</a:t>
            </a:r>
            <a:endParaRPr lang="en-US" sz="20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bg2"/>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Ancestra in three steps</a:t>
            </a:r>
            <a:endParaRPr lang="en-US" sz="3200" dirty="0"/>
          </a:p>
        </p:txBody>
      </p:sp>
      <p:pic>
        <p:nvPicPr>
          <p:cNvPr id="3" name="Image 0" descr="Pipeline: proteomes to families, scores inside families, merge up the species tree, OrthoXML output">    </p:cNvPr>
          <p:cNvPicPr>
            <a:picLocks noChangeAspect="1"/>
          </p:cNvPicPr>
          <p:nvPr/>
        </p:nvPicPr>
        <p:blipFill>
          <a:blip r:embed="rId1"/>
          <a:stretch>
            <a:fillRect/>
          </a:stretch>
        </p:blipFill>
        <p:spPr>
          <a:xfrm>
            <a:off x="548640" y="1371600"/>
            <a:ext cx="11064240" cy="3858768"/>
          </a:xfrm>
          <a:prstGeom prst="rect">
            <a:avLst/>
          </a:prstGeom>
        </p:spPr>
      </p:pic>
      <p:sp>
        <p:nvSpPr>
          <p:cNvPr id="4" name="Shape 1"/>
          <p:cNvSpPr/>
          <p:nvPr/>
        </p:nvSpPr>
        <p:spPr>
          <a:xfrm>
            <a:off x="548640" y="5532120"/>
            <a:ext cx="2651760" cy="548640"/>
          </a:xfrm>
          <a:prstGeom prst="roundRect">
            <a:avLst>
              <a:gd name="adj" fmla="val 20000"/>
            </a:avLst>
          </a:prstGeom>
          <a:solidFill>
            <a:schemeClr val="accent1"/>
          </a:solidFill>
          <a:ln w="12700">
            <a:solidFill>
              <a:schemeClr val="accent1"/>
            </a:solidFill>
            <a:prstDash val="solid"/>
          </a:ln>
        </p:spPr>
      </p:sp>
      <p:sp>
        <p:nvSpPr>
          <p:cNvPr id="5" name="Text 2"/>
          <p:cNvSpPr txBox="1"/>
          <p:nvPr/>
        </p:nvSpPr>
        <p:spPr>
          <a:xfrm>
            <a:off x="548640" y="5532120"/>
            <a:ext cx="2651760" cy="548640"/>
          </a:xfrm>
          <a:prstGeom prst="rect">
            <a:avLst/>
          </a:prstGeom>
          <a:noFill/>
          <a:ln/>
        </p:spPr>
        <p:txBody>
          <a:bodyPr wrap="square" lIns="508" tIns="508" rIns="508" bIns="508" rtlCol="0" anchor="ctr"/>
          <a:lstStyle/>
          <a:p>
            <a:pPr algn="ctr" indent="0" marL="0">
              <a:buNone/>
            </a:pPr>
            <a:r>
              <a:rPr lang="en-US" sz="1300" b="1" dirty="0">
                <a:solidFill>
                  <a:schemeClr val="bg1"/>
                </a:solidFill>
              </a:rPr>
              <a:t>No reference database</a:t>
            </a:r>
            <a:endParaRPr lang="en-US" sz="1300" dirty="0"/>
          </a:p>
        </p:txBody>
      </p:sp>
      <p:sp>
        <p:nvSpPr>
          <p:cNvPr id="6" name="Shape 3"/>
          <p:cNvSpPr/>
          <p:nvPr/>
        </p:nvSpPr>
        <p:spPr>
          <a:xfrm>
            <a:off x="3337560" y="5532120"/>
            <a:ext cx="2651760" cy="548640"/>
          </a:xfrm>
          <a:prstGeom prst="roundRect">
            <a:avLst>
              <a:gd name="adj" fmla="val 20000"/>
            </a:avLst>
          </a:prstGeom>
          <a:solidFill>
            <a:schemeClr val="accent3"/>
          </a:solidFill>
          <a:ln w="12700">
            <a:solidFill>
              <a:schemeClr val="accent3"/>
            </a:solidFill>
            <a:prstDash val="solid"/>
          </a:ln>
        </p:spPr>
      </p:sp>
      <p:sp>
        <p:nvSpPr>
          <p:cNvPr id="7" name="Text 4"/>
          <p:cNvSpPr txBox="1"/>
          <p:nvPr/>
        </p:nvSpPr>
        <p:spPr>
          <a:xfrm>
            <a:off x="3337560" y="5532120"/>
            <a:ext cx="2651760" cy="548640"/>
          </a:xfrm>
          <a:prstGeom prst="rect">
            <a:avLst/>
          </a:prstGeom>
          <a:noFill/>
          <a:ln/>
        </p:spPr>
        <p:txBody>
          <a:bodyPr wrap="square" lIns="508" tIns="508" rIns="508" bIns="508" rtlCol="0" anchor="ctr"/>
          <a:lstStyle/>
          <a:p>
            <a:pPr algn="ctr" indent="0" marL="0">
              <a:buNone/>
            </a:pPr>
            <a:r>
              <a:rPr lang="en-US" sz="1300" b="1" dirty="0">
                <a:solidFill>
                  <a:schemeClr val="bg1"/>
                </a:solidFill>
              </a:rPr>
              <a:t>Ancestral genes never searched again</a:t>
            </a:r>
            <a:endParaRPr lang="en-US" sz="1300" dirty="0"/>
          </a:p>
        </p:txBody>
      </p:sp>
      <p:sp>
        <p:nvSpPr>
          <p:cNvPr id="8" name="Shape 5"/>
          <p:cNvSpPr/>
          <p:nvPr/>
        </p:nvSpPr>
        <p:spPr>
          <a:xfrm>
            <a:off x="6126480" y="5532120"/>
            <a:ext cx="2651760" cy="548640"/>
          </a:xfrm>
          <a:prstGeom prst="roundRect">
            <a:avLst>
              <a:gd name="adj" fmla="val 20000"/>
            </a:avLst>
          </a:prstGeom>
          <a:solidFill>
            <a:schemeClr val="accent2"/>
          </a:solidFill>
          <a:ln w="12700">
            <a:solidFill>
              <a:schemeClr val="accent2"/>
            </a:solidFill>
            <a:prstDash val="solid"/>
          </a:ln>
        </p:spPr>
      </p:sp>
      <p:sp>
        <p:nvSpPr>
          <p:cNvPr id="9" name="Text 6"/>
          <p:cNvSpPr txBox="1"/>
          <p:nvPr/>
        </p:nvSpPr>
        <p:spPr>
          <a:xfrm>
            <a:off x="6126480" y="5532120"/>
            <a:ext cx="2651760" cy="548640"/>
          </a:xfrm>
          <a:prstGeom prst="rect">
            <a:avLst/>
          </a:prstGeom>
          <a:noFill/>
          <a:ln/>
        </p:spPr>
        <p:txBody>
          <a:bodyPr wrap="square" lIns="508" tIns="508" rIns="508" bIns="508" rtlCol="0" anchor="ctr"/>
          <a:lstStyle/>
          <a:p>
            <a:pPr algn="ctr" indent="0" marL="0">
              <a:buNone/>
            </a:pPr>
            <a:r>
              <a:rPr lang="en-US" sz="1300" b="1" dirty="0">
                <a:solidFill>
                  <a:schemeClr val="bg1"/>
                </a:solidFill>
              </a:rPr>
              <a:t>Every tree level gives HOGs</a:t>
            </a:r>
            <a:endParaRPr lang="en-US" sz="1300" dirty="0"/>
          </a:p>
        </p:txBody>
      </p:sp>
      <p:sp>
        <p:nvSpPr>
          <p:cNvPr id="10" name="Shape 7"/>
          <p:cNvSpPr/>
          <p:nvPr/>
        </p:nvSpPr>
        <p:spPr>
          <a:xfrm>
            <a:off x="8915400" y="5532120"/>
            <a:ext cx="2651760" cy="548640"/>
          </a:xfrm>
          <a:prstGeom prst="roundRect">
            <a:avLst>
              <a:gd name="adj" fmla="val 20000"/>
            </a:avLst>
          </a:prstGeom>
          <a:solidFill>
            <a:schemeClr val="accent6"/>
          </a:solidFill>
          <a:ln w="12700">
            <a:solidFill>
              <a:schemeClr val="accent6"/>
            </a:solidFill>
            <a:prstDash val="solid"/>
          </a:ln>
        </p:spPr>
      </p:sp>
      <p:sp>
        <p:nvSpPr>
          <p:cNvPr id="11" name="Text 8"/>
          <p:cNvSpPr txBox="1"/>
          <p:nvPr/>
        </p:nvSpPr>
        <p:spPr>
          <a:xfrm>
            <a:off x="8915400" y="5532120"/>
            <a:ext cx="2651760" cy="548640"/>
          </a:xfrm>
          <a:prstGeom prst="rect">
            <a:avLst/>
          </a:prstGeom>
          <a:noFill/>
          <a:ln/>
        </p:spPr>
        <p:txBody>
          <a:bodyPr wrap="square" lIns="508" tIns="508" rIns="508" bIns="508" rtlCol="0" anchor="ctr"/>
          <a:lstStyle/>
          <a:p>
            <a:pPr algn="ctr" indent="0" marL="0">
              <a:buNone/>
            </a:pPr>
            <a:r>
              <a:rPr lang="en-US" sz="1300" b="1" dirty="0">
                <a:solidFill>
                  <a:schemeClr val="bg1"/>
                </a:solidFill>
              </a:rPr>
              <a:t>Optional: gene order, 3Di</a:t>
            </a:r>
            <a:endParaRPr lang="en-US" sz="13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Same goal as FastOMA, a different route</a:t>
            </a:r>
            <a:endParaRPr lang="en-US" sz="32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64240" cy="914400"/>
        </p:xfrm>
        <a:graphic>
          <a:graphicData uri="http://schemas.openxmlformats.org/drawingml/2006/table">
            <a:tbl>
              <a:tblPr/>
              <a:tblGrid>
                <a:gridCol w="3566160"/>
                <a:gridCol w="1874520"/>
                <a:gridCol w="1874520"/>
                <a:gridCol w="1874520"/>
                <a:gridCol w="1874520"/>
              </a:tblGrid>
              <a:tr h="566928">
                <a:tc>
                  <a:txBody>
                    <a:bodyPr/>
                    <a:lstStyle/>
                    <a:p>
                      <a:pPr algn="ctr" indent="0" marL="0">
                        <a:buNone/>
                      </a:pPr>
                      <a:endParaRPr lang="en-US" sz="1500" dirty="0"/>
                    </a:p>
                  </a:txBody>
                  <a:tcPr marL="91440" marR="9144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9EEF5"/>
                    </a:solidFill>
                  </a:tcPr>
                </a:tc>
                <a:tc>
                  <a:txBody>
                    <a:bodyPr/>
                    <a:lstStyle/>
                    <a:p>
                      <a:pPr algn="ctr" indent="0" marL="0">
                        <a:buNone/>
                      </a:pPr>
                      <a:r>
                        <a:rPr lang="en-US" sz="1500" b="1" dirty="0">
                          <a:solidFill>
                            <a:schemeClr val="bg1"/>
                          </a:solidFill>
                        </a:rPr>
                        <a:t>Ancestra</a:t>
                      </a:r>
                      <a:endParaRPr lang="en-US" sz="1500" dirty="0"/>
                    </a:p>
                  </a:txBody>
                  <a:tcPr marL="91440" marR="9144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1F3A5F"/>
                    </a:solidFill>
                  </a:tcPr>
                </a:tc>
                <a:tc>
                  <a:txBody>
                    <a:bodyPr/>
                    <a:lstStyle/>
                    <a:p>
                      <a:pPr algn="ctr" indent="0" marL="0">
                        <a:buNone/>
                      </a:pPr>
                      <a:r>
                        <a:rPr lang="en-US" sz="1500" b="1" dirty="0">
                          <a:solidFill>
                            <a:schemeClr val="tx2"/>
                          </a:solidFill>
                        </a:rPr>
                        <a:t>FastOMA</a:t>
                      </a:r>
                      <a:endParaRPr lang="en-US" sz="1500" dirty="0"/>
                    </a:p>
                  </a:txBody>
                  <a:tcPr marL="91440" marR="9144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9EEF5"/>
                    </a:solidFill>
                  </a:tcPr>
                </a:tc>
                <a:tc>
                  <a:txBody>
                    <a:bodyPr/>
                    <a:lstStyle/>
                    <a:p>
                      <a:pPr algn="ctr" indent="0" marL="0">
                        <a:buNone/>
                      </a:pPr>
                      <a:r>
                        <a:rPr lang="en-US" sz="1500" b="1" dirty="0">
                          <a:solidFill>
                            <a:schemeClr val="tx2"/>
                          </a:solidFill>
                        </a:rPr>
                        <a:t>OrthoFinder</a:t>
                      </a:r>
                      <a:endParaRPr lang="en-US" sz="1500" dirty="0"/>
                    </a:p>
                  </a:txBody>
                  <a:tcPr marL="91440" marR="9144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9EEF5"/>
                    </a:solidFill>
                  </a:tcPr>
                </a:tc>
                <a:tc>
                  <a:txBody>
                    <a:bodyPr/>
                    <a:lstStyle/>
                    <a:p>
                      <a:pPr algn="ctr" indent="0" marL="0">
                        <a:buNone/>
                      </a:pPr>
                      <a:r>
                        <a:rPr lang="en-US" sz="1500" b="1" dirty="0">
                          <a:solidFill>
                            <a:schemeClr val="tx2"/>
                          </a:solidFill>
                        </a:rPr>
                        <a:t>SonicParanoid2</a:t>
                      </a:r>
                      <a:endParaRPr lang="en-US" sz="1500" dirty="0"/>
                    </a:p>
                  </a:txBody>
                  <a:tcPr marL="91440" marR="9144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9EEF5"/>
                    </a:solidFill>
                  </a:tcPr>
                </a:tc>
              </a:tr>
              <a:tr h="566928">
                <a:tc>
                  <a:txBody>
                    <a:bodyPr/>
                    <a:lstStyle/>
                    <a:p>
                      <a:pPr algn="l" indent="0" marL="0">
                        <a:buNone/>
                      </a:pPr>
                      <a:r>
                        <a:rPr lang="en-US" sz="1500" dirty="0">
                          <a:solidFill>
                            <a:srgbClr val="22303F"/>
                          </a:solidFill>
                        </a:rPr>
                        <a:t>Reference database needed</a:t>
                      </a:r>
                      <a:endParaRPr lang="en-US" sz="1500" dirty="0"/>
                    </a:p>
                  </a:txBody>
                  <a:tcPr marL="91440" marR="9144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500" b="1" dirty="0">
                          <a:solidFill>
                            <a:srgbClr val="B5473A"/>
                          </a:solidFill>
                        </a:rPr>
                        <a:t>✗</a:t>
                      </a:r>
                      <a:endParaRPr lang="en-US" sz="1500" dirty="0"/>
                    </a:p>
                  </a:txBody>
                  <a:tcPr marL="91440" marR="9144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EF3F9"/>
                    </a:solidFill>
                  </a:tcPr>
                </a:tc>
                <a:tc>
                  <a:txBody>
                    <a:bodyPr/>
                    <a:lstStyle/>
                    <a:p>
                      <a:pPr algn="ctr" indent="0" marL="0">
                        <a:buNone/>
                      </a:pPr>
                      <a:r>
                        <a:rPr lang="en-US" sz="1500" dirty="0">
                          <a:solidFill>
                            <a:srgbClr val="22303F"/>
                          </a:solidFill>
                        </a:rPr>
                        <a:t>OMA (OMAmer)</a:t>
                      </a:r>
                      <a:endParaRPr lang="en-US" sz="1500" dirty="0"/>
                    </a:p>
                  </a:txBody>
                  <a:tcPr marL="91440" marR="9144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B5473A"/>
                          </a:solidFill>
                        </a:rPr>
                        <a:t>✗</a:t>
                      </a:r>
                      <a:endParaRPr lang="en-US" sz="1500" dirty="0"/>
                    </a:p>
                  </a:txBody>
                  <a:tcPr marL="91440" marR="9144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B5473A"/>
                          </a:solidFill>
                        </a:rPr>
                        <a:t>✗</a:t>
                      </a:r>
                      <a:endParaRPr lang="en-US" sz="1500" dirty="0"/>
                    </a:p>
                  </a:txBody>
                  <a:tcPr marL="91440" marR="9144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r>
              <a:tr h="566928">
                <a:tc>
                  <a:txBody>
                    <a:bodyPr/>
                    <a:lstStyle/>
                    <a:p>
                      <a:pPr algn="l" indent="0" marL="0">
                        <a:buNone/>
                      </a:pPr>
                      <a:r>
                        <a:rPr lang="en-US" sz="1500" dirty="0">
                          <a:solidFill>
                            <a:srgbClr val="22303F"/>
                          </a:solidFill>
                        </a:rPr>
                        <a:t>All-vs-all search</a:t>
                      </a:r>
                      <a:endParaRPr lang="en-US" sz="1500" dirty="0"/>
                    </a:p>
                  </a:txBody>
                  <a:tcPr marL="91440" marR="9144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500" b="1" dirty="0">
                          <a:solidFill>
                            <a:srgbClr val="B5473A"/>
                          </a:solidFill>
                        </a:rPr>
                        <a:t>✗</a:t>
                      </a:r>
                      <a:endParaRPr lang="en-US" sz="1500" dirty="0"/>
                    </a:p>
                  </a:txBody>
                  <a:tcPr marL="91440" marR="9144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EF3F9"/>
                    </a:solidFill>
                  </a:tcPr>
                </a:tc>
                <a:tc>
                  <a:txBody>
                    <a:bodyPr/>
                    <a:lstStyle/>
                    <a:p>
                      <a:pPr algn="ctr" indent="0" marL="0">
                        <a:buNone/>
                      </a:pPr>
                      <a:r>
                        <a:rPr lang="en-US" sz="1500" dirty="0">
                          <a:solidFill>
                            <a:srgbClr val="B5473A"/>
                          </a:solidFill>
                        </a:rPr>
                        <a:t>✗</a:t>
                      </a:r>
                      <a:endParaRPr lang="en-US" sz="1500" dirty="0"/>
                    </a:p>
                  </a:txBody>
                  <a:tcPr marL="91440" marR="9144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4E8A5B"/>
                          </a:solidFill>
                        </a:rPr>
                        <a:t>✓</a:t>
                      </a:r>
                      <a:endParaRPr lang="en-US" sz="1500" dirty="0"/>
                    </a:p>
                  </a:txBody>
                  <a:tcPr marL="91440" marR="9144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22303F"/>
                          </a:solidFill>
                        </a:rPr>
                        <a:t>✓ (reduced)</a:t>
                      </a:r>
                      <a:endParaRPr lang="en-US" sz="1500" dirty="0"/>
                    </a:p>
                  </a:txBody>
                  <a:tcPr marL="91440" marR="9144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r>
              <a:tr h="566928">
                <a:tc>
                  <a:txBody>
                    <a:bodyPr/>
                    <a:lstStyle/>
                    <a:p>
                      <a:pPr algn="l" indent="0" marL="0">
                        <a:buNone/>
                      </a:pPr>
                      <a:r>
                        <a:rPr lang="en-US" sz="1500" dirty="0">
                          <a:solidFill>
                            <a:srgbClr val="22303F"/>
                          </a:solidFill>
                        </a:rPr>
                        <a:t>HOGs level by level up the species tree</a:t>
                      </a:r>
                      <a:endParaRPr lang="en-US" sz="1500" dirty="0"/>
                    </a:p>
                  </a:txBody>
                  <a:tcPr marL="91440" marR="9144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500" b="1" dirty="0">
                          <a:solidFill>
                            <a:srgbClr val="4E8A5B"/>
                          </a:solidFill>
                        </a:rPr>
                        <a:t>✓</a:t>
                      </a:r>
                      <a:endParaRPr lang="en-US" sz="1500" dirty="0"/>
                    </a:p>
                  </a:txBody>
                  <a:tcPr marL="91440" marR="9144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EF3F9"/>
                    </a:solidFill>
                  </a:tcPr>
                </a:tc>
                <a:tc>
                  <a:txBody>
                    <a:bodyPr/>
                    <a:lstStyle/>
                    <a:p>
                      <a:pPr algn="ctr" indent="0" marL="0">
                        <a:buNone/>
                      </a:pPr>
                      <a:r>
                        <a:rPr lang="en-US" sz="1500" dirty="0">
                          <a:solidFill>
                            <a:srgbClr val="4E8A5B"/>
                          </a:solidFill>
                        </a:rPr>
                        <a:t>✓</a:t>
                      </a:r>
                      <a:endParaRPr lang="en-US" sz="1500" dirty="0"/>
                    </a:p>
                  </a:txBody>
                  <a:tcPr marL="91440" marR="9144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22303F"/>
                          </a:solidFill>
                        </a:rPr>
                        <a:t>from gene trees</a:t>
                      </a:r>
                      <a:endParaRPr lang="en-US" sz="1500" dirty="0"/>
                    </a:p>
                  </a:txBody>
                  <a:tcPr marL="91440" marR="9144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B5473A"/>
                          </a:solidFill>
                        </a:rPr>
                        <a:t>✗</a:t>
                      </a:r>
                      <a:endParaRPr lang="en-US" sz="1500" dirty="0"/>
                    </a:p>
                  </a:txBody>
                  <a:tcPr marL="91440" marR="9144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r>
              <a:tr h="566928">
                <a:tc>
                  <a:txBody>
                    <a:bodyPr/>
                    <a:lstStyle/>
                    <a:p>
                      <a:pPr algn="l" indent="0" marL="0">
                        <a:buNone/>
                      </a:pPr>
                      <a:r>
                        <a:rPr lang="en-US" sz="1500" dirty="0">
                          <a:solidFill>
                            <a:srgbClr val="22303F"/>
                          </a:solidFill>
                        </a:rPr>
                        <a:t>Families found first</a:t>
                      </a:r>
                      <a:endParaRPr lang="en-US" sz="1500" dirty="0"/>
                    </a:p>
                  </a:txBody>
                  <a:tcPr marL="91440" marR="9144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500" b="1" dirty="0">
                          <a:solidFill>
                            <a:srgbClr val="22303F"/>
                          </a:solidFill>
                        </a:rPr>
                        <a:t>de novo</a:t>
                      </a:r>
                      <a:endParaRPr lang="en-US" sz="1500" dirty="0"/>
                    </a:p>
                  </a:txBody>
                  <a:tcPr marL="91440" marR="9144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EF3F9"/>
                    </a:solidFill>
                  </a:tcPr>
                </a:tc>
                <a:tc>
                  <a:txBody>
                    <a:bodyPr/>
                    <a:lstStyle/>
                    <a:p>
                      <a:pPr algn="ctr" indent="0" marL="0">
                        <a:buNone/>
                      </a:pPr>
                      <a:r>
                        <a:rPr lang="en-US" sz="1500" dirty="0">
                          <a:solidFill>
                            <a:srgbClr val="22303F"/>
                          </a:solidFill>
                        </a:rPr>
                        <a:t>placed in reference</a:t>
                      </a:r>
                      <a:endParaRPr lang="en-US" sz="1500" dirty="0"/>
                    </a:p>
                  </a:txBody>
                  <a:tcPr marL="91440" marR="9144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22303F"/>
                          </a:solidFill>
                        </a:rPr>
                        <a:t>orthogroups</a:t>
                      </a:r>
                      <a:endParaRPr lang="en-US" sz="1500" dirty="0"/>
                    </a:p>
                  </a:txBody>
                  <a:tcPr marL="91440" marR="9144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B5473A"/>
                          </a:solidFill>
                        </a:rPr>
                        <a:t>✗</a:t>
                      </a:r>
                      <a:endParaRPr lang="en-US" sz="1500" dirty="0"/>
                    </a:p>
                  </a:txBody>
                  <a:tcPr marL="91440" marR="9144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r>
              <a:tr h="566928">
                <a:tc>
                  <a:txBody>
                    <a:bodyPr/>
                    <a:lstStyle/>
                    <a:p>
                      <a:pPr algn="l" indent="0" marL="0">
                        <a:buNone/>
                      </a:pPr>
                      <a:r>
                        <a:rPr lang="en-US" sz="1500" dirty="0">
                          <a:solidFill>
                            <a:srgbClr val="22303F"/>
                          </a:solidFill>
                        </a:rPr>
                        <a:t>Gene trees</a:t>
                      </a:r>
                      <a:endParaRPr lang="en-US" sz="1500" dirty="0"/>
                    </a:p>
                  </a:txBody>
                  <a:tcPr marL="91440" marR="9144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500" b="1" dirty="0">
                          <a:solidFill>
                            <a:srgbClr val="22303F"/>
                          </a:solidFill>
                        </a:rPr>
                        <a:t>small, ambiguous cases</a:t>
                      </a:r>
                      <a:endParaRPr lang="en-US" sz="1500" dirty="0"/>
                    </a:p>
                  </a:txBody>
                  <a:tcPr marL="91440" marR="9144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EF3F9"/>
                    </a:solidFill>
                  </a:tcPr>
                </a:tc>
                <a:tc>
                  <a:txBody>
                    <a:bodyPr/>
                    <a:lstStyle/>
                    <a:p>
                      <a:pPr algn="ctr" indent="0" marL="0">
                        <a:buNone/>
                      </a:pPr>
                      <a:r>
                        <a:rPr lang="en-US" sz="1500" dirty="0">
                          <a:solidFill>
                            <a:srgbClr val="22303F"/>
                          </a:solidFill>
                        </a:rPr>
                        <a:t>per HOG and level</a:t>
                      </a:r>
                      <a:endParaRPr lang="en-US" sz="1500" dirty="0"/>
                    </a:p>
                  </a:txBody>
                  <a:tcPr marL="91440" marR="9144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22303F"/>
                          </a:solidFill>
                        </a:rPr>
                        <a:t>every orthogroup</a:t>
                      </a:r>
                      <a:endParaRPr lang="en-US" sz="1500" dirty="0"/>
                    </a:p>
                  </a:txBody>
                  <a:tcPr marL="91440" marR="9144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B5473A"/>
                          </a:solidFill>
                        </a:rPr>
                        <a:t>✗</a:t>
                      </a:r>
                      <a:endParaRPr lang="en-US" sz="1500" dirty="0"/>
                    </a:p>
                  </a:txBody>
                  <a:tcPr marL="91440" marR="9144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r>
              <a:tr h="566928">
                <a:tc>
                  <a:txBody>
                    <a:bodyPr/>
                    <a:lstStyle/>
                    <a:p>
                      <a:pPr algn="l" indent="0" marL="0">
                        <a:buNone/>
                      </a:pPr>
                      <a:r>
                        <a:rPr lang="en-US" sz="1500" dirty="0">
                          <a:solidFill>
                            <a:srgbClr val="22303F"/>
                          </a:solidFill>
                        </a:rPr>
                        <a:t>Gene order used</a:t>
                      </a:r>
                      <a:endParaRPr lang="en-US" sz="1500" dirty="0"/>
                    </a:p>
                  </a:txBody>
                  <a:tcPr marL="91440" marR="9144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500" b="1" dirty="0">
                          <a:solidFill>
                            <a:srgbClr val="22303F"/>
                          </a:solidFill>
                        </a:rPr>
                        <a:t>optional</a:t>
                      </a:r>
                      <a:endParaRPr lang="en-US" sz="1500" dirty="0"/>
                    </a:p>
                  </a:txBody>
                  <a:tcPr marL="91440" marR="9144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EF3F9"/>
                    </a:solidFill>
                  </a:tcPr>
                </a:tc>
                <a:tc>
                  <a:txBody>
                    <a:bodyPr/>
                    <a:lstStyle/>
                    <a:p>
                      <a:pPr algn="ctr" indent="0" marL="0">
                        <a:buNone/>
                      </a:pPr>
                      <a:r>
                        <a:rPr lang="en-US" sz="1500" dirty="0">
                          <a:solidFill>
                            <a:srgbClr val="B5473A"/>
                          </a:solidFill>
                        </a:rPr>
                        <a:t>✗</a:t>
                      </a:r>
                      <a:endParaRPr lang="en-US" sz="1500" dirty="0"/>
                    </a:p>
                  </a:txBody>
                  <a:tcPr marL="91440" marR="9144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B5473A"/>
                          </a:solidFill>
                        </a:rPr>
                        <a:t>✗</a:t>
                      </a:r>
                      <a:endParaRPr lang="en-US" sz="1500" dirty="0"/>
                    </a:p>
                  </a:txBody>
                  <a:tcPr marL="91440" marR="9144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B5473A"/>
                          </a:solidFill>
                        </a:rPr>
                        <a:t>✗</a:t>
                      </a:r>
                      <a:endParaRPr lang="en-US" sz="1500" dirty="0"/>
                    </a:p>
                  </a:txBody>
                  <a:tcPr marL="91440" marR="9144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r>
            </a:tbl>
          </a:graphicData>
        </a:graphic>
      </p:graphicFrame>
      <p:sp>
        <p:nvSpPr>
          <p:cNvPr id="4" name="Shape 1"/>
          <p:cNvSpPr/>
          <p:nvPr/>
        </p:nvSpPr>
        <p:spPr>
          <a:xfrm>
            <a:off x="548640" y="5440680"/>
            <a:ext cx="11064240" cy="685800"/>
          </a:xfrm>
          <a:prstGeom prst="roundRect">
            <a:avLst>
              <a:gd name="adj" fmla="val 16000"/>
            </a:avLst>
          </a:prstGeom>
          <a:solidFill>
            <a:schemeClr val="bg2"/>
          </a:solidFill>
          <a:ln w="12700">
            <a:solidFill>
              <a:schemeClr val="bg2"/>
            </a:solidFill>
            <a:prstDash val="solid"/>
          </a:ln>
        </p:spPr>
      </p:sp>
      <p:sp>
        <p:nvSpPr>
          <p:cNvPr id="5" name="Text 2"/>
          <p:cNvSpPr txBox="1"/>
          <p:nvPr/>
        </p:nvSpPr>
        <p:spPr>
          <a:xfrm>
            <a:off x="731520" y="5440680"/>
            <a:ext cx="10789920" cy="685800"/>
          </a:xfrm>
          <a:prstGeom prst="rect">
            <a:avLst/>
          </a:prstGeom>
          <a:noFill/>
          <a:ln/>
        </p:spPr>
        <p:txBody>
          <a:bodyPr wrap="square" lIns="0" tIns="0" rIns="0" bIns="0" rtlCol="0" anchor="ctr"/>
          <a:lstStyle/>
          <a:p>
            <a:pPr indent="0" marL="0">
              <a:buNone/>
            </a:pPr>
            <a:r>
              <a:rPr lang="en-US" sz="1300" dirty="0">
                <a:solidFill>
                  <a:schemeClr val="tx2"/>
                </a:solidFill>
              </a:rPr>
              <a:t>Ideas credited: bottom-up merging with synteny (SYNERGY) · in-paralog absorption (InParanoid, Hieranoid) · HOGs per level (OMA, FastOMA) · representatives (OrthoFinder/SHOOT)</a:t>
            </a:r>
            <a:endParaRPr lang="en-US" sz="13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731520" y="2651760"/>
            <a:ext cx="10698480" cy="1097280"/>
          </a:xfrm>
          <a:prstGeom prst="rect">
            <a:avLst/>
          </a:prstGeom>
          <a:noFill/>
          <a:ln/>
        </p:spPr>
        <p:txBody>
          <a:bodyPr wrap="square" rtlCol="0"/>
          <a:lstStyle/>
          <a:p>
            <a:pPr algn="l" indent="0" marL="0">
              <a:buNone/>
            </a:pPr>
            <a:r>
              <a:rPr lang="en-US" sz="4400" b="1" dirty="0">
                <a:solidFill>
                  <a:schemeClr val="bg1"/>
                </a:solidFill>
                <a:latin typeface="Cambria" pitchFamily="34" charset="0"/>
                <a:ea typeface="Cambria" pitchFamily="34" charset="-122"/>
                <a:cs typeface="Cambria" pitchFamily="34" charset="-120"/>
              </a:rPr>
              <a:t>Results</a:t>
            </a:r>
            <a:endParaRPr lang="en-US" sz="4400" dirty="0"/>
          </a:p>
        </p:txBody>
      </p:sp>
      <p:sp>
        <p:nvSpPr>
          <p:cNvPr id="3" name="Text 0"/>
          <p:cNvSpPr/>
          <p:nvPr>
            <p:ph idx="101" type="body" hasCustomPrompt="1"/>
          </p:nvPr>
        </p:nvSpPr>
        <p:spPr>
          <a:xfrm>
            <a:off x="731520" y="3794760"/>
            <a:ext cx="10698480" cy="731520"/>
          </a:xfrm>
          <a:prstGeom prst="rect">
            <a:avLst/>
          </a:prstGeom>
          <a:noFill/>
          <a:ln/>
        </p:spPr>
        <p:txBody>
          <a:bodyPr wrap="square" rtlCol="0"/>
          <a:lstStyle/>
          <a:p>
            <a:pPr indent="0" marL="0">
              <a:buNone/>
            </a:pPr>
            <a:r>
              <a:rPr lang="en-US" sz="2000" dirty="0">
                <a:solidFill>
                  <a:schemeClr val="bg2"/>
                </a:solidFill>
              </a:rPr>
              <a:t>OrthoBench, Quest for Orthologs 2022 and scaling to 1,000 proteomes</a:t>
            </a:r>
            <a:endParaRPr lang="en-US" sz="20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bg2"/>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OrthoBench: highest F, lead not significant</a:t>
            </a:r>
            <a:endParaRPr lang="en-US" sz="3200" dirty="0"/>
          </a:p>
        </p:txBody>
      </p:sp>
      <p:graphicFrame>
        <p:nvGraphicFramePr>
          <p:cNvPr id="3" name="Chart 0" descr=""/>
          <p:cNvGraphicFramePr/>
          <p:nvPr/>
        </p:nvGraphicFramePr>
        <p:xfrm>
          <a:off x="457200" y="1234440"/>
          <a:ext cx="6949440" cy="493776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7863840" y="1280160"/>
            <a:ext cx="3931920" cy="868680"/>
          </a:xfrm>
          <a:prstGeom prst="rect">
            <a:avLst/>
          </a:prstGeom>
          <a:noFill/>
          <a:ln/>
        </p:spPr>
        <p:txBody>
          <a:bodyPr wrap="square" lIns="0" tIns="0" rIns="0" bIns="0" rtlCol="0" anchor="b"/>
          <a:lstStyle/>
          <a:p>
            <a:pPr indent="0" marL="0">
              <a:buNone/>
            </a:pPr>
            <a:r>
              <a:rPr lang="en-US" sz="4400" b="1" dirty="0">
                <a:solidFill>
                  <a:schemeClr val="accent2"/>
                </a:solidFill>
                <a:latin typeface="Cambria" pitchFamily="34" charset="0"/>
                <a:ea typeface="Cambria" pitchFamily="34" charset="-122"/>
                <a:cs typeface="Cambria" pitchFamily="34" charset="-120"/>
              </a:rPr>
              <a:t>+6.5 F</a:t>
            </a:r>
            <a:endParaRPr lang="en-US" sz="4400" dirty="0"/>
          </a:p>
        </p:txBody>
      </p:sp>
      <p:sp>
        <p:nvSpPr>
          <p:cNvPr id="5" name="Text 2"/>
          <p:cNvSpPr txBox="1"/>
          <p:nvPr/>
        </p:nvSpPr>
        <p:spPr>
          <a:xfrm>
            <a:off x="7863840" y="2194560"/>
            <a:ext cx="3931920" cy="731520"/>
          </a:xfrm>
          <a:prstGeom prst="rect">
            <a:avLst/>
          </a:prstGeom>
          <a:noFill/>
          <a:ln/>
        </p:spPr>
        <p:txBody>
          <a:bodyPr wrap="square" lIns="0" tIns="0" rIns="0" bIns="0" rtlCol="0" anchor="t"/>
          <a:lstStyle/>
          <a:p>
            <a:pPr indent="0" marL="0">
              <a:buNone/>
            </a:pPr>
            <a:r>
              <a:rPr lang="en-US" sz="1400" dirty="0">
                <a:solidFill>
                  <a:schemeClr val="tx1"/>
                </a:solidFill>
              </a:rPr>
              <a:t>vs OrthoFinder, 95% CI [−6.5, +18.1]: non-inferiority not shown</a:t>
            </a:r>
            <a:endParaRPr lang="en-US" sz="1400" dirty="0"/>
          </a:p>
        </p:txBody>
      </p:sp>
      <p:sp>
        <p:nvSpPr>
          <p:cNvPr id="6" name="Text 3"/>
          <p:cNvSpPr txBox="1"/>
          <p:nvPr/>
        </p:nvSpPr>
        <p:spPr>
          <a:xfrm>
            <a:off x="7863840" y="2926080"/>
            <a:ext cx="3931920" cy="868680"/>
          </a:xfrm>
          <a:prstGeom prst="rect">
            <a:avLst/>
          </a:prstGeom>
          <a:noFill/>
          <a:ln/>
        </p:spPr>
        <p:txBody>
          <a:bodyPr wrap="square" lIns="0" tIns="0" rIns="0" bIns="0" rtlCol="0" anchor="b"/>
          <a:lstStyle/>
          <a:p>
            <a:pPr indent="0" marL="0">
              <a:buNone/>
            </a:pPr>
            <a:r>
              <a:rPr lang="en-US" sz="4400" b="1" dirty="0">
                <a:solidFill>
                  <a:schemeClr val="accent3"/>
                </a:solidFill>
                <a:latin typeface="Cambria" pitchFamily="34" charset="0"/>
                <a:ea typeface="Cambria" pitchFamily="34" charset="-122"/>
                <a:cs typeface="Cambria" pitchFamily="34" charset="-120"/>
              </a:rPr>
              <a:t>+15.7 F</a:t>
            </a:r>
            <a:endParaRPr lang="en-US" sz="4400" dirty="0"/>
          </a:p>
        </p:txBody>
      </p:sp>
      <p:sp>
        <p:nvSpPr>
          <p:cNvPr id="7" name="Text 4"/>
          <p:cNvSpPr txBox="1"/>
          <p:nvPr/>
        </p:nvSpPr>
        <p:spPr>
          <a:xfrm>
            <a:off x="7863840" y="3840480"/>
            <a:ext cx="3931920" cy="731520"/>
          </a:xfrm>
          <a:prstGeom prst="rect">
            <a:avLst/>
          </a:prstGeom>
          <a:noFill/>
          <a:ln/>
        </p:spPr>
        <p:txBody>
          <a:bodyPr wrap="square" lIns="0" tIns="0" rIns="0" bIns="0" rtlCol="0" anchor="t"/>
          <a:lstStyle/>
          <a:p>
            <a:pPr indent="0" marL="0">
              <a:buNone/>
            </a:pPr>
            <a:r>
              <a:rPr lang="en-US" sz="1400" dirty="0">
                <a:solidFill>
                  <a:schemeClr val="tx1"/>
                </a:solidFill>
              </a:rPr>
              <a:t>vs OMA HOGs [+1.8, +29.2], significant</a:t>
            </a:r>
            <a:endParaRPr lang="en-US" sz="1400" dirty="0"/>
          </a:p>
        </p:txBody>
      </p:sp>
      <p:sp>
        <p:nvSpPr>
          <p:cNvPr id="8" name="Text 5"/>
          <p:cNvSpPr txBox="1"/>
          <p:nvPr/>
        </p:nvSpPr>
        <p:spPr>
          <a:xfrm>
            <a:off x="7863840" y="4572000"/>
            <a:ext cx="3931920" cy="868680"/>
          </a:xfrm>
          <a:prstGeom prst="rect">
            <a:avLst/>
          </a:prstGeom>
          <a:noFill/>
          <a:ln/>
        </p:spPr>
        <p:txBody>
          <a:bodyPr wrap="square" lIns="0" tIns="0" rIns="0" bIns="0" rtlCol="0" anchor="b"/>
          <a:lstStyle/>
          <a:p>
            <a:pPr indent="0" marL="0">
              <a:buNone/>
            </a:pPr>
            <a:r>
              <a:rPr lang="en-US" sz="4400" b="1" dirty="0">
                <a:solidFill>
                  <a:schemeClr val="tx2"/>
                </a:solidFill>
                <a:latin typeface="Cambria" pitchFamily="34" charset="0"/>
                <a:ea typeface="Cambria" pitchFamily="34" charset="-122"/>
                <a:cs typeface="Cambria" pitchFamily="34" charset="-120"/>
              </a:rPr>
              <a:t>3.9 vs 8.2</a:t>
            </a:r>
            <a:endParaRPr lang="en-US" sz="4400" dirty="0"/>
          </a:p>
        </p:txBody>
      </p:sp>
      <p:sp>
        <p:nvSpPr>
          <p:cNvPr id="9" name="Text 6"/>
          <p:cNvSpPr txBox="1"/>
          <p:nvPr/>
        </p:nvSpPr>
        <p:spPr>
          <a:xfrm>
            <a:off x="7863840" y="5486400"/>
            <a:ext cx="3931920" cy="731520"/>
          </a:xfrm>
          <a:prstGeom prst="rect">
            <a:avLst/>
          </a:prstGeom>
          <a:noFill/>
          <a:ln/>
        </p:spPr>
        <p:txBody>
          <a:bodyPr wrap="square" lIns="0" tIns="0" rIns="0" bIns="0" rtlCol="0" anchor="t"/>
          <a:lstStyle/>
          <a:p>
            <a:pPr indent="0" marL="0">
              <a:buNone/>
            </a:pPr>
            <a:r>
              <a:rPr lang="en-US" sz="1400" dirty="0">
                <a:solidFill>
                  <a:schemeClr val="tx1"/>
                </a:solidFill>
              </a:rPr>
              <a:t>CPU-hours, Ancestra vs OrthoFinder</a:t>
            </a:r>
            <a:endParaRPr lang="en-US" sz="1400" dirty="0"/>
          </a:p>
        </p:txBody>
      </p:sp>
      <p:sp>
        <p:nvSpPr>
          <p:cNvPr id="10" name="Text 7"/>
          <p:cNvSpPr txBox="1"/>
          <p:nvPr/>
        </p:nvSpPr>
        <p:spPr>
          <a:xfrm>
            <a:off x="548640" y="6126480"/>
            <a:ext cx="5486400" cy="274320"/>
          </a:xfrm>
          <a:prstGeom prst="rect">
            <a:avLst/>
          </a:prstGeom>
          <a:noFill/>
          <a:ln/>
        </p:spPr>
        <p:txBody>
          <a:bodyPr wrap="square" lIns="0" tIns="0" rIns="0" bIns="0" rtlCol="0" anchor="t"/>
          <a:lstStyle/>
          <a:p>
            <a:pPr indent="0" marL="0">
              <a:buNone/>
            </a:pPr>
            <a:r>
              <a:rPr lang="en-US" sz="1000" dirty="0">
                <a:solidFill>
                  <a:schemeClr val="accent6"/>
                </a:solidFill>
              </a:rPr>
              <a:t>* OMA contains all 12 benchmark species</a:t>
            </a:r>
            <a:endParaRPr lang="en-US" sz="10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QfO 2022: precise, but recall stays below the best methods</a:t>
            </a:r>
            <a:endParaRPr lang="en-US" sz="3200" dirty="0"/>
          </a:p>
        </p:txBody>
      </p:sp>
      <p:graphicFrame>
        <p:nvGraphicFramePr>
          <p:cNvPr id="3" name="Chart 0" descr=""/>
          <p:cNvGraphicFramePr/>
          <p:nvPr/>
        </p:nvGraphicFramePr>
        <p:xfrm>
          <a:off x="457200" y="1234440"/>
          <a:ext cx="7589520" cy="498348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8412480" y="1280160"/>
            <a:ext cx="3383280" cy="868680"/>
          </a:xfrm>
          <a:prstGeom prst="rect">
            <a:avLst/>
          </a:prstGeom>
          <a:noFill/>
          <a:ln/>
        </p:spPr>
        <p:txBody>
          <a:bodyPr wrap="square" lIns="0" tIns="0" rIns="0" bIns="0" rtlCol="0" anchor="b"/>
          <a:lstStyle/>
          <a:p>
            <a:pPr indent="0" marL="0">
              <a:buNone/>
            </a:pPr>
            <a:r>
              <a:rPr lang="en-US" sz="4400" b="1" dirty="0">
                <a:solidFill>
                  <a:schemeClr val="accent4"/>
                </a:solidFill>
                <a:latin typeface="Cambria" pitchFamily="34" charset="0"/>
                <a:ea typeface="Cambria" pitchFamily="34" charset="-122"/>
                <a:cs typeface="Cambria" pitchFamily="34" charset="-120"/>
              </a:rPr>
              <a:t>−0.16</a:t>
            </a:r>
            <a:endParaRPr lang="en-US" sz="4400" dirty="0"/>
          </a:p>
        </p:txBody>
      </p:sp>
      <p:sp>
        <p:nvSpPr>
          <p:cNvPr id="5" name="Text 2"/>
          <p:cNvSpPr txBox="1"/>
          <p:nvPr/>
        </p:nvSpPr>
        <p:spPr>
          <a:xfrm>
            <a:off x="8412480" y="2194560"/>
            <a:ext cx="3383280" cy="731520"/>
          </a:xfrm>
          <a:prstGeom prst="rect">
            <a:avLst/>
          </a:prstGeom>
          <a:noFill/>
          <a:ln/>
        </p:spPr>
        <p:txBody>
          <a:bodyPr wrap="square" lIns="0" tIns="0" rIns="0" bIns="0" rtlCol="0" anchor="t"/>
          <a:lstStyle/>
          <a:p>
            <a:pPr indent="0" marL="0">
              <a:buNone/>
            </a:pPr>
            <a:r>
              <a:rPr lang="en-US" sz="1400" dirty="0">
                <a:solidFill>
                  <a:schemeClr val="tx1"/>
                </a:solidFill>
              </a:rPr>
              <a:t>TreeFam-A recall vs OrthoFinder</a:t>
            </a:r>
            <a:endParaRPr lang="en-US" sz="1400" dirty="0"/>
          </a:p>
        </p:txBody>
      </p:sp>
      <p:sp>
        <p:nvSpPr>
          <p:cNvPr id="6" name="Text 3"/>
          <p:cNvSpPr txBox="1"/>
          <p:nvPr/>
        </p:nvSpPr>
        <p:spPr>
          <a:xfrm>
            <a:off x="8412480" y="2926080"/>
            <a:ext cx="3383280" cy="868680"/>
          </a:xfrm>
          <a:prstGeom prst="rect">
            <a:avLst/>
          </a:prstGeom>
          <a:noFill/>
          <a:ln/>
        </p:spPr>
        <p:txBody>
          <a:bodyPr wrap="square" lIns="0" tIns="0" rIns="0" bIns="0" rtlCol="0" anchor="b"/>
          <a:lstStyle/>
          <a:p>
            <a:pPr indent="0" marL="0">
              <a:buNone/>
            </a:pPr>
            <a:r>
              <a:rPr lang="en-US" sz="4400" b="1" dirty="0">
                <a:solidFill>
                  <a:schemeClr val="tx2"/>
                </a:solidFill>
                <a:latin typeface="Cambria" pitchFamily="34" charset="0"/>
                <a:ea typeface="Cambria" pitchFamily="34" charset="-122"/>
                <a:cs typeface="Cambria" pitchFamily="34" charset="-120"/>
              </a:rPr>
              <a:t>≈ OMA</a:t>
            </a:r>
            <a:endParaRPr lang="en-US" sz="4400" dirty="0"/>
          </a:p>
        </p:txBody>
      </p:sp>
      <p:sp>
        <p:nvSpPr>
          <p:cNvPr id="7" name="Text 4"/>
          <p:cNvSpPr txBox="1"/>
          <p:nvPr/>
        </p:nvSpPr>
        <p:spPr>
          <a:xfrm>
            <a:off x="8412480" y="3840480"/>
            <a:ext cx="3383280" cy="731520"/>
          </a:xfrm>
          <a:prstGeom prst="rect">
            <a:avLst/>
          </a:prstGeom>
          <a:noFill/>
          <a:ln/>
        </p:spPr>
        <p:txBody>
          <a:bodyPr wrap="square" lIns="0" tIns="0" rIns="0" bIns="0" rtlCol="0" anchor="t"/>
          <a:lstStyle/>
          <a:p>
            <a:pPr indent="0" marL="0">
              <a:buNone/>
            </a:pPr>
            <a:r>
              <a:rPr lang="en-US" sz="1400" dirty="0">
                <a:solidFill>
                  <a:schemeClr val="tx1"/>
                </a:solidFill>
              </a:rPr>
              <a:t>recall on par with FastOMA and OMA</a:t>
            </a:r>
            <a:endParaRPr lang="en-US" sz="1400" dirty="0"/>
          </a:p>
        </p:txBody>
      </p:sp>
      <p:sp>
        <p:nvSpPr>
          <p:cNvPr id="8" name="Text 5"/>
          <p:cNvSpPr txBox="1"/>
          <p:nvPr/>
        </p:nvSpPr>
        <p:spPr>
          <a:xfrm>
            <a:off x="8412480" y="4572000"/>
            <a:ext cx="3383280" cy="1463040"/>
          </a:xfrm>
          <a:prstGeom prst="rect">
            <a:avLst/>
          </a:prstGeom>
          <a:noFill/>
          <a:ln/>
        </p:spPr>
        <p:txBody>
          <a:bodyPr wrap="square" lIns="0" tIns="0" rIns="0" bIns="0" rtlCol="0" anchor="t"/>
          <a:lstStyle/>
          <a:p>
            <a:pPr indent="0" marL="0">
              <a:buNone/>
            </a:pPr>
            <a:r>
              <a:rPr lang="en-US" sz="1400" dirty="0">
                <a:solidFill>
                  <a:schemeClr val="tx1"/>
                </a:solidFill>
              </a:rPr>
              <a:t>Misses sit at deep nodes: 34% Bilateria, 21% Eukaryota, 13% Opisthokonta, where an outgroup is missing or distant.</a:t>
            </a:r>
            <a:endParaRPr lang="en-US" sz="14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QfO test: non-inferior only to FastOMA and OMA Pairs</a:t>
            </a:r>
            <a:endParaRPr lang="en-US" sz="3200" dirty="0"/>
          </a:p>
        </p:txBody>
      </p:sp>
      <p:pic>
        <p:nvPicPr>
          <p:cNvPr id="3" name="Image 0" descr="Forest plot of TreeFam-A recall differences with 95% confidence intervals">    </p:cNvPr>
          <p:cNvPicPr>
            <a:picLocks noChangeAspect="1"/>
          </p:cNvPicPr>
          <p:nvPr/>
        </p:nvPicPr>
        <p:blipFill>
          <a:blip r:embed="rId1"/>
          <a:stretch>
            <a:fillRect/>
          </a:stretch>
        </p:blipFill>
        <p:spPr>
          <a:xfrm>
            <a:off x="457200" y="1234440"/>
            <a:ext cx="7680960" cy="4590288"/>
          </a:xfrm>
          <a:prstGeom prst="rect">
            <a:avLst/>
          </a:prstGeom>
        </p:spPr>
      </p:pic>
      <p:sp>
        <p:nvSpPr>
          <p:cNvPr id="4" name="Shape 1"/>
          <p:cNvSpPr/>
          <p:nvPr/>
        </p:nvSpPr>
        <p:spPr>
          <a:xfrm>
            <a:off x="8503920" y="1463040"/>
            <a:ext cx="1737360" cy="457200"/>
          </a:xfrm>
          <a:prstGeom prst="roundRect">
            <a:avLst>
              <a:gd name="adj" fmla="val 24000"/>
            </a:avLst>
          </a:prstGeom>
          <a:solidFill>
            <a:schemeClr val="accent3"/>
          </a:solidFill>
          <a:ln w="12700">
            <a:solidFill>
              <a:schemeClr val="accent3"/>
            </a:solidFill>
            <a:prstDash val="solid"/>
          </a:ln>
        </p:spPr>
      </p:sp>
      <p:sp>
        <p:nvSpPr>
          <p:cNvPr id="5" name="Text 2"/>
          <p:cNvSpPr txBox="1"/>
          <p:nvPr/>
        </p:nvSpPr>
        <p:spPr>
          <a:xfrm>
            <a:off x="8503920" y="1463040"/>
            <a:ext cx="1737360" cy="457200"/>
          </a:xfrm>
          <a:prstGeom prst="rect">
            <a:avLst/>
          </a:prstGeom>
          <a:noFill/>
          <a:ln/>
        </p:spPr>
        <p:txBody>
          <a:bodyPr wrap="square" lIns="508" tIns="508" rIns="508" bIns="508" rtlCol="0" anchor="ctr"/>
          <a:lstStyle/>
          <a:p>
            <a:pPr algn="ctr" indent="0" marL="0">
              <a:buNone/>
            </a:pPr>
            <a:r>
              <a:rPr lang="en-US" sz="1400" b="1" dirty="0">
                <a:solidFill>
                  <a:schemeClr val="bg1"/>
                </a:solidFill>
              </a:rPr>
              <a:t>non-inferior</a:t>
            </a:r>
            <a:endParaRPr lang="en-US" sz="1400" dirty="0"/>
          </a:p>
        </p:txBody>
      </p:sp>
      <p:sp>
        <p:nvSpPr>
          <p:cNvPr id="6" name="Text 3"/>
          <p:cNvSpPr txBox="1"/>
          <p:nvPr/>
        </p:nvSpPr>
        <p:spPr>
          <a:xfrm>
            <a:off x="8503920" y="2011680"/>
            <a:ext cx="3291840" cy="640080"/>
          </a:xfrm>
          <a:prstGeom prst="rect">
            <a:avLst/>
          </a:prstGeom>
          <a:noFill/>
          <a:ln/>
        </p:spPr>
        <p:txBody>
          <a:bodyPr wrap="square" lIns="0" tIns="0" rIns="0" bIns="0" rtlCol="0" anchor="t"/>
          <a:lstStyle/>
          <a:p>
            <a:pPr indent="0" marL="0">
              <a:buNone/>
            </a:pPr>
            <a:r>
              <a:rPr lang="en-US" sz="1500" dirty="0">
                <a:solidFill>
                  <a:schemeClr val="tx1"/>
                </a:solidFill>
              </a:rPr>
              <a:t>FastOMA, OMA Pairs</a:t>
            </a:r>
            <a:endParaRPr lang="en-US" sz="1500" dirty="0"/>
          </a:p>
        </p:txBody>
      </p:sp>
      <p:sp>
        <p:nvSpPr>
          <p:cNvPr id="7" name="Shape 4"/>
          <p:cNvSpPr/>
          <p:nvPr/>
        </p:nvSpPr>
        <p:spPr>
          <a:xfrm>
            <a:off x="8503920" y="2834640"/>
            <a:ext cx="1737360" cy="457200"/>
          </a:xfrm>
          <a:prstGeom prst="roundRect">
            <a:avLst>
              <a:gd name="adj" fmla="val 24000"/>
            </a:avLst>
          </a:prstGeom>
          <a:solidFill>
            <a:schemeClr val="accent2"/>
          </a:solidFill>
          <a:ln w="12700">
            <a:solidFill>
              <a:schemeClr val="accent2"/>
            </a:solidFill>
            <a:prstDash val="solid"/>
          </a:ln>
        </p:spPr>
      </p:sp>
      <p:sp>
        <p:nvSpPr>
          <p:cNvPr id="8" name="Text 5"/>
          <p:cNvSpPr txBox="1"/>
          <p:nvPr/>
        </p:nvSpPr>
        <p:spPr>
          <a:xfrm>
            <a:off x="8503920" y="2834640"/>
            <a:ext cx="1737360" cy="457200"/>
          </a:xfrm>
          <a:prstGeom prst="rect">
            <a:avLst/>
          </a:prstGeom>
          <a:noFill/>
          <a:ln/>
        </p:spPr>
        <p:txBody>
          <a:bodyPr wrap="square" lIns="508" tIns="508" rIns="508" bIns="508" rtlCol="0" anchor="ctr"/>
          <a:lstStyle/>
          <a:p>
            <a:pPr algn="ctr" indent="0" marL="0">
              <a:buNone/>
            </a:pPr>
            <a:r>
              <a:rPr lang="en-US" sz="1400" b="1" dirty="0">
                <a:solidFill>
                  <a:schemeClr val="bg1"/>
                </a:solidFill>
              </a:rPr>
              <a:t>not shown</a:t>
            </a:r>
            <a:endParaRPr lang="en-US" sz="1400" dirty="0"/>
          </a:p>
        </p:txBody>
      </p:sp>
      <p:sp>
        <p:nvSpPr>
          <p:cNvPr id="9" name="Text 6"/>
          <p:cNvSpPr txBox="1"/>
          <p:nvPr/>
        </p:nvSpPr>
        <p:spPr>
          <a:xfrm>
            <a:off x="8503920" y="3383280"/>
            <a:ext cx="3291840" cy="640080"/>
          </a:xfrm>
          <a:prstGeom prst="rect">
            <a:avLst/>
          </a:prstGeom>
          <a:noFill/>
          <a:ln/>
        </p:spPr>
        <p:txBody>
          <a:bodyPr wrap="square" lIns="0" tIns="0" rIns="0" bIns="0" rtlCol="0" anchor="t"/>
          <a:lstStyle/>
          <a:p>
            <a:pPr indent="0" marL="0">
              <a:buNone/>
            </a:pPr>
            <a:r>
              <a:rPr lang="en-US" sz="1500" dirty="0">
                <a:solidFill>
                  <a:schemeClr val="tx1"/>
                </a:solidFill>
              </a:rPr>
              <a:t>OMA HOGs, Hieranoid 2</a:t>
            </a:r>
            <a:endParaRPr lang="en-US" sz="1500" dirty="0"/>
          </a:p>
        </p:txBody>
      </p:sp>
      <p:sp>
        <p:nvSpPr>
          <p:cNvPr id="10" name="Shape 7"/>
          <p:cNvSpPr/>
          <p:nvPr/>
        </p:nvSpPr>
        <p:spPr>
          <a:xfrm>
            <a:off x="8503920" y="4206240"/>
            <a:ext cx="1737360" cy="457200"/>
          </a:xfrm>
          <a:prstGeom prst="roundRect">
            <a:avLst>
              <a:gd name="adj" fmla="val 24000"/>
            </a:avLst>
          </a:prstGeom>
          <a:solidFill>
            <a:schemeClr val="accent4"/>
          </a:solidFill>
          <a:ln w="12700">
            <a:solidFill>
              <a:schemeClr val="accent4"/>
            </a:solidFill>
            <a:prstDash val="solid"/>
          </a:ln>
        </p:spPr>
      </p:sp>
      <p:sp>
        <p:nvSpPr>
          <p:cNvPr id="11" name="Text 8"/>
          <p:cNvSpPr txBox="1"/>
          <p:nvPr/>
        </p:nvSpPr>
        <p:spPr>
          <a:xfrm>
            <a:off x="8503920" y="4206240"/>
            <a:ext cx="1737360" cy="457200"/>
          </a:xfrm>
          <a:prstGeom prst="rect">
            <a:avLst/>
          </a:prstGeom>
          <a:noFill/>
          <a:ln/>
        </p:spPr>
        <p:txBody>
          <a:bodyPr wrap="square" lIns="508" tIns="508" rIns="508" bIns="508" rtlCol="0" anchor="ctr"/>
          <a:lstStyle/>
          <a:p>
            <a:pPr algn="ctr" indent="0" marL="0">
              <a:buNone/>
            </a:pPr>
            <a:r>
              <a:rPr lang="en-US" sz="1400" b="1" dirty="0">
                <a:solidFill>
                  <a:schemeClr val="bg1"/>
                </a:solidFill>
              </a:rPr>
              <a:t>fails</a:t>
            </a:r>
            <a:endParaRPr lang="en-US" sz="1400" dirty="0"/>
          </a:p>
        </p:txBody>
      </p:sp>
      <p:sp>
        <p:nvSpPr>
          <p:cNvPr id="12" name="Text 9"/>
          <p:cNvSpPr txBox="1"/>
          <p:nvPr/>
        </p:nvSpPr>
        <p:spPr>
          <a:xfrm>
            <a:off x="8503920" y="4754880"/>
            <a:ext cx="3291840" cy="640080"/>
          </a:xfrm>
          <a:prstGeom prst="rect">
            <a:avLst/>
          </a:prstGeom>
          <a:noFill/>
          <a:ln/>
        </p:spPr>
        <p:txBody>
          <a:bodyPr wrap="square" lIns="0" tIns="0" rIns="0" bIns="0" rtlCol="0" anchor="t"/>
          <a:lstStyle/>
          <a:p>
            <a:pPr indent="0" marL="0">
              <a:buNone/>
            </a:pPr>
            <a:r>
              <a:rPr lang="en-US" sz="1500" dirty="0">
                <a:solidFill>
                  <a:schemeClr val="tx1"/>
                </a:solidFill>
              </a:rPr>
              <a:t>InParanoid 5, SonicParanoid2, OrthoFinder</a:t>
            </a:r>
            <a:endParaRPr lang="en-US" sz="1500" dirty="0"/>
          </a:p>
        </p:txBody>
      </p:sp>
      <p:sp>
        <p:nvSpPr>
          <p:cNvPr id="13" name="Text 10"/>
          <p:cNvSpPr txBox="1"/>
          <p:nvPr/>
        </p:nvSpPr>
        <p:spPr>
          <a:xfrm>
            <a:off x="8503920" y="5577840"/>
            <a:ext cx="3291840" cy="548640"/>
          </a:xfrm>
          <a:prstGeom prst="rect">
            <a:avLst/>
          </a:prstGeom>
          <a:noFill/>
          <a:ln/>
        </p:spPr>
        <p:txBody>
          <a:bodyPr wrap="square" lIns="0" tIns="0" rIns="0" bIns="0" rtlCol="0" anchor="t"/>
          <a:lstStyle/>
          <a:p>
            <a:pPr indent="0" marL="0">
              <a:buNone/>
            </a:pPr>
            <a:r>
              <a:rPr lang="en-US" sz="1200" i="1" dirty="0">
                <a:solidFill>
                  <a:schemeClr val="accent6"/>
                </a:solidFill>
              </a:rPr>
              <a:t>Margin −0.03 recall, family bootstrap over 749 test families.</a:t>
            </a:r>
            <a:endParaRPr lang="en-US" sz="12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Scaling: 1,000 proteomes on one server node</a:t>
            </a:r>
            <a:endParaRPr lang="en-US" sz="3200" dirty="0"/>
          </a:p>
        </p:txBody>
      </p:sp>
      <p:pic>
        <p:nvPicPr>
          <p:cNvPr id="3" name="Image 0" descr="CPU hours against number of proteins for QfO subsets and 125 to 1,000 UniProt proteomes">    </p:cNvPr>
          <p:cNvPicPr>
            <a:picLocks noChangeAspect="1"/>
          </p:cNvPicPr>
          <p:nvPr/>
        </p:nvPicPr>
        <p:blipFill>
          <a:blip r:embed="rId1"/>
          <a:stretch>
            <a:fillRect/>
          </a:stretch>
        </p:blipFill>
        <p:spPr>
          <a:xfrm>
            <a:off x="365760" y="1188720"/>
            <a:ext cx="8595360" cy="3739896"/>
          </a:xfrm>
          <a:prstGeom prst="rect">
            <a:avLst/>
          </a:prstGeom>
        </p:spPr>
      </p:pic>
      <p:sp>
        <p:nvSpPr>
          <p:cNvPr id="4" name="Text 1"/>
          <p:cNvSpPr txBox="1"/>
          <p:nvPr/>
        </p:nvSpPr>
        <p:spPr>
          <a:xfrm>
            <a:off x="9144000" y="1188720"/>
            <a:ext cx="2743200" cy="868680"/>
          </a:xfrm>
          <a:prstGeom prst="rect">
            <a:avLst/>
          </a:prstGeom>
          <a:noFill/>
          <a:ln/>
        </p:spPr>
        <p:txBody>
          <a:bodyPr wrap="square" lIns="0" tIns="0" rIns="0" bIns="0" rtlCol="0" anchor="b"/>
          <a:lstStyle/>
          <a:p>
            <a:pPr indent="0" marL="0">
              <a:buNone/>
            </a:pPr>
            <a:r>
              <a:rPr lang="en-US" sz="4400" b="1" dirty="0">
                <a:solidFill>
                  <a:schemeClr val="tx2"/>
                </a:solidFill>
                <a:latin typeface="Cambria" pitchFamily="34" charset="0"/>
                <a:ea typeface="Cambria" pitchFamily="34" charset="-122"/>
                <a:cs typeface="Cambria" pitchFamily="34" charset="-120"/>
              </a:rPr>
              <a:t>10.6 h</a:t>
            </a:r>
            <a:endParaRPr lang="en-US" sz="4400" dirty="0"/>
          </a:p>
        </p:txBody>
      </p:sp>
      <p:sp>
        <p:nvSpPr>
          <p:cNvPr id="5" name="Text 2"/>
          <p:cNvSpPr txBox="1"/>
          <p:nvPr/>
        </p:nvSpPr>
        <p:spPr>
          <a:xfrm>
            <a:off x="9144000" y="2103120"/>
            <a:ext cx="2743200" cy="731520"/>
          </a:xfrm>
          <a:prstGeom prst="rect">
            <a:avLst/>
          </a:prstGeom>
          <a:noFill/>
          <a:ln/>
        </p:spPr>
        <p:txBody>
          <a:bodyPr wrap="square" lIns="0" tIns="0" rIns="0" bIns="0" rtlCol="0" anchor="t"/>
          <a:lstStyle/>
          <a:p>
            <a:pPr indent="0" marL="0">
              <a:buNone/>
            </a:pPr>
            <a:r>
              <a:rPr lang="en-US" sz="1400" dirty="0">
                <a:solidFill>
                  <a:schemeClr val="tx1"/>
                </a:solidFill>
              </a:rPr>
              <a:t>wall time, 1,000 proteomes (4.75 M proteins)</a:t>
            </a:r>
            <a:endParaRPr lang="en-US" sz="1400" dirty="0"/>
          </a:p>
        </p:txBody>
      </p:sp>
      <p:sp>
        <p:nvSpPr>
          <p:cNvPr id="6" name="Text 3"/>
          <p:cNvSpPr txBox="1"/>
          <p:nvPr/>
        </p:nvSpPr>
        <p:spPr>
          <a:xfrm>
            <a:off x="9144000" y="2834640"/>
            <a:ext cx="2743200" cy="868680"/>
          </a:xfrm>
          <a:prstGeom prst="rect">
            <a:avLst/>
          </a:prstGeom>
          <a:noFill/>
          <a:ln/>
        </p:spPr>
        <p:txBody>
          <a:bodyPr wrap="square" lIns="0" tIns="0" rIns="0" bIns="0" rtlCol="0" anchor="b"/>
          <a:lstStyle/>
          <a:p>
            <a:pPr indent="0" marL="0">
              <a:buNone/>
            </a:pPr>
            <a:r>
              <a:rPr lang="en-US" sz="4400" b="1" dirty="0">
                <a:solidFill>
                  <a:schemeClr val="accent4"/>
                </a:solidFill>
                <a:latin typeface="Cambria" pitchFamily="34" charset="0"/>
                <a:ea typeface="Cambria" pitchFamily="34" charset="-122"/>
                <a:cs typeface="Cambria" pitchFamily="34" charset="-120"/>
              </a:rPr>
              <a:t>221 GiB</a:t>
            </a:r>
            <a:endParaRPr lang="en-US" sz="4400" dirty="0"/>
          </a:p>
        </p:txBody>
      </p:sp>
      <p:sp>
        <p:nvSpPr>
          <p:cNvPr id="7" name="Text 4"/>
          <p:cNvSpPr txBox="1"/>
          <p:nvPr/>
        </p:nvSpPr>
        <p:spPr>
          <a:xfrm>
            <a:off x="9144000" y="3749040"/>
            <a:ext cx="2743200" cy="731520"/>
          </a:xfrm>
          <a:prstGeom prst="rect">
            <a:avLst/>
          </a:prstGeom>
          <a:noFill/>
          <a:ln/>
        </p:spPr>
        <p:txBody>
          <a:bodyPr wrap="square" lIns="0" tIns="0" rIns="0" bIns="0" rtlCol="0" anchor="t"/>
          <a:lstStyle/>
          <a:p>
            <a:pPr indent="0" marL="0">
              <a:buNone/>
            </a:pPr>
            <a:r>
              <a:rPr lang="en-US" sz="1400" dirty="0">
                <a:solidFill>
                  <a:schemeClr val="tx1"/>
                </a:solidFill>
              </a:rPr>
              <a:t>peak memory, the likely first limit</a:t>
            </a:r>
            <a:endParaRPr lang="en-US" sz="1400" dirty="0"/>
          </a:p>
        </p:txBody>
      </p:sp>
      <p:sp>
        <p:nvSpPr>
          <p:cNvPr id="8" name="Text 5"/>
          <p:cNvSpPr txBox="1"/>
          <p:nvPr/>
        </p:nvSpPr>
        <p:spPr>
          <a:xfrm>
            <a:off x="9144000" y="4480560"/>
            <a:ext cx="2743200" cy="868680"/>
          </a:xfrm>
          <a:prstGeom prst="rect">
            <a:avLst/>
          </a:prstGeom>
          <a:noFill/>
          <a:ln/>
        </p:spPr>
        <p:txBody>
          <a:bodyPr wrap="square" lIns="0" tIns="0" rIns="0" bIns="0" rtlCol="0" anchor="b"/>
          <a:lstStyle/>
          <a:p>
            <a:pPr indent="0" marL="0">
              <a:buNone/>
            </a:pPr>
            <a:r>
              <a:rPr lang="en-US" sz="4400" b="1" dirty="0">
                <a:solidFill>
                  <a:schemeClr val="accent3"/>
                </a:solidFill>
                <a:latin typeface="Cambria" pitchFamily="34" charset="0"/>
                <a:ea typeface="Cambria" pitchFamily="34" charset="-122"/>
                <a:cs typeface="Cambria" pitchFamily="34" charset="-120"/>
              </a:rPr>
              <a:t>16 vs 37</a:t>
            </a:r>
            <a:endParaRPr lang="en-US" sz="4400" dirty="0"/>
          </a:p>
        </p:txBody>
      </p:sp>
      <p:sp>
        <p:nvSpPr>
          <p:cNvPr id="9" name="Text 6"/>
          <p:cNvSpPr txBox="1"/>
          <p:nvPr/>
        </p:nvSpPr>
        <p:spPr>
          <a:xfrm>
            <a:off x="9144000" y="5394960"/>
            <a:ext cx="2743200" cy="731520"/>
          </a:xfrm>
          <a:prstGeom prst="rect">
            <a:avLst/>
          </a:prstGeom>
          <a:noFill/>
          <a:ln/>
        </p:spPr>
        <p:txBody>
          <a:bodyPr wrap="square" lIns="0" tIns="0" rIns="0" bIns="0" rtlCol="0" anchor="t"/>
          <a:lstStyle/>
          <a:p>
            <a:pPr indent="0" marL="0">
              <a:buNone/>
            </a:pPr>
            <a:r>
              <a:rPr lang="en-US" sz="1400" dirty="0">
                <a:solidFill>
                  <a:schemeClr val="tx1"/>
                </a:solidFill>
              </a:rPr>
              <a:t>CPU-h at 64 species: Ancestra vs FastOMA</a:t>
            </a:r>
            <a:endParaRPr lang="en-US" sz="1400" dirty="0"/>
          </a:p>
        </p:txBody>
      </p:sp>
      <p:sp>
        <p:nvSpPr>
          <p:cNvPr id="10" name="Text 7"/>
          <p:cNvSpPr txBox="1"/>
          <p:nvPr/>
        </p:nvSpPr>
        <p:spPr>
          <a:xfrm>
            <a:off x="548640" y="5120640"/>
            <a:ext cx="8229600" cy="914400"/>
          </a:xfrm>
          <a:prstGeom prst="rect">
            <a:avLst/>
          </a:prstGeom>
          <a:noFill/>
          <a:ln/>
        </p:spPr>
        <p:txBody>
          <a:bodyPr wrap="square" lIns="0" tIns="0" rIns="0" bIns="0" rtlCol="0" anchor="t"/>
          <a:lstStyle/>
          <a:p>
            <a:pPr indent="0" marL="0">
              <a:buNone/>
            </a:pPr>
            <a:r>
              <a:rPr lang="en-US" sz="1400" dirty="0">
                <a:solidFill>
                  <a:schemeClr val="tx1"/>
                </a:solidFill>
              </a:rPr>
              <a:t>Cost is superlinear (CPU exponent 1.16 accurate on QfO; 1.35 fast at 0.5–4.75 M proteins). The family graph step grows about quadratically: the next thing to fix.</a:t>
            </a:r>
            <a:endParaRPr lang="en-US" sz="14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l"/>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Take-home messages</a:t>
            </a:r>
            <a:endParaRPr lang="en-US" sz="3200" dirty="0"/>
          </a:p>
        </p:txBody>
      </p:sp>
      <p:sp>
        <p:nvSpPr>
          <p:cNvPr id="3" name="Shape 1"/>
          <p:cNvSpPr/>
          <p:nvPr/>
        </p:nvSpPr>
        <p:spPr>
          <a:xfrm>
            <a:off x="548640" y="1417320"/>
            <a:ext cx="2606040" cy="3017520"/>
          </a:xfrm>
          <a:prstGeom prst="roundRect">
            <a:avLst>
              <a:gd name="adj" fmla="val 4211"/>
            </a:avLst>
          </a:prstGeom>
          <a:solidFill>
            <a:schemeClr val="bg2"/>
          </a:solidFill>
          <a:ln w="12700">
            <a:solidFill>
              <a:schemeClr val="bg2"/>
            </a:solidFill>
            <a:prstDash val="solid"/>
          </a:ln>
        </p:spPr>
      </p:sp>
      <p:sp>
        <p:nvSpPr>
          <p:cNvPr id="4" name="Text 2"/>
          <p:cNvSpPr txBox="1"/>
          <p:nvPr/>
        </p:nvSpPr>
        <p:spPr>
          <a:xfrm>
            <a:off x="731520" y="1691640"/>
            <a:ext cx="2286000" cy="1005840"/>
          </a:xfrm>
          <a:prstGeom prst="rect">
            <a:avLst/>
          </a:prstGeom>
          <a:noFill/>
          <a:ln/>
        </p:spPr>
        <p:txBody>
          <a:bodyPr wrap="square" lIns="0" tIns="0" rIns="0" bIns="0" rtlCol="0" anchor="t"/>
          <a:lstStyle/>
          <a:p>
            <a:pPr algn="ctr" indent="0" marL="0">
              <a:buNone/>
            </a:pPr>
            <a:r>
              <a:rPr lang="en-US" sz="4800" b="1" dirty="0">
                <a:solidFill>
                  <a:schemeClr val="accent2"/>
                </a:solidFill>
                <a:latin typeface="Cambria" pitchFamily="34" charset="0"/>
                <a:ea typeface="Cambria" pitchFamily="34" charset="-122"/>
                <a:cs typeface="Cambria" pitchFamily="34" charset="-120"/>
              </a:rPr>
              <a:t>76.2</a:t>
            </a:r>
            <a:endParaRPr lang="en-US" sz="4800" dirty="0"/>
          </a:p>
        </p:txBody>
      </p:sp>
      <p:sp>
        <p:nvSpPr>
          <p:cNvPr id="5" name="Text 3"/>
          <p:cNvSpPr txBox="1"/>
          <p:nvPr/>
        </p:nvSpPr>
        <p:spPr>
          <a:xfrm>
            <a:off x="731520" y="2834640"/>
            <a:ext cx="2240280" cy="1371600"/>
          </a:xfrm>
          <a:prstGeom prst="rect">
            <a:avLst/>
          </a:prstGeom>
          <a:noFill/>
          <a:ln/>
        </p:spPr>
        <p:txBody>
          <a:bodyPr wrap="square" lIns="0" tIns="0" rIns="0" bIns="0" rtlCol="0" anchor="t"/>
          <a:lstStyle/>
          <a:p>
            <a:pPr algn="ctr" indent="0" marL="0">
              <a:buNone/>
            </a:pPr>
            <a:r>
              <a:rPr lang="en-US" sz="1500" dirty="0">
                <a:solidFill>
                  <a:schemeClr val="tx1"/>
                </a:solidFill>
              </a:rPr>
              <a:t>OrthoBench F (OrthoFinder 69.7); lead not significant</a:t>
            </a:r>
            <a:endParaRPr lang="en-US" sz="1500" dirty="0"/>
          </a:p>
        </p:txBody>
      </p:sp>
      <p:sp>
        <p:nvSpPr>
          <p:cNvPr id="6" name="Shape 4"/>
          <p:cNvSpPr/>
          <p:nvPr/>
        </p:nvSpPr>
        <p:spPr>
          <a:xfrm>
            <a:off x="3383280" y="1417320"/>
            <a:ext cx="2606040" cy="3017520"/>
          </a:xfrm>
          <a:prstGeom prst="roundRect">
            <a:avLst>
              <a:gd name="adj" fmla="val 4211"/>
            </a:avLst>
          </a:prstGeom>
          <a:solidFill>
            <a:schemeClr val="bg2"/>
          </a:solidFill>
          <a:ln w="12700">
            <a:solidFill>
              <a:schemeClr val="bg2"/>
            </a:solidFill>
            <a:prstDash val="solid"/>
          </a:ln>
        </p:spPr>
      </p:sp>
      <p:sp>
        <p:nvSpPr>
          <p:cNvPr id="7" name="Text 5"/>
          <p:cNvSpPr txBox="1"/>
          <p:nvPr/>
        </p:nvSpPr>
        <p:spPr>
          <a:xfrm>
            <a:off x="3566160" y="1691640"/>
            <a:ext cx="2286000" cy="1005840"/>
          </a:xfrm>
          <a:prstGeom prst="rect">
            <a:avLst/>
          </a:prstGeom>
          <a:noFill/>
          <a:ln/>
        </p:spPr>
        <p:txBody>
          <a:bodyPr wrap="square" lIns="0" tIns="0" rIns="0" bIns="0" rtlCol="0" anchor="t"/>
          <a:lstStyle/>
          <a:p>
            <a:pPr algn="ctr" indent="0" marL="0">
              <a:buNone/>
            </a:pPr>
            <a:r>
              <a:rPr lang="en-US" sz="4800" b="1" dirty="0">
                <a:solidFill>
                  <a:schemeClr val="accent4"/>
                </a:solidFill>
                <a:latin typeface="Cambria" pitchFamily="34" charset="0"/>
                <a:ea typeface="Cambria" pitchFamily="34" charset="-122"/>
                <a:cs typeface="Cambria" pitchFamily="34" charset="-120"/>
              </a:rPr>
              <a:t>−0.16</a:t>
            </a:r>
            <a:endParaRPr lang="en-US" sz="4800" dirty="0"/>
          </a:p>
        </p:txBody>
      </p:sp>
      <p:sp>
        <p:nvSpPr>
          <p:cNvPr id="8" name="Text 6"/>
          <p:cNvSpPr txBox="1"/>
          <p:nvPr/>
        </p:nvSpPr>
        <p:spPr>
          <a:xfrm>
            <a:off x="3566160" y="2834640"/>
            <a:ext cx="2240280" cy="1371600"/>
          </a:xfrm>
          <a:prstGeom prst="rect">
            <a:avLst/>
          </a:prstGeom>
          <a:noFill/>
          <a:ln/>
        </p:spPr>
        <p:txBody>
          <a:bodyPr wrap="square" lIns="0" tIns="0" rIns="0" bIns="0" rtlCol="0" anchor="t"/>
          <a:lstStyle/>
          <a:p>
            <a:pPr algn="ctr" indent="0" marL="0">
              <a:buNone/>
            </a:pPr>
            <a:r>
              <a:rPr lang="en-US" sz="1500" dirty="0">
                <a:solidFill>
                  <a:schemeClr val="tx1"/>
                </a:solidFill>
              </a:rPr>
              <a:t>QfO recall vs OrthoFinder: deep nodes are the weak spot</a:t>
            </a:r>
            <a:endParaRPr lang="en-US" sz="1500" dirty="0"/>
          </a:p>
        </p:txBody>
      </p:sp>
      <p:sp>
        <p:nvSpPr>
          <p:cNvPr id="9" name="Shape 7"/>
          <p:cNvSpPr/>
          <p:nvPr/>
        </p:nvSpPr>
        <p:spPr>
          <a:xfrm>
            <a:off x="6217920" y="1417320"/>
            <a:ext cx="2606040" cy="3017520"/>
          </a:xfrm>
          <a:prstGeom prst="roundRect">
            <a:avLst>
              <a:gd name="adj" fmla="val 4211"/>
            </a:avLst>
          </a:prstGeom>
          <a:solidFill>
            <a:schemeClr val="bg2"/>
          </a:solidFill>
          <a:ln w="12700">
            <a:solidFill>
              <a:schemeClr val="bg2"/>
            </a:solidFill>
            <a:prstDash val="solid"/>
          </a:ln>
        </p:spPr>
      </p:sp>
      <p:sp>
        <p:nvSpPr>
          <p:cNvPr id="10" name="Text 8"/>
          <p:cNvSpPr txBox="1"/>
          <p:nvPr/>
        </p:nvSpPr>
        <p:spPr>
          <a:xfrm>
            <a:off x="6400800" y="1691640"/>
            <a:ext cx="2286000" cy="1005840"/>
          </a:xfrm>
          <a:prstGeom prst="rect">
            <a:avLst/>
          </a:prstGeom>
          <a:noFill/>
          <a:ln/>
        </p:spPr>
        <p:txBody>
          <a:bodyPr wrap="square" lIns="0" tIns="0" rIns="0" bIns="0" rtlCol="0" anchor="t"/>
          <a:lstStyle/>
          <a:p>
            <a:pPr algn="ctr" indent="0" marL="0">
              <a:buNone/>
            </a:pPr>
            <a:r>
              <a:rPr lang="en-US" sz="4800" b="1" dirty="0">
                <a:solidFill>
                  <a:schemeClr val="accent3"/>
                </a:solidFill>
                <a:latin typeface="Cambria" pitchFamily="34" charset="0"/>
                <a:ea typeface="Cambria" pitchFamily="34" charset="-122"/>
                <a:cs typeface="Cambria" pitchFamily="34" charset="-120"/>
              </a:rPr>
              <a:t>1,000</a:t>
            </a:r>
            <a:endParaRPr lang="en-US" sz="4800" dirty="0"/>
          </a:p>
        </p:txBody>
      </p:sp>
      <p:sp>
        <p:nvSpPr>
          <p:cNvPr id="11" name="Text 9"/>
          <p:cNvSpPr txBox="1"/>
          <p:nvPr/>
        </p:nvSpPr>
        <p:spPr>
          <a:xfrm>
            <a:off x="6400800" y="2834640"/>
            <a:ext cx="2240280" cy="1371600"/>
          </a:xfrm>
          <a:prstGeom prst="rect">
            <a:avLst/>
          </a:prstGeom>
          <a:noFill/>
          <a:ln/>
        </p:spPr>
        <p:txBody>
          <a:bodyPr wrap="square" lIns="0" tIns="0" rIns="0" bIns="0" rtlCol="0" anchor="t"/>
          <a:lstStyle/>
          <a:p>
            <a:pPr algn="ctr" indent="0" marL="0">
              <a:buNone/>
            </a:pPr>
            <a:r>
              <a:rPr lang="en-US" sz="1500" dirty="0">
                <a:solidFill>
                  <a:schemeClr val="tx1"/>
                </a:solidFill>
              </a:rPr>
              <a:t>proteomes in 10.6 h; memory, not time, limits next</a:t>
            </a:r>
            <a:endParaRPr lang="en-US" sz="1500" dirty="0"/>
          </a:p>
        </p:txBody>
      </p:sp>
      <p:sp>
        <p:nvSpPr>
          <p:cNvPr id="12" name="Shape 10"/>
          <p:cNvSpPr/>
          <p:nvPr/>
        </p:nvSpPr>
        <p:spPr>
          <a:xfrm>
            <a:off x="9052560" y="1417320"/>
            <a:ext cx="2606040" cy="3017520"/>
          </a:xfrm>
          <a:prstGeom prst="roundRect">
            <a:avLst>
              <a:gd name="adj" fmla="val 4211"/>
            </a:avLst>
          </a:prstGeom>
          <a:solidFill>
            <a:schemeClr val="bg2"/>
          </a:solidFill>
          <a:ln w="12700">
            <a:solidFill>
              <a:schemeClr val="bg2"/>
            </a:solidFill>
            <a:prstDash val="solid"/>
          </a:ln>
        </p:spPr>
      </p:sp>
      <p:sp>
        <p:nvSpPr>
          <p:cNvPr id="13" name="Text 11"/>
          <p:cNvSpPr txBox="1"/>
          <p:nvPr/>
        </p:nvSpPr>
        <p:spPr>
          <a:xfrm>
            <a:off x="9235440" y="1691640"/>
            <a:ext cx="2286000" cy="1005840"/>
          </a:xfrm>
          <a:prstGeom prst="rect">
            <a:avLst/>
          </a:prstGeom>
          <a:noFill/>
          <a:ln/>
        </p:spPr>
        <p:txBody>
          <a:bodyPr wrap="square" lIns="0" tIns="0" rIns="0" bIns="0" rtlCol="0" anchor="t"/>
          <a:lstStyle/>
          <a:p>
            <a:pPr algn="ctr" indent="0" marL="0">
              <a:buNone/>
            </a:pPr>
            <a:r>
              <a:rPr lang="en-US" sz="4800" b="1" dirty="0">
                <a:solidFill>
                  <a:schemeClr val="tx2"/>
                </a:solidFill>
                <a:latin typeface="Cambria" pitchFamily="34" charset="0"/>
                <a:ea typeface="Cambria" pitchFamily="34" charset="-122"/>
                <a:cs typeface="Cambria" pitchFamily="34" charset="-120"/>
              </a:rPr>
              <a:t>0 / 13</a:t>
            </a:r>
            <a:endParaRPr lang="en-US" sz="4800" dirty="0"/>
          </a:p>
        </p:txBody>
      </p:sp>
      <p:sp>
        <p:nvSpPr>
          <p:cNvPr id="14" name="Text 12"/>
          <p:cNvSpPr txBox="1"/>
          <p:nvPr/>
        </p:nvSpPr>
        <p:spPr>
          <a:xfrm>
            <a:off x="9235440" y="2834640"/>
            <a:ext cx="2240280" cy="1371600"/>
          </a:xfrm>
          <a:prstGeom prst="rect">
            <a:avLst/>
          </a:prstGeom>
          <a:noFill/>
          <a:ln/>
        </p:spPr>
        <p:txBody>
          <a:bodyPr wrap="square" lIns="0" tIns="0" rIns="0" bIns="0" rtlCol="0" anchor="t"/>
          <a:lstStyle/>
          <a:p>
            <a:pPr algn="ctr" indent="0" marL="0">
              <a:buNone/>
            </a:pPr>
            <a:r>
              <a:rPr lang="en-US" sz="1500" dirty="0">
                <a:solidFill>
                  <a:schemeClr val="tx1"/>
                </a:solidFill>
              </a:rPr>
              <a:t>extra data layers improved held-out results</a:t>
            </a:r>
            <a:endParaRPr lang="en-US" sz="1500" dirty="0"/>
          </a:p>
        </p:txBody>
      </p:sp>
      <p:sp>
        <p:nvSpPr>
          <p:cNvPr id="15" name="Shape 13"/>
          <p:cNvSpPr/>
          <p:nvPr/>
        </p:nvSpPr>
        <p:spPr>
          <a:xfrm>
            <a:off x="548640" y="4846320"/>
            <a:ext cx="11064240" cy="1097280"/>
          </a:xfrm>
          <a:prstGeom prst="roundRect">
            <a:avLst>
              <a:gd name="adj" fmla="val 10000"/>
            </a:avLst>
          </a:prstGeom>
          <a:solidFill>
            <a:schemeClr val="tx2"/>
          </a:solidFill>
          <a:ln w="12700">
            <a:solidFill>
              <a:schemeClr val="tx2"/>
            </a:solidFill>
            <a:prstDash val="solid"/>
          </a:ln>
        </p:spPr>
      </p:sp>
      <p:sp>
        <p:nvSpPr>
          <p:cNvPr id="16" name="Text 14"/>
          <p:cNvSpPr txBox="1"/>
          <p:nvPr/>
        </p:nvSpPr>
        <p:spPr>
          <a:xfrm>
            <a:off x="822960" y="4846320"/>
            <a:ext cx="10515600" cy="1097280"/>
          </a:xfrm>
          <a:prstGeom prst="rect">
            <a:avLst/>
          </a:prstGeom>
          <a:noFill/>
          <a:ln/>
        </p:spPr>
        <p:txBody>
          <a:bodyPr wrap="square" lIns="0" tIns="0" rIns="0" bIns="0" rtlCol="0" anchor="ctr"/>
          <a:lstStyle/>
          <a:p>
            <a:pPr indent="0" marL="0">
              <a:buNone/>
            </a:pPr>
            <a:r>
              <a:rPr lang="en-US" sz="2000" dirty="0">
                <a:solidFill>
                  <a:schemeClr val="bg1"/>
                </a:solidFill>
                <a:latin typeface="Cambria" pitchFamily="34" charset="0"/>
                <a:ea typeface="Cambria" pitchFamily="34" charset="-122"/>
                <a:cs typeface="Cambria" pitchFamily="34" charset="-120"/>
              </a:rPr>
              <a:t>Building HOGs ancestor by ancestor inside families is viable and cheap, but it does not yet beat the best methods on distant orthologs.</a:t>
            </a:r>
            <a:endParaRPr lang="en-US" sz="20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l"/>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731520" y="2651760"/>
            <a:ext cx="10698480" cy="1097280"/>
          </a:xfrm>
          <a:prstGeom prst="rect">
            <a:avLst/>
          </a:prstGeom>
          <a:noFill/>
          <a:ln/>
        </p:spPr>
        <p:txBody>
          <a:bodyPr wrap="square" rtlCol="0"/>
          <a:lstStyle/>
          <a:p>
            <a:pPr algn="l" indent="0" marL="0">
              <a:buNone/>
            </a:pPr>
            <a:r>
              <a:rPr lang="en-US" sz="4400" b="1" dirty="0">
                <a:solidFill>
                  <a:schemeClr val="bg1"/>
                </a:solidFill>
                <a:latin typeface="Cambria" pitchFamily="34" charset="0"/>
                <a:ea typeface="Cambria" pitchFamily="34" charset="-122"/>
                <a:cs typeface="Cambria" pitchFamily="34" charset="-120"/>
              </a:rPr>
              <a:t>Extra data layers</a:t>
            </a:r>
            <a:endParaRPr lang="en-US" sz="4400" dirty="0"/>
          </a:p>
        </p:txBody>
      </p:sp>
      <p:sp>
        <p:nvSpPr>
          <p:cNvPr id="3" name="Text 0"/>
          <p:cNvSpPr/>
          <p:nvPr>
            <p:ph idx="101" type="body" hasCustomPrompt="1"/>
          </p:nvPr>
        </p:nvSpPr>
        <p:spPr>
          <a:xfrm>
            <a:off x="731520" y="3794760"/>
            <a:ext cx="10698480" cy="731520"/>
          </a:xfrm>
          <a:prstGeom prst="rect">
            <a:avLst/>
          </a:prstGeom>
          <a:noFill/>
          <a:ln/>
        </p:spPr>
        <p:txBody>
          <a:bodyPr wrap="square" rtlCol="0"/>
          <a:lstStyle/>
          <a:p>
            <a:pPr indent="0" marL="0">
              <a:buNone/>
            </a:pPr>
            <a:r>
              <a:rPr lang="en-US" sz="2000" dirty="0">
                <a:solidFill>
                  <a:schemeClr val="bg2"/>
                </a:solidFill>
              </a:rPr>
              <a:t>13 layers in two rounds, each against a shuffled control</a:t>
            </a:r>
            <a:endParaRPr lang="en-US" sz="20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bg2"/>
                </a:solidFill>
              </a:defRPr>
            </a:lvl1pPr>
          </a:lstStyle>
          <a:p>
            <a:pPr algn="l"/>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Where each layer entered the pipeline</a:t>
            </a:r>
            <a:endParaRPr lang="en-US" sz="3200" dirty="0"/>
          </a:p>
        </p:txBody>
      </p:sp>
      <p:sp>
        <p:nvSpPr>
          <p:cNvPr id="3" name="Shape 1"/>
          <p:cNvSpPr/>
          <p:nvPr/>
        </p:nvSpPr>
        <p:spPr>
          <a:xfrm>
            <a:off x="548640" y="1325880"/>
            <a:ext cx="1600200" cy="594360"/>
          </a:xfrm>
          <a:prstGeom prst="roundRect">
            <a:avLst>
              <a:gd name="adj" fmla="val 18462"/>
            </a:avLst>
          </a:prstGeom>
          <a:solidFill>
            <a:schemeClr val="tx2"/>
          </a:solidFill>
          <a:ln w="12700">
            <a:solidFill>
              <a:schemeClr val="tx2"/>
            </a:solidFill>
            <a:prstDash val="solid"/>
          </a:ln>
        </p:spPr>
      </p:sp>
      <p:sp>
        <p:nvSpPr>
          <p:cNvPr id="4" name="Text 2"/>
          <p:cNvSpPr txBox="1"/>
          <p:nvPr/>
        </p:nvSpPr>
        <p:spPr>
          <a:xfrm>
            <a:off x="548640" y="1325880"/>
            <a:ext cx="1600200" cy="594360"/>
          </a:xfrm>
          <a:prstGeom prst="rect">
            <a:avLst/>
          </a:prstGeom>
          <a:noFill/>
          <a:ln/>
        </p:spPr>
        <p:txBody>
          <a:bodyPr wrap="square" lIns="508" tIns="508" rIns="508" bIns="508" rtlCol="0" anchor="ctr"/>
          <a:lstStyle/>
          <a:p>
            <a:pPr algn="ctr" indent="0" marL="0">
              <a:buNone/>
            </a:pPr>
            <a:r>
              <a:rPr lang="en-US" sz="1400" b="1" dirty="0">
                <a:solidFill>
                  <a:schemeClr val="bg1"/>
                </a:solidFill>
              </a:rPr>
              <a:t>Input</a:t>
            </a:r>
            <a:endParaRPr lang="en-US" sz="1400" dirty="0"/>
          </a:p>
        </p:txBody>
      </p:sp>
      <p:sp>
        <p:nvSpPr>
          <p:cNvPr id="5" name="Shape 3"/>
          <p:cNvSpPr/>
          <p:nvPr/>
        </p:nvSpPr>
        <p:spPr>
          <a:xfrm>
            <a:off x="2194560" y="1627632"/>
            <a:ext cx="685800" cy="914"/>
          </a:xfrm>
          <a:prstGeom prst="line">
            <a:avLst/>
          </a:prstGeom>
          <a:noFill/>
          <a:ln w="25400">
            <a:solidFill>
              <a:schemeClr val="accent6"/>
            </a:solidFill>
            <a:prstDash val="solid"/>
            <a:tailEnd type="triangle"/>
          </a:ln>
        </p:spPr>
      </p:sp>
      <p:sp>
        <p:nvSpPr>
          <p:cNvPr id="6" name="Shape 4"/>
          <p:cNvSpPr/>
          <p:nvPr/>
        </p:nvSpPr>
        <p:spPr>
          <a:xfrm>
            <a:off x="2926080" y="1325880"/>
            <a:ext cx="1600200" cy="594360"/>
          </a:xfrm>
          <a:prstGeom prst="roundRect">
            <a:avLst>
              <a:gd name="adj" fmla="val 18462"/>
            </a:avLst>
          </a:prstGeom>
          <a:solidFill>
            <a:schemeClr val="tx2"/>
          </a:solidFill>
          <a:ln w="12700">
            <a:solidFill>
              <a:schemeClr val="tx2"/>
            </a:solidFill>
            <a:prstDash val="solid"/>
          </a:ln>
        </p:spPr>
      </p:sp>
      <p:sp>
        <p:nvSpPr>
          <p:cNvPr id="7" name="Text 5"/>
          <p:cNvSpPr txBox="1"/>
          <p:nvPr/>
        </p:nvSpPr>
        <p:spPr>
          <a:xfrm>
            <a:off x="2926080" y="1325880"/>
            <a:ext cx="1600200" cy="594360"/>
          </a:xfrm>
          <a:prstGeom prst="rect">
            <a:avLst/>
          </a:prstGeom>
          <a:noFill/>
          <a:ln/>
        </p:spPr>
        <p:txBody>
          <a:bodyPr wrap="square" lIns="508" tIns="508" rIns="508" bIns="508" rtlCol="0" anchor="ctr"/>
          <a:lstStyle/>
          <a:p>
            <a:pPr algn="ctr" indent="0" marL="0">
              <a:buNone/>
            </a:pPr>
            <a:r>
              <a:rPr lang="en-US" sz="1400" b="1" dirty="0">
                <a:solidFill>
                  <a:schemeClr val="bg1"/>
                </a:solidFill>
              </a:rPr>
              <a:t>S0 families</a:t>
            </a:r>
            <a:endParaRPr lang="en-US" sz="1400" dirty="0"/>
          </a:p>
        </p:txBody>
      </p:sp>
      <p:sp>
        <p:nvSpPr>
          <p:cNvPr id="8" name="Shape 6"/>
          <p:cNvSpPr/>
          <p:nvPr/>
        </p:nvSpPr>
        <p:spPr>
          <a:xfrm>
            <a:off x="4572000" y="1627632"/>
            <a:ext cx="685800" cy="914"/>
          </a:xfrm>
          <a:prstGeom prst="line">
            <a:avLst/>
          </a:prstGeom>
          <a:noFill/>
          <a:ln w="25400">
            <a:solidFill>
              <a:schemeClr val="accent6"/>
            </a:solidFill>
            <a:prstDash val="solid"/>
            <a:tailEnd type="triangle"/>
          </a:ln>
        </p:spPr>
      </p:sp>
      <p:sp>
        <p:nvSpPr>
          <p:cNvPr id="9" name="Shape 7"/>
          <p:cNvSpPr/>
          <p:nvPr/>
        </p:nvSpPr>
        <p:spPr>
          <a:xfrm>
            <a:off x="5303520" y="1325880"/>
            <a:ext cx="1600200" cy="594360"/>
          </a:xfrm>
          <a:prstGeom prst="roundRect">
            <a:avLst>
              <a:gd name="adj" fmla="val 18462"/>
            </a:avLst>
          </a:prstGeom>
          <a:solidFill>
            <a:schemeClr val="tx2"/>
          </a:solidFill>
          <a:ln w="12700">
            <a:solidFill>
              <a:schemeClr val="tx2"/>
            </a:solidFill>
            <a:prstDash val="solid"/>
          </a:ln>
        </p:spPr>
      </p:sp>
      <p:sp>
        <p:nvSpPr>
          <p:cNvPr id="10" name="Text 8"/>
          <p:cNvSpPr txBox="1"/>
          <p:nvPr/>
        </p:nvSpPr>
        <p:spPr>
          <a:xfrm>
            <a:off x="5303520" y="1325880"/>
            <a:ext cx="1600200" cy="594360"/>
          </a:xfrm>
          <a:prstGeom prst="rect">
            <a:avLst/>
          </a:prstGeom>
          <a:noFill/>
          <a:ln/>
        </p:spPr>
        <p:txBody>
          <a:bodyPr wrap="square" lIns="508" tIns="508" rIns="508" bIns="508" rtlCol="0" anchor="ctr"/>
          <a:lstStyle/>
          <a:p>
            <a:pPr algn="ctr" indent="0" marL="0">
              <a:buNone/>
            </a:pPr>
            <a:r>
              <a:rPr lang="en-US" sz="1400" b="1" dirty="0">
                <a:solidFill>
                  <a:schemeClr val="bg1"/>
                </a:solidFill>
              </a:rPr>
              <a:t>S2 scores</a:t>
            </a:r>
            <a:endParaRPr lang="en-US" sz="1400" dirty="0"/>
          </a:p>
        </p:txBody>
      </p:sp>
      <p:sp>
        <p:nvSpPr>
          <p:cNvPr id="11" name="Shape 9"/>
          <p:cNvSpPr/>
          <p:nvPr/>
        </p:nvSpPr>
        <p:spPr>
          <a:xfrm>
            <a:off x="6949440" y="1627632"/>
            <a:ext cx="685800" cy="914"/>
          </a:xfrm>
          <a:prstGeom prst="line">
            <a:avLst/>
          </a:prstGeom>
          <a:noFill/>
          <a:ln w="25400">
            <a:solidFill>
              <a:schemeClr val="accent6"/>
            </a:solidFill>
            <a:prstDash val="solid"/>
            <a:tailEnd type="triangle"/>
          </a:ln>
        </p:spPr>
      </p:sp>
      <p:sp>
        <p:nvSpPr>
          <p:cNvPr id="12" name="Shape 10"/>
          <p:cNvSpPr/>
          <p:nvPr/>
        </p:nvSpPr>
        <p:spPr>
          <a:xfrm>
            <a:off x="7680960" y="1325880"/>
            <a:ext cx="1600200" cy="594360"/>
          </a:xfrm>
          <a:prstGeom prst="roundRect">
            <a:avLst>
              <a:gd name="adj" fmla="val 18462"/>
            </a:avLst>
          </a:prstGeom>
          <a:solidFill>
            <a:schemeClr val="tx2"/>
          </a:solidFill>
          <a:ln w="12700">
            <a:solidFill>
              <a:schemeClr val="tx2"/>
            </a:solidFill>
            <a:prstDash val="solid"/>
          </a:ln>
        </p:spPr>
      </p:sp>
      <p:sp>
        <p:nvSpPr>
          <p:cNvPr id="13" name="Text 11"/>
          <p:cNvSpPr txBox="1"/>
          <p:nvPr/>
        </p:nvSpPr>
        <p:spPr>
          <a:xfrm>
            <a:off x="7680960" y="1325880"/>
            <a:ext cx="1600200" cy="594360"/>
          </a:xfrm>
          <a:prstGeom prst="rect">
            <a:avLst/>
          </a:prstGeom>
          <a:noFill/>
          <a:ln/>
        </p:spPr>
        <p:txBody>
          <a:bodyPr wrap="square" lIns="508" tIns="508" rIns="508" bIns="508" rtlCol="0" anchor="ctr"/>
          <a:lstStyle/>
          <a:p>
            <a:pPr algn="ctr" indent="0" marL="0">
              <a:buNone/>
            </a:pPr>
            <a:r>
              <a:rPr lang="en-US" sz="1400" b="1" dirty="0">
                <a:solidFill>
                  <a:schemeClr val="bg1"/>
                </a:solidFill>
              </a:rPr>
              <a:t>S3 merge</a:t>
            </a:r>
            <a:endParaRPr lang="en-US" sz="1400" dirty="0"/>
          </a:p>
        </p:txBody>
      </p:sp>
      <p:sp>
        <p:nvSpPr>
          <p:cNvPr id="14" name="Shape 12"/>
          <p:cNvSpPr/>
          <p:nvPr/>
        </p:nvSpPr>
        <p:spPr>
          <a:xfrm>
            <a:off x="9326880" y="1627632"/>
            <a:ext cx="685800" cy="914"/>
          </a:xfrm>
          <a:prstGeom prst="line">
            <a:avLst/>
          </a:prstGeom>
          <a:noFill/>
          <a:ln w="25400">
            <a:solidFill>
              <a:schemeClr val="accent6"/>
            </a:solidFill>
            <a:prstDash val="solid"/>
            <a:tailEnd type="triangle"/>
          </a:ln>
        </p:spPr>
      </p:sp>
      <p:sp>
        <p:nvSpPr>
          <p:cNvPr id="15" name="Shape 13"/>
          <p:cNvSpPr/>
          <p:nvPr/>
        </p:nvSpPr>
        <p:spPr>
          <a:xfrm>
            <a:off x="10058400" y="1325880"/>
            <a:ext cx="1600200" cy="594360"/>
          </a:xfrm>
          <a:prstGeom prst="roundRect">
            <a:avLst>
              <a:gd name="adj" fmla="val 18462"/>
            </a:avLst>
          </a:prstGeom>
          <a:solidFill>
            <a:schemeClr val="tx2"/>
          </a:solidFill>
          <a:ln w="12700">
            <a:solidFill>
              <a:schemeClr val="tx2"/>
            </a:solidFill>
            <a:prstDash val="solid"/>
          </a:ln>
        </p:spPr>
      </p:sp>
      <p:sp>
        <p:nvSpPr>
          <p:cNvPr id="16" name="Text 14"/>
          <p:cNvSpPr txBox="1"/>
          <p:nvPr/>
        </p:nvSpPr>
        <p:spPr>
          <a:xfrm>
            <a:off x="10058400" y="1325880"/>
            <a:ext cx="1600200" cy="594360"/>
          </a:xfrm>
          <a:prstGeom prst="rect">
            <a:avLst/>
          </a:prstGeom>
          <a:noFill/>
          <a:ln/>
        </p:spPr>
        <p:txBody>
          <a:bodyPr wrap="square" lIns="508" tIns="508" rIns="508" bIns="508" rtlCol="0" anchor="ctr"/>
          <a:lstStyle/>
          <a:p>
            <a:pPr algn="ctr" indent="0" marL="0">
              <a:buNone/>
            </a:pPr>
            <a:r>
              <a:rPr lang="en-US" sz="1400" b="1" dirty="0">
                <a:solidFill>
                  <a:schemeClr val="bg1"/>
                </a:solidFill>
              </a:rPr>
              <a:t>Quality control</a:t>
            </a:r>
            <a:endParaRPr lang="en-US" sz="1400" dirty="0"/>
          </a:p>
        </p:txBody>
      </p:sp>
      <p:sp>
        <p:nvSpPr>
          <p:cNvPr id="17" name="Shape 15"/>
          <p:cNvSpPr/>
          <p:nvPr/>
        </p:nvSpPr>
        <p:spPr>
          <a:xfrm>
            <a:off x="10058400" y="2240280"/>
            <a:ext cx="1600200" cy="530352"/>
          </a:xfrm>
          <a:prstGeom prst="roundRect">
            <a:avLst>
              <a:gd name="adj" fmla="val 20690"/>
            </a:avLst>
          </a:prstGeom>
          <a:solidFill>
            <a:schemeClr val="accent3">
              <a:alpha val="85000"/>
            </a:schemeClr>
          </a:solidFill>
          <a:ln w="12700">
            <a:solidFill>
              <a:schemeClr val="accent3"/>
            </a:solidFill>
            <a:prstDash val="solid"/>
          </a:ln>
        </p:spPr>
      </p:sp>
      <p:sp>
        <p:nvSpPr>
          <p:cNvPr id="18" name="Text 16"/>
          <p:cNvSpPr txBox="1"/>
          <p:nvPr/>
        </p:nvSpPr>
        <p:spPr>
          <a:xfrm>
            <a:off x="10058400" y="2240280"/>
            <a:ext cx="1600200" cy="530352"/>
          </a:xfrm>
          <a:prstGeom prst="rect">
            <a:avLst/>
          </a:prstGeom>
          <a:noFill/>
          <a:ln/>
        </p:spPr>
        <p:txBody>
          <a:bodyPr wrap="square" lIns="0" tIns="0" rIns="0" bIns="0" rtlCol="0" anchor="ctr"/>
          <a:lstStyle/>
          <a:p>
            <a:pPr algn="ctr" indent="0" marL="0">
              <a:buNone/>
            </a:pPr>
            <a:r>
              <a:rPr lang="en-US" sz="1200" b="1" dirty="0">
                <a:solidFill>
                  <a:schemeClr val="bg1"/>
                </a:solidFill>
              </a:rPr>
              <a:t>Genomic DNA</a:t>
            </a:r>
            <a:endParaRPr lang="en-US" sz="1200" dirty="0"/>
          </a:p>
        </p:txBody>
      </p:sp>
      <p:sp>
        <p:nvSpPr>
          <p:cNvPr id="19" name="Shape 17"/>
          <p:cNvSpPr/>
          <p:nvPr/>
        </p:nvSpPr>
        <p:spPr>
          <a:xfrm>
            <a:off x="10058400" y="2898648"/>
            <a:ext cx="1600200" cy="530352"/>
          </a:xfrm>
          <a:prstGeom prst="roundRect">
            <a:avLst>
              <a:gd name="adj" fmla="val 20690"/>
            </a:avLst>
          </a:prstGeom>
          <a:solidFill>
            <a:schemeClr val="accent2">
              <a:alpha val="85000"/>
            </a:schemeClr>
          </a:solidFill>
          <a:ln w="12700">
            <a:solidFill>
              <a:schemeClr val="accent2"/>
            </a:solidFill>
            <a:prstDash val="solid"/>
          </a:ln>
        </p:spPr>
      </p:sp>
      <p:sp>
        <p:nvSpPr>
          <p:cNvPr id="20" name="Text 18"/>
          <p:cNvSpPr txBox="1"/>
          <p:nvPr/>
        </p:nvSpPr>
        <p:spPr>
          <a:xfrm>
            <a:off x="10058400" y="2898648"/>
            <a:ext cx="1600200" cy="530352"/>
          </a:xfrm>
          <a:prstGeom prst="rect">
            <a:avLst/>
          </a:prstGeom>
          <a:noFill/>
          <a:ln/>
        </p:spPr>
        <p:txBody>
          <a:bodyPr wrap="square" lIns="0" tIns="0" rIns="0" bIns="0" rtlCol="0" anchor="ctr"/>
          <a:lstStyle/>
          <a:p>
            <a:pPr algn="ctr" indent="0" marL="0">
              <a:buNone/>
            </a:pPr>
            <a:r>
              <a:rPr lang="en-US" sz="1200" b="1" dirty="0">
                <a:solidFill>
                  <a:schemeClr val="bg1"/>
                </a:solidFill>
              </a:rPr>
              <a:t>Synteny repair</a:t>
            </a:r>
            <a:endParaRPr lang="en-US" sz="1200" dirty="0"/>
          </a:p>
        </p:txBody>
      </p:sp>
      <p:sp>
        <p:nvSpPr>
          <p:cNvPr id="21" name="Shape 19"/>
          <p:cNvSpPr/>
          <p:nvPr/>
        </p:nvSpPr>
        <p:spPr>
          <a:xfrm>
            <a:off x="548640" y="2240280"/>
            <a:ext cx="1600200" cy="530352"/>
          </a:xfrm>
          <a:prstGeom prst="roundRect">
            <a:avLst>
              <a:gd name="adj" fmla="val 20690"/>
            </a:avLst>
          </a:prstGeom>
          <a:solidFill>
            <a:schemeClr val="accent4">
              <a:alpha val="85000"/>
            </a:schemeClr>
          </a:solidFill>
          <a:ln w="12700">
            <a:solidFill>
              <a:schemeClr val="accent4"/>
            </a:solidFill>
            <a:prstDash val="solid"/>
          </a:ln>
        </p:spPr>
      </p:sp>
      <p:sp>
        <p:nvSpPr>
          <p:cNvPr id="22" name="Text 20"/>
          <p:cNvSpPr txBox="1"/>
          <p:nvPr/>
        </p:nvSpPr>
        <p:spPr>
          <a:xfrm>
            <a:off x="548640" y="2240280"/>
            <a:ext cx="1600200" cy="530352"/>
          </a:xfrm>
          <a:prstGeom prst="rect">
            <a:avLst/>
          </a:prstGeom>
          <a:noFill/>
          <a:ln/>
        </p:spPr>
        <p:txBody>
          <a:bodyPr wrap="square" lIns="0" tIns="0" rIns="0" bIns="0" rtlCol="0" anchor="ctr"/>
          <a:lstStyle/>
          <a:p>
            <a:pPr algn="ctr" indent="0" marL="0">
              <a:buNone/>
            </a:pPr>
            <a:r>
              <a:rPr lang="en-US" sz="1200" b="1" dirty="0">
                <a:solidFill>
                  <a:schemeClr val="bg1"/>
                </a:solidFill>
              </a:rPr>
              <a:t>Isoforms</a:t>
            </a:r>
            <a:endParaRPr lang="en-US" sz="1200" dirty="0"/>
          </a:p>
        </p:txBody>
      </p:sp>
      <p:sp>
        <p:nvSpPr>
          <p:cNvPr id="23" name="Shape 21"/>
          <p:cNvSpPr/>
          <p:nvPr/>
        </p:nvSpPr>
        <p:spPr>
          <a:xfrm>
            <a:off x="2926080" y="2240280"/>
            <a:ext cx="1600200" cy="530352"/>
          </a:xfrm>
          <a:prstGeom prst="roundRect">
            <a:avLst>
              <a:gd name="adj" fmla="val 20690"/>
            </a:avLst>
          </a:prstGeom>
          <a:solidFill>
            <a:schemeClr val="accent2">
              <a:alpha val="85000"/>
            </a:schemeClr>
          </a:solidFill>
          <a:ln w="12700">
            <a:solidFill>
              <a:schemeClr val="accent2"/>
            </a:solidFill>
            <a:prstDash val="solid"/>
          </a:ln>
        </p:spPr>
      </p:sp>
      <p:sp>
        <p:nvSpPr>
          <p:cNvPr id="24" name="Text 22"/>
          <p:cNvSpPr txBox="1"/>
          <p:nvPr/>
        </p:nvSpPr>
        <p:spPr>
          <a:xfrm>
            <a:off x="2926080" y="2240280"/>
            <a:ext cx="1600200" cy="530352"/>
          </a:xfrm>
          <a:prstGeom prst="rect">
            <a:avLst/>
          </a:prstGeom>
          <a:noFill/>
          <a:ln/>
        </p:spPr>
        <p:txBody>
          <a:bodyPr wrap="square" lIns="0" tIns="0" rIns="0" bIns="0" rtlCol="0" anchor="ctr"/>
          <a:lstStyle/>
          <a:p>
            <a:pPr algn="ctr" indent="0" marL="0">
              <a:buNone/>
            </a:pPr>
            <a:r>
              <a:rPr lang="en-US" sz="1200" b="1" dirty="0">
                <a:solidFill>
                  <a:schemeClr val="bg1"/>
                </a:solidFill>
              </a:rPr>
              <a:t>3D structure rescue</a:t>
            </a:r>
            <a:endParaRPr lang="en-US" sz="1200" dirty="0"/>
          </a:p>
        </p:txBody>
      </p:sp>
      <p:sp>
        <p:nvSpPr>
          <p:cNvPr id="25" name="Shape 23"/>
          <p:cNvSpPr/>
          <p:nvPr/>
        </p:nvSpPr>
        <p:spPr>
          <a:xfrm>
            <a:off x="2926080" y="2898648"/>
            <a:ext cx="1600200" cy="530352"/>
          </a:xfrm>
          <a:prstGeom prst="roundRect">
            <a:avLst>
              <a:gd name="adj" fmla="val 20690"/>
            </a:avLst>
          </a:prstGeom>
          <a:solidFill>
            <a:schemeClr val="accent4">
              <a:alpha val="85000"/>
            </a:schemeClr>
          </a:solidFill>
          <a:ln w="12700">
            <a:solidFill>
              <a:schemeClr val="accent4"/>
            </a:solidFill>
            <a:prstDash val="solid"/>
          </a:ln>
        </p:spPr>
      </p:sp>
      <p:sp>
        <p:nvSpPr>
          <p:cNvPr id="26" name="Text 24"/>
          <p:cNvSpPr txBox="1"/>
          <p:nvPr/>
        </p:nvSpPr>
        <p:spPr>
          <a:xfrm>
            <a:off x="2926080" y="2898648"/>
            <a:ext cx="1600200" cy="530352"/>
          </a:xfrm>
          <a:prstGeom prst="rect">
            <a:avLst/>
          </a:prstGeom>
          <a:noFill/>
          <a:ln/>
        </p:spPr>
        <p:txBody>
          <a:bodyPr wrap="square" lIns="0" tIns="0" rIns="0" bIns="0" rtlCol="0" anchor="ctr"/>
          <a:lstStyle/>
          <a:p>
            <a:pPr algn="ctr" indent="0" marL="0">
              <a:buNone/>
            </a:pPr>
            <a:r>
              <a:rPr lang="en-US" sz="1200" b="1" dirty="0">
                <a:solidFill>
                  <a:schemeClr val="bg1"/>
                </a:solidFill>
              </a:rPr>
              <a:t>pLM neighbours</a:t>
            </a:r>
            <a:endParaRPr lang="en-US" sz="1200" dirty="0"/>
          </a:p>
        </p:txBody>
      </p:sp>
      <p:sp>
        <p:nvSpPr>
          <p:cNvPr id="27" name="Shape 25"/>
          <p:cNvSpPr/>
          <p:nvPr/>
        </p:nvSpPr>
        <p:spPr>
          <a:xfrm>
            <a:off x="5303520" y="2240280"/>
            <a:ext cx="1600200" cy="530352"/>
          </a:xfrm>
          <a:prstGeom prst="roundRect">
            <a:avLst>
              <a:gd name="adj" fmla="val 20690"/>
            </a:avLst>
          </a:prstGeom>
          <a:solidFill>
            <a:schemeClr val="accent3">
              <a:alpha val="85000"/>
            </a:schemeClr>
          </a:solidFill>
          <a:ln w="12700">
            <a:solidFill>
              <a:schemeClr val="accent3"/>
            </a:solidFill>
            <a:prstDash val="solid"/>
          </a:ln>
        </p:spPr>
      </p:sp>
      <p:sp>
        <p:nvSpPr>
          <p:cNvPr id="28" name="Text 26"/>
          <p:cNvSpPr txBox="1"/>
          <p:nvPr/>
        </p:nvSpPr>
        <p:spPr>
          <a:xfrm>
            <a:off x="5303520" y="2240280"/>
            <a:ext cx="1600200" cy="530352"/>
          </a:xfrm>
          <a:prstGeom prst="rect">
            <a:avLst/>
          </a:prstGeom>
          <a:noFill/>
          <a:ln/>
        </p:spPr>
        <p:txBody>
          <a:bodyPr wrap="square" lIns="0" tIns="0" rIns="0" bIns="0" rtlCol="0" anchor="ctr"/>
          <a:lstStyle/>
          <a:p>
            <a:pPr algn="ctr" indent="0" marL="0">
              <a:buNone/>
            </a:pPr>
            <a:r>
              <a:rPr lang="en-US" sz="1200" b="1" dirty="0">
                <a:solidFill>
                  <a:schemeClr val="bg1"/>
                </a:solidFill>
              </a:rPr>
              <a:t>GPU alignment</a:t>
            </a:r>
            <a:endParaRPr lang="en-US" sz="1200" dirty="0"/>
          </a:p>
        </p:txBody>
      </p:sp>
      <p:sp>
        <p:nvSpPr>
          <p:cNvPr id="29" name="Shape 27"/>
          <p:cNvSpPr/>
          <p:nvPr/>
        </p:nvSpPr>
        <p:spPr>
          <a:xfrm>
            <a:off x="7269480" y="2240280"/>
            <a:ext cx="1143000" cy="530352"/>
          </a:xfrm>
          <a:prstGeom prst="roundRect">
            <a:avLst>
              <a:gd name="adj" fmla="val 20690"/>
            </a:avLst>
          </a:prstGeom>
          <a:solidFill>
            <a:schemeClr val="accent2">
              <a:alpha val="85000"/>
            </a:schemeClr>
          </a:solidFill>
          <a:ln w="12700">
            <a:solidFill>
              <a:schemeClr val="accent2"/>
            </a:solidFill>
            <a:prstDash val="solid"/>
          </a:ln>
        </p:spPr>
      </p:sp>
      <p:sp>
        <p:nvSpPr>
          <p:cNvPr id="30" name="Text 28"/>
          <p:cNvSpPr txBox="1"/>
          <p:nvPr/>
        </p:nvSpPr>
        <p:spPr>
          <a:xfrm>
            <a:off x="7269480" y="2240280"/>
            <a:ext cx="1143000" cy="530352"/>
          </a:xfrm>
          <a:prstGeom prst="rect">
            <a:avLst/>
          </a:prstGeom>
          <a:noFill/>
          <a:ln/>
        </p:spPr>
        <p:txBody>
          <a:bodyPr wrap="square" lIns="0" tIns="0" rIns="0" bIns="0" rtlCol="0" anchor="ctr"/>
          <a:lstStyle/>
          <a:p>
            <a:pPr algn="ctr" indent="0" marL="0">
              <a:buNone/>
            </a:pPr>
            <a:r>
              <a:rPr lang="en-US" sz="1200" b="1" dirty="0">
                <a:solidFill>
                  <a:schemeClr val="bg1"/>
                </a:solidFill>
              </a:rPr>
              <a:t>Gene order</a:t>
            </a:r>
            <a:endParaRPr lang="en-US" sz="1200" dirty="0"/>
          </a:p>
        </p:txBody>
      </p:sp>
      <p:sp>
        <p:nvSpPr>
          <p:cNvPr id="31" name="Shape 29"/>
          <p:cNvSpPr/>
          <p:nvPr/>
        </p:nvSpPr>
        <p:spPr>
          <a:xfrm>
            <a:off x="8476488" y="2240280"/>
            <a:ext cx="1143000" cy="530352"/>
          </a:xfrm>
          <a:prstGeom prst="roundRect">
            <a:avLst>
              <a:gd name="adj" fmla="val 20690"/>
            </a:avLst>
          </a:prstGeom>
          <a:solidFill>
            <a:schemeClr val="accent3">
              <a:alpha val="85000"/>
            </a:schemeClr>
          </a:solidFill>
          <a:ln w="12700">
            <a:solidFill>
              <a:schemeClr val="accent3"/>
            </a:solidFill>
            <a:prstDash val="solid"/>
          </a:ln>
        </p:spPr>
      </p:sp>
      <p:sp>
        <p:nvSpPr>
          <p:cNvPr id="32" name="Text 30"/>
          <p:cNvSpPr txBox="1"/>
          <p:nvPr/>
        </p:nvSpPr>
        <p:spPr>
          <a:xfrm>
            <a:off x="8476488" y="2240280"/>
            <a:ext cx="1143000" cy="530352"/>
          </a:xfrm>
          <a:prstGeom prst="rect">
            <a:avLst/>
          </a:prstGeom>
          <a:noFill/>
          <a:ln/>
        </p:spPr>
        <p:txBody>
          <a:bodyPr wrap="square" lIns="0" tIns="0" rIns="0" bIns="0" rtlCol="0" anchor="ctr"/>
          <a:lstStyle/>
          <a:p>
            <a:pPr algn="ctr" indent="0" marL="0">
              <a:buNone/>
            </a:pPr>
            <a:r>
              <a:rPr lang="en-US" sz="1200" b="1" dirty="0">
                <a:solidFill>
                  <a:schemeClr val="bg1"/>
                </a:solidFill>
              </a:rPr>
              <a:t>Species tree</a:t>
            </a:r>
            <a:endParaRPr lang="en-US" sz="1200" dirty="0"/>
          </a:p>
        </p:txBody>
      </p:sp>
      <p:sp>
        <p:nvSpPr>
          <p:cNvPr id="33" name="Shape 31"/>
          <p:cNvSpPr/>
          <p:nvPr/>
        </p:nvSpPr>
        <p:spPr>
          <a:xfrm>
            <a:off x="7269480" y="2898648"/>
            <a:ext cx="1143000" cy="530352"/>
          </a:xfrm>
          <a:prstGeom prst="roundRect">
            <a:avLst>
              <a:gd name="adj" fmla="val 20690"/>
            </a:avLst>
          </a:prstGeom>
          <a:solidFill>
            <a:schemeClr val="accent4">
              <a:alpha val="85000"/>
            </a:schemeClr>
          </a:solidFill>
          <a:ln w="12700">
            <a:solidFill>
              <a:schemeClr val="accent4"/>
            </a:solidFill>
            <a:prstDash val="solid"/>
          </a:ln>
        </p:spPr>
      </p:sp>
      <p:sp>
        <p:nvSpPr>
          <p:cNvPr id="34" name="Text 32"/>
          <p:cNvSpPr txBox="1"/>
          <p:nvPr/>
        </p:nvSpPr>
        <p:spPr>
          <a:xfrm>
            <a:off x="7269480" y="2898648"/>
            <a:ext cx="1143000" cy="530352"/>
          </a:xfrm>
          <a:prstGeom prst="rect">
            <a:avLst/>
          </a:prstGeom>
          <a:noFill/>
          <a:ln/>
        </p:spPr>
        <p:txBody>
          <a:bodyPr wrap="square" lIns="0" tIns="0" rIns="0" bIns="0" rtlCol="0" anchor="ctr"/>
          <a:lstStyle/>
          <a:p>
            <a:pPr algn="ctr" indent="0" marL="0">
              <a:buNone/>
            </a:pPr>
            <a:r>
              <a:rPr lang="en-US" sz="1200" b="1" dirty="0">
                <a:solidFill>
                  <a:schemeClr val="bg1"/>
                </a:solidFill>
              </a:rPr>
              <a:t>Domains</a:t>
            </a:r>
            <a:endParaRPr lang="en-US" sz="1200" dirty="0"/>
          </a:p>
        </p:txBody>
      </p:sp>
      <p:sp>
        <p:nvSpPr>
          <p:cNvPr id="35" name="Shape 33"/>
          <p:cNvSpPr/>
          <p:nvPr/>
        </p:nvSpPr>
        <p:spPr>
          <a:xfrm>
            <a:off x="8476488" y="2898648"/>
            <a:ext cx="1143000" cy="530352"/>
          </a:xfrm>
          <a:prstGeom prst="roundRect">
            <a:avLst>
              <a:gd name="adj" fmla="val 20690"/>
            </a:avLst>
          </a:prstGeom>
          <a:solidFill>
            <a:schemeClr val="accent4">
              <a:alpha val="85000"/>
            </a:schemeClr>
          </a:solidFill>
          <a:ln w="12700">
            <a:solidFill>
              <a:schemeClr val="accent4"/>
            </a:solidFill>
            <a:prstDash val="solid"/>
          </a:ln>
        </p:spPr>
      </p:sp>
      <p:sp>
        <p:nvSpPr>
          <p:cNvPr id="36" name="Text 34"/>
          <p:cNvSpPr txBox="1"/>
          <p:nvPr/>
        </p:nvSpPr>
        <p:spPr>
          <a:xfrm>
            <a:off x="8476488" y="2898648"/>
            <a:ext cx="1143000" cy="530352"/>
          </a:xfrm>
          <a:prstGeom prst="rect">
            <a:avLst/>
          </a:prstGeom>
          <a:noFill/>
          <a:ln/>
        </p:spPr>
        <p:txBody>
          <a:bodyPr wrap="square" lIns="0" tIns="0" rIns="0" bIns="0" rtlCol="0" anchor="ctr"/>
          <a:lstStyle/>
          <a:p>
            <a:pPr algn="ctr" indent="0" marL="0">
              <a:buNone/>
            </a:pPr>
            <a:r>
              <a:rPr lang="en-US" sz="1200" b="1" dirty="0">
                <a:solidFill>
                  <a:schemeClr val="bg1"/>
                </a:solidFill>
              </a:rPr>
              <a:t>Expression</a:t>
            </a:r>
            <a:endParaRPr lang="en-US" sz="1200" dirty="0"/>
          </a:p>
        </p:txBody>
      </p:sp>
      <p:sp>
        <p:nvSpPr>
          <p:cNvPr id="37" name="Shape 35"/>
          <p:cNvSpPr/>
          <p:nvPr/>
        </p:nvSpPr>
        <p:spPr>
          <a:xfrm>
            <a:off x="7269480" y="3557016"/>
            <a:ext cx="1143000" cy="530352"/>
          </a:xfrm>
          <a:prstGeom prst="roundRect">
            <a:avLst>
              <a:gd name="adj" fmla="val 20690"/>
            </a:avLst>
          </a:prstGeom>
          <a:solidFill>
            <a:schemeClr val="accent4">
              <a:alpha val="85000"/>
            </a:schemeClr>
          </a:solidFill>
          <a:ln w="12700">
            <a:solidFill>
              <a:schemeClr val="accent4"/>
            </a:solidFill>
            <a:prstDash val="solid"/>
          </a:ln>
        </p:spPr>
      </p:sp>
      <p:sp>
        <p:nvSpPr>
          <p:cNvPr id="38" name="Text 36"/>
          <p:cNvSpPr txBox="1"/>
          <p:nvPr/>
        </p:nvSpPr>
        <p:spPr>
          <a:xfrm>
            <a:off x="7269480" y="3557016"/>
            <a:ext cx="1143000" cy="530352"/>
          </a:xfrm>
          <a:prstGeom prst="rect">
            <a:avLst/>
          </a:prstGeom>
          <a:noFill/>
          <a:ln/>
        </p:spPr>
        <p:txBody>
          <a:bodyPr wrap="square" lIns="0" tIns="0" rIns="0" bIns="0" rtlCol="0" anchor="ctr"/>
          <a:lstStyle/>
          <a:p>
            <a:pPr algn="ctr" indent="0" marL="0">
              <a:buNone/>
            </a:pPr>
            <a:r>
              <a:rPr lang="en-US" sz="1200" b="1" dirty="0">
                <a:solidFill>
                  <a:schemeClr val="bg1"/>
                </a:solidFill>
              </a:rPr>
              <a:t>Networks</a:t>
            </a:r>
            <a:endParaRPr lang="en-US" sz="1200" dirty="0"/>
          </a:p>
        </p:txBody>
      </p:sp>
      <p:sp>
        <p:nvSpPr>
          <p:cNvPr id="39" name="Shape 37"/>
          <p:cNvSpPr/>
          <p:nvPr/>
        </p:nvSpPr>
        <p:spPr>
          <a:xfrm>
            <a:off x="8476488" y="3557016"/>
            <a:ext cx="1143000" cy="530352"/>
          </a:xfrm>
          <a:prstGeom prst="roundRect">
            <a:avLst>
              <a:gd name="adj" fmla="val 20690"/>
            </a:avLst>
          </a:prstGeom>
          <a:solidFill>
            <a:schemeClr val="accent4">
              <a:alpha val="85000"/>
            </a:schemeClr>
          </a:solidFill>
          <a:ln w="12700">
            <a:solidFill>
              <a:schemeClr val="accent4"/>
            </a:solidFill>
            <a:prstDash val="solid"/>
          </a:ln>
        </p:spPr>
      </p:sp>
      <p:sp>
        <p:nvSpPr>
          <p:cNvPr id="40" name="Text 38"/>
          <p:cNvSpPr txBox="1"/>
          <p:nvPr/>
        </p:nvSpPr>
        <p:spPr>
          <a:xfrm>
            <a:off x="8476488" y="3557016"/>
            <a:ext cx="1143000" cy="530352"/>
          </a:xfrm>
          <a:prstGeom prst="rect">
            <a:avLst/>
          </a:prstGeom>
          <a:noFill/>
          <a:ln/>
        </p:spPr>
        <p:txBody>
          <a:bodyPr wrap="square" lIns="0" tIns="0" rIns="0" bIns="0" rtlCol="0" anchor="ctr"/>
          <a:lstStyle/>
          <a:p>
            <a:pPr algn="ctr" indent="0" marL="0">
              <a:buNone/>
            </a:pPr>
            <a:r>
              <a:rPr lang="en-US" sz="1200" b="1" dirty="0">
                <a:solidFill>
                  <a:schemeClr val="bg1"/>
                </a:solidFill>
              </a:rPr>
              <a:t>Abundance</a:t>
            </a:r>
            <a:endParaRPr lang="en-US" sz="1200" dirty="0"/>
          </a:p>
        </p:txBody>
      </p:sp>
      <p:sp>
        <p:nvSpPr>
          <p:cNvPr id="41" name="Shape 39"/>
          <p:cNvSpPr/>
          <p:nvPr/>
        </p:nvSpPr>
        <p:spPr>
          <a:xfrm>
            <a:off x="7269480" y="4215384"/>
            <a:ext cx="1143000" cy="530352"/>
          </a:xfrm>
          <a:prstGeom prst="roundRect">
            <a:avLst>
              <a:gd name="adj" fmla="val 20690"/>
            </a:avLst>
          </a:prstGeom>
          <a:solidFill>
            <a:schemeClr val="accent4">
              <a:alpha val="85000"/>
            </a:schemeClr>
          </a:solidFill>
          <a:ln w="12700">
            <a:solidFill>
              <a:schemeClr val="accent4"/>
            </a:solidFill>
            <a:prstDash val="solid"/>
          </a:ln>
        </p:spPr>
      </p:sp>
      <p:sp>
        <p:nvSpPr>
          <p:cNvPr id="42" name="Text 40"/>
          <p:cNvSpPr txBox="1"/>
          <p:nvPr/>
        </p:nvSpPr>
        <p:spPr>
          <a:xfrm>
            <a:off x="7269480" y="4215384"/>
            <a:ext cx="1143000" cy="530352"/>
          </a:xfrm>
          <a:prstGeom prst="rect">
            <a:avLst/>
          </a:prstGeom>
          <a:noFill/>
          <a:ln/>
        </p:spPr>
        <p:txBody>
          <a:bodyPr wrap="square" lIns="0" tIns="0" rIns="0" bIns="0" rtlCol="0" anchor="ctr"/>
          <a:lstStyle/>
          <a:p>
            <a:pPr algn="ctr" indent="0" marL="0">
              <a:buNone/>
            </a:pPr>
            <a:r>
              <a:rPr lang="en-US" sz="1200" b="1" dirty="0">
                <a:solidFill>
                  <a:schemeClr val="bg1"/>
                </a:solidFill>
              </a:rPr>
              <a:t>Protein LMs</a:t>
            </a:r>
            <a:endParaRPr lang="en-US" sz="1200" dirty="0"/>
          </a:p>
        </p:txBody>
      </p:sp>
      <p:sp>
        <p:nvSpPr>
          <p:cNvPr id="43" name="Shape 41"/>
          <p:cNvSpPr/>
          <p:nvPr/>
        </p:nvSpPr>
        <p:spPr>
          <a:xfrm>
            <a:off x="8476488" y="4215384"/>
            <a:ext cx="1143000" cy="530352"/>
          </a:xfrm>
          <a:prstGeom prst="roundRect">
            <a:avLst>
              <a:gd name="adj" fmla="val 20690"/>
            </a:avLst>
          </a:prstGeom>
          <a:solidFill>
            <a:schemeClr val="accent4">
              <a:alpha val="85000"/>
            </a:schemeClr>
          </a:solidFill>
          <a:ln w="12700">
            <a:solidFill>
              <a:schemeClr val="accent4"/>
            </a:solidFill>
            <a:prstDash val="solid"/>
          </a:ln>
        </p:spPr>
      </p:sp>
      <p:sp>
        <p:nvSpPr>
          <p:cNvPr id="44" name="Text 42"/>
          <p:cNvSpPr txBox="1"/>
          <p:nvPr/>
        </p:nvSpPr>
        <p:spPr>
          <a:xfrm>
            <a:off x="8476488" y="4215384"/>
            <a:ext cx="1143000" cy="530352"/>
          </a:xfrm>
          <a:prstGeom prst="rect">
            <a:avLst/>
          </a:prstGeom>
          <a:noFill/>
          <a:ln/>
        </p:spPr>
        <p:txBody>
          <a:bodyPr wrap="square" lIns="0" tIns="0" rIns="0" bIns="0" rtlCol="0" anchor="ctr"/>
          <a:lstStyle/>
          <a:p>
            <a:pPr algn="ctr" indent="0" marL="0">
              <a:buNone/>
            </a:pPr>
            <a:r>
              <a:rPr lang="en-US" sz="1200" b="1" dirty="0">
                <a:solidFill>
                  <a:schemeClr val="bg1"/>
                </a:solidFill>
              </a:rPr>
              <a:t>Introns</a:t>
            </a:r>
            <a:endParaRPr lang="en-US" sz="1200" dirty="0"/>
          </a:p>
        </p:txBody>
      </p:sp>
      <p:sp>
        <p:nvSpPr>
          <p:cNvPr id="45" name="Shape 43"/>
          <p:cNvSpPr/>
          <p:nvPr/>
        </p:nvSpPr>
        <p:spPr>
          <a:xfrm>
            <a:off x="548640" y="5715000"/>
            <a:ext cx="274320" cy="274320"/>
          </a:xfrm>
          <a:prstGeom prst="ellipse">
            <a:avLst/>
          </a:prstGeom>
          <a:solidFill>
            <a:schemeClr val="accent3"/>
          </a:solidFill>
          <a:ln w="12700">
            <a:solidFill>
              <a:schemeClr val="accent3"/>
            </a:solidFill>
            <a:prstDash val="solid"/>
          </a:ln>
        </p:spPr>
      </p:sp>
      <p:sp>
        <p:nvSpPr>
          <p:cNvPr id="46" name="Text 44"/>
          <p:cNvSpPr txBox="1"/>
          <p:nvPr/>
        </p:nvSpPr>
        <p:spPr>
          <a:xfrm>
            <a:off x="914400" y="5687568"/>
            <a:ext cx="2834640" cy="320040"/>
          </a:xfrm>
          <a:prstGeom prst="rect">
            <a:avLst/>
          </a:prstGeom>
          <a:noFill/>
          <a:ln/>
        </p:spPr>
        <p:txBody>
          <a:bodyPr wrap="square" lIns="0" tIns="0" rIns="0" bIns="0" rtlCol="0" anchor="t"/>
          <a:lstStyle/>
          <a:p>
            <a:pPr indent="0" marL="0">
              <a:buNone/>
            </a:pPr>
            <a:r>
              <a:rPr lang="en-US" sz="1400" dirty="0">
                <a:solidFill>
                  <a:schemeClr val="tx1"/>
                </a:solidFill>
              </a:rPr>
              <a:t>kept / useful</a:t>
            </a:r>
            <a:endParaRPr lang="en-US" sz="1400" dirty="0"/>
          </a:p>
        </p:txBody>
      </p:sp>
      <p:sp>
        <p:nvSpPr>
          <p:cNvPr id="47" name="Shape 45"/>
          <p:cNvSpPr/>
          <p:nvPr/>
        </p:nvSpPr>
        <p:spPr>
          <a:xfrm>
            <a:off x="3840480" y="5715000"/>
            <a:ext cx="274320" cy="274320"/>
          </a:xfrm>
          <a:prstGeom prst="ellipse">
            <a:avLst/>
          </a:prstGeom>
          <a:solidFill>
            <a:schemeClr val="accent2"/>
          </a:solidFill>
          <a:ln w="12700">
            <a:solidFill>
              <a:schemeClr val="accent2"/>
            </a:solidFill>
            <a:prstDash val="solid"/>
          </a:ln>
        </p:spPr>
      </p:sp>
      <p:sp>
        <p:nvSpPr>
          <p:cNvPr id="48" name="Text 46"/>
          <p:cNvSpPr txBox="1"/>
          <p:nvPr/>
        </p:nvSpPr>
        <p:spPr>
          <a:xfrm>
            <a:off x="4206240" y="5687568"/>
            <a:ext cx="2834640" cy="320040"/>
          </a:xfrm>
          <a:prstGeom prst="rect">
            <a:avLst/>
          </a:prstGeom>
          <a:noFill/>
          <a:ln/>
        </p:spPr>
        <p:txBody>
          <a:bodyPr wrap="square" lIns="0" tIns="0" rIns="0" bIns="0" rtlCol="0" anchor="t"/>
          <a:lstStyle/>
          <a:p>
            <a:pPr indent="0" marL="0">
              <a:buNone/>
            </a:pPr>
            <a:r>
              <a:rPr lang="en-US" sz="1400" dirty="0">
                <a:solidFill>
                  <a:schemeClr val="tx1"/>
                </a:solidFill>
              </a:rPr>
              <a:t>option, no held-out gain</a:t>
            </a:r>
            <a:endParaRPr lang="en-US" sz="1400" dirty="0"/>
          </a:p>
        </p:txBody>
      </p:sp>
      <p:sp>
        <p:nvSpPr>
          <p:cNvPr id="49" name="Shape 47"/>
          <p:cNvSpPr/>
          <p:nvPr/>
        </p:nvSpPr>
        <p:spPr>
          <a:xfrm>
            <a:off x="7132320" y="5715000"/>
            <a:ext cx="274320" cy="274320"/>
          </a:xfrm>
          <a:prstGeom prst="ellipse">
            <a:avLst/>
          </a:prstGeom>
          <a:solidFill>
            <a:schemeClr val="accent4"/>
          </a:solidFill>
          <a:ln w="12700">
            <a:solidFill>
              <a:schemeClr val="accent4"/>
            </a:solidFill>
            <a:prstDash val="solid"/>
          </a:ln>
        </p:spPr>
      </p:sp>
      <p:sp>
        <p:nvSpPr>
          <p:cNvPr id="50" name="Text 48"/>
          <p:cNvSpPr txBox="1"/>
          <p:nvPr/>
        </p:nvSpPr>
        <p:spPr>
          <a:xfrm>
            <a:off x="7498080" y="5687568"/>
            <a:ext cx="2834640" cy="320040"/>
          </a:xfrm>
          <a:prstGeom prst="rect">
            <a:avLst/>
          </a:prstGeom>
          <a:noFill/>
          <a:ln/>
        </p:spPr>
        <p:txBody>
          <a:bodyPr wrap="square" lIns="0" tIns="0" rIns="0" bIns="0" rtlCol="0" anchor="t"/>
          <a:lstStyle/>
          <a:p>
            <a:pPr indent="0" marL="0">
              <a:buNone/>
            </a:pPr>
            <a:r>
              <a:rPr lang="en-US" sz="1400" dirty="0">
                <a:solidFill>
                  <a:schemeClr val="tx1"/>
                </a:solidFill>
              </a:rPr>
              <a:t>rejected</a:t>
            </a:r>
            <a:endParaRPr lang="en-US" sz="14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l"/>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Gene order (synteny)</a:t>
            </a:r>
            <a:endParaRPr lang="en-US" sz="3200" dirty="0"/>
          </a:p>
        </p:txBody>
      </p:sp>
      <p:pic>
        <p:nvPicPr>
          <p:cNvPr id="3" name="Image 0" descr="Conserved neighbours link orthologs between human and mouse">    </p:cNvPr>
          <p:cNvPicPr>
            <a:picLocks noChangeAspect="1"/>
          </p:cNvPicPr>
          <p:nvPr/>
        </p:nvPicPr>
        <p:blipFill>
          <a:blip r:embed="rId1"/>
          <a:stretch>
            <a:fillRect/>
          </a:stretch>
        </p:blipFill>
        <p:spPr>
          <a:xfrm>
            <a:off x="457200" y="1325880"/>
            <a:ext cx="5852160" cy="3657600"/>
          </a:xfrm>
          <a:prstGeom prst="rect">
            <a:avLst/>
          </a:prstGeom>
        </p:spPr>
      </p:pic>
      <p:sp>
        <p:nvSpPr>
          <p:cNvPr id="4" name="Shape 1"/>
          <p:cNvSpPr/>
          <p:nvPr/>
        </p:nvSpPr>
        <p:spPr>
          <a:xfrm>
            <a:off x="548640" y="5394960"/>
            <a:ext cx="2011680" cy="438912"/>
          </a:xfrm>
          <a:prstGeom prst="roundRect">
            <a:avLst>
              <a:gd name="adj" fmla="val 25000"/>
            </a:avLst>
          </a:prstGeom>
          <a:solidFill>
            <a:schemeClr val="accent6"/>
          </a:solidFill>
          <a:ln w="12700">
            <a:solidFill>
              <a:schemeClr val="accent6"/>
            </a:solidFill>
            <a:prstDash val="solid"/>
          </a:ln>
        </p:spPr>
      </p:sp>
      <p:sp>
        <p:nvSpPr>
          <p:cNvPr id="5" name="Text 2"/>
          <p:cNvSpPr txBox="1"/>
          <p:nvPr/>
        </p:nvSpPr>
        <p:spPr>
          <a:xfrm>
            <a:off x="548640" y="5394960"/>
            <a:ext cx="2011680" cy="438912"/>
          </a:xfrm>
          <a:prstGeom prst="rect">
            <a:avLst/>
          </a:prstGeom>
          <a:noFill/>
          <a:ln/>
        </p:spPr>
        <p:txBody>
          <a:bodyPr wrap="square" lIns="508" tIns="508" rIns="508" bIns="508" rtlCol="0" anchor="ctr"/>
          <a:lstStyle/>
          <a:p>
            <a:pPr algn="ctr" indent="0" marL="0">
              <a:buNone/>
            </a:pPr>
            <a:r>
              <a:rPr lang="en-US" sz="1200" b="1" dirty="0">
                <a:solidFill>
                  <a:schemeClr val="bg1"/>
                </a:solidFill>
              </a:rPr>
              <a:t>Rounds 1 + 2</a:t>
            </a:r>
            <a:endParaRPr lang="en-US" sz="1200" dirty="0"/>
          </a:p>
        </p:txBody>
      </p:sp>
      <p:sp>
        <p:nvSpPr>
          <p:cNvPr id="6" name="Text 3"/>
          <p:cNvSpPr txBox="1"/>
          <p:nvPr/>
        </p:nvSpPr>
        <p:spPr>
          <a:xfrm>
            <a:off x="2697480" y="5349240"/>
            <a:ext cx="3749040" cy="868680"/>
          </a:xfrm>
          <a:prstGeom prst="rect">
            <a:avLst/>
          </a:prstGeom>
          <a:noFill/>
          <a:ln/>
        </p:spPr>
        <p:txBody>
          <a:bodyPr wrap="square" lIns="0" tIns="0" rIns="0" bIns="0" rtlCol="0" anchor="t"/>
          <a:lstStyle/>
          <a:p>
            <a:pPr indent="0" marL="0">
              <a:buNone/>
            </a:pPr>
            <a:r>
              <a:rPr lang="en-US" sz="1300" i="1" dirty="0">
                <a:solidFill>
                  <a:schemeClr val="accent6"/>
                </a:solidFill>
              </a:rPr>
              <a:t>Neighbouring genes stay together; the true ortholog shares them.</a:t>
            </a:r>
            <a:endParaRPr lang="en-US" sz="1300" dirty="0"/>
          </a:p>
        </p:txBody>
      </p:sp>
      <p:sp>
        <p:nvSpPr>
          <p:cNvPr id="7" name="Text 4"/>
          <p:cNvSpPr txBox="1"/>
          <p:nvPr/>
        </p:nvSpPr>
        <p:spPr>
          <a:xfrm>
            <a:off x="6720840" y="1325880"/>
            <a:ext cx="4937760" cy="365760"/>
          </a:xfrm>
          <a:prstGeom prst="rect">
            <a:avLst/>
          </a:prstGeom>
          <a:noFill/>
          <a:ln/>
        </p:spPr>
        <p:txBody>
          <a:bodyPr wrap="square" lIns="0" tIns="0" rIns="0" bIns="0" rtlCol="0" anchor="t"/>
          <a:lstStyle/>
          <a:p>
            <a:pPr indent="0" marL="0">
              <a:buNone/>
            </a:pPr>
            <a:r>
              <a:rPr lang="en-US" sz="1800" b="1" dirty="0">
                <a:solidFill>
                  <a:schemeClr val="accent3"/>
                </a:solidFill>
              </a:rPr>
              <a:t>✓  Pros</a:t>
            </a:r>
            <a:endParaRPr lang="en-US" sz="1800" dirty="0"/>
          </a:p>
        </p:txBody>
      </p:sp>
      <p:sp>
        <p:nvSpPr>
          <p:cNvPr id="8" name="Text 5"/>
          <p:cNvSpPr txBox="1"/>
          <p:nvPr/>
        </p:nvSpPr>
        <p:spPr>
          <a:xfrm>
            <a:off x="6720840" y="1737360"/>
            <a:ext cx="4937760" cy="150876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Strong alone: AUC 0.92 human–mouse (shuffled 0.50)</a:t>
            </a:r>
            <a:endParaRPr lang="en-US" sz="1500" dirty="0"/>
          </a:p>
          <a:p>
            <a:pPr marL="342900" indent="-342900">
              <a:spcAft>
                <a:spcPts val="600"/>
              </a:spcAft>
              <a:buSzPct val="100000"/>
              <a:buChar char="•"/>
            </a:pPr>
            <a:r>
              <a:rPr lang="en-US" sz="1500" dirty="0">
                <a:solidFill>
                  <a:schemeClr val="tx1"/>
                </a:solidFill>
              </a:rPr>
              <a:t>Hard cases +0.16 on development data</a:t>
            </a:r>
            <a:endParaRPr lang="en-US" sz="1500" dirty="0"/>
          </a:p>
          <a:p>
            <a:pPr marL="342900" indent="-342900">
              <a:spcAft>
                <a:spcPts val="600"/>
              </a:spcAft>
              <a:buSzPct val="100000"/>
              <a:buChar char="•"/>
            </a:pPr>
            <a:r>
              <a:rPr lang="en-US" sz="1500" dirty="0">
                <a:solidFill>
                  <a:schemeClr val="tx1"/>
                </a:solidFill>
              </a:rPr>
              <a:t>Repair rule cut fission candidates by 29–40%</a:t>
            </a:r>
            <a:endParaRPr lang="en-US" sz="1500" dirty="0"/>
          </a:p>
        </p:txBody>
      </p:sp>
      <p:sp>
        <p:nvSpPr>
          <p:cNvPr id="9" name="Text 6"/>
          <p:cNvSpPr txBox="1"/>
          <p:nvPr/>
        </p:nvSpPr>
        <p:spPr>
          <a:xfrm>
            <a:off x="6720840" y="3291840"/>
            <a:ext cx="4937760" cy="365760"/>
          </a:xfrm>
          <a:prstGeom prst="rect">
            <a:avLst/>
          </a:prstGeom>
          <a:noFill/>
          <a:ln/>
        </p:spPr>
        <p:txBody>
          <a:bodyPr wrap="square" lIns="0" tIns="0" rIns="0" bIns="0" rtlCol="0" anchor="t"/>
          <a:lstStyle/>
          <a:p>
            <a:pPr indent="0" marL="0">
              <a:buNone/>
            </a:pPr>
            <a:r>
              <a:rPr lang="en-US" sz="1800" b="1" dirty="0">
                <a:solidFill>
                  <a:schemeClr val="accent4"/>
                </a:solidFill>
              </a:rPr>
              <a:t>✗  Cons</a:t>
            </a:r>
            <a:endParaRPr lang="en-US" sz="1800" dirty="0"/>
          </a:p>
        </p:txBody>
      </p:sp>
      <p:sp>
        <p:nvSpPr>
          <p:cNvPr id="10" name="Text 7"/>
          <p:cNvSpPr txBox="1"/>
          <p:nvPr/>
        </p:nvSpPr>
        <p:spPr>
          <a:xfrm>
            <a:off x="6720840" y="3703320"/>
            <a:ext cx="4937760" cy="150876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No signal at deep splits (human–fly 0.49)</a:t>
            </a:r>
            <a:endParaRPr lang="en-US" sz="1500" dirty="0"/>
          </a:p>
          <a:p>
            <a:pPr marL="342900" indent="-342900">
              <a:spcAft>
                <a:spcPts val="600"/>
              </a:spcAft>
              <a:buSzPct val="100000"/>
              <a:buChar char="•"/>
            </a:pPr>
            <a:r>
              <a:rPr lang="en-US" sz="1500" dirty="0">
                <a:solidFill>
                  <a:schemeClr val="tx1"/>
                </a:solidFill>
              </a:rPr>
              <a:t>Sequence already solves the same cases</a:t>
            </a:r>
            <a:endParaRPr lang="en-US" sz="1500" dirty="0"/>
          </a:p>
          <a:p>
            <a:pPr marL="342900" indent="-342900">
              <a:spcAft>
                <a:spcPts val="600"/>
              </a:spcAft>
              <a:buSzPct val="100000"/>
              <a:buChar char="•"/>
            </a:pPr>
            <a:r>
              <a:rPr lang="en-US" sz="1500" dirty="0">
                <a:solidFill>
                  <a:schemeClr val="tx1"/>
                </a:solidFill>
              </a:rPr>
              <a:t>Test: −0.1 F and −0.012 recall when removed</a:t>
            </a:r>
            <a:endParaRPr lang="en-US" sz="1500" dirty="0"/>
          </a:p>
        </p:txBody>
      </p:sp>
      <p:sp>
        <p:nvSpPr>
          <p:cNvPr id="11" name="Shape 8"/>
          <p:cNvSpPr/>
          <p:nvPr/>
        </p:nvSpPr>
        <p:spPr>
          <a:xfrm>
            <a:off x="6720840" y="5349240"/>
            <a:ext cx="4937760" cy="685800"/>
          </a:xfrm>
          <a:prstGeom prst="roundRect">
            <a:avLst>
              <a:gd name="adj" fmla="val 16000"/>
            </a:avLst>
          </a:prstGeom>
          <a:solidFill>
            <a:schemeClr val="accent2"/>
          </a:solidFill>
          <a:ln w="12700">
            <a:solidFill>
              <a:schemeClr val="accent2"/>
            </a:solidFill>
            <a:prstDash val="solid"/>
          </a:ln>
        </p:spPr>
      </p:sp>
      <p:sp>
        <p:nvSpPr>
          <p:cNvPr id="12" name="Text 9"/>
          <p:cNvSpPr txBox="1"/>
          <p:nvPr/>
        </p:nvSpPr>
        <p:spPr>
          <a:xfrm>
            <a:off x="6903720" y="5349240"/>
            <a:ext cx="4663440" cy="685800"/>
          </a:xfrm>
          <a:prstGeom prst="rect">
            <a:avLst/>
          </a:prstGeom>
          <a:noFill/>
          <a:ln/>
        </p:spPr>
        <p:txBody>
          <a:bodyPr wrap="square" lIns="0" tIns="0" rIns="0" bIns="0" rtlCol="0" anchor="ctr"/>
          <a:lstStyle/>
          <a:p>
            <a:pPr indent="0" marL="0">
              <a:buNone/>
            </a:pPr>
            <a:r>
              <a:rPr lang="en-US" sz="1500" b="1" dirty="0">
                <a:solidFill>
                  <a:schemeClr val="bg1"/>
                </a:solidFill>
              </a:rPr>
              <a:t>Kept as an option (default on); no measurable held-out gain</a:t>
            </a:r>
            <a:endParaRPr lang="en-US" sz="15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l"/>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3D structure (3Di)</a:t>
            </a:r>
            <a:endParaRPr lang="en-US" sz="3200" dirty="0"/>
          </a:p>
        </p:txBody>
      </p:sp>
      <p:pic>
        <p:nvPicPr>
          <p:cNvPr id="3" name="Image 0" descr="Two proteins with different sequences but the same 3Di structure string">    </p:cNvPr>
          <p:cNvPicPr>
            <a:picLocks noChangeAspect="1"/>
          </p:cNvPicPr>
          <p:nvPr/>
        </p:nvPicPr>
        <p:blipFill>
          <a:blip r:embed="rId1"/>
          <a:stretch>
            <a:fillRect/>
          </a:stretch>
        </p:blipFill>
        <p:spPr>
          <a:xfrm>
            <a:off x="457200" y="1325880"/>
            <a:ext cx="5852160" cy="3657600"/>
          </a:xfrm>
          <a:prstGeom prst="rect">
            <a:avLst/>
          </a:prstGeom>
        </p:spPr>
      </p:pic>
      <p:sp>
        <p:nvSpPr>
          <p:cNvPr id="4" name="Shape 1"/>
          <p:cNvSpPr/>
          <p:nvPr/>
        </p:nvSpPr>
        <p:spPr>
          <a:xfrm>
            <a:off x="548640" y="5394960"/>
            <a:ext cx="2011680" cy="438912"/>
          </a:xfrm>
          <a:prstGeom prst="roundRect">
            <a:avLst>
              <a:gd name="adj" fmla="val 25000"/>
            </a:avLst>
          </a:prstGeom>
          <a:solidFill>
            <a:schemeClr val="accent6"/>
          </a:solidFill>
          <a:ln w="12700">
            <a:solidFill>
              <a:schemeClr val="accent6"/>
            </a:solidFill>
            <a:prstDash val="solid"/>
          </a:ln>
        </p:spPr>
      </p:sp>
      <p:sp>
        <p:nvSpPr>
          <p:cNvPr id="5" name="Text 2"/>
          <p:cNvSpPr txBox="1"/>
          <p:nvPr/>
        </p:nvSpPr>
        <p:spPr>
          <a:xfrm>
            <a:off x="548640" y="5394960"/>
            <a:ext cx="2011680" cy="438912"/>
          </a:xfrm>
          <a:prstGeom prst="rect">
            <a:avLst/>
          </a:prstGeom>
          <a:noFill/>
          <a:ln/>
        </p:spPr>
        <p:txBody>
          <a:bodyPr wrap="square" lIns="508" tIns="508" rIns="508" bIns="508" rtlCol="0" anchor="ctr"/>
          <a:lstStyle/>
          <a:p>
            <a:pPr algn="ctr" indent="0" marL="0">
              <a:buNone/>
            </a:pPr>
            <a:r>
              <a:rPr lang="en-US" sz="1200" b="1" dirty="0">
                <a:solidFill>
                  <a:schemeClr val="bg1"/>
                </a:solidFill>
              </a:rPr>
              <a:t>Rounds 1 + 2</a:t>
            </a:r>
            <a:endParaRPr lang="en-US" sz="1200" dirty="0"/>
          </a:p>
        </p:txBody>
      </p:sp>
      <p:sp>
        <p:nvSpPr>
          <p:cNvPr id="6" name="Text 3"/>
          <p:cNvSpPr txBox="1"/>
          <p:nvPr/>
        </p:nvSpPr>
        <p:spPr>
          <a:xfrm>
            <a:off x="2697480" y="5349240"/>
            <a:ext cx="3749040" cy="868680"/>
          </a:xfrm>
          <a:prstGeom prst="rect">
            <a:avLst/>
          </a:prstGeom>
          <a:noFill/>
          <a:ln/>
        </p:spPr>
        <p:txBody>
          <a:bodyPr wrap="square" lIns="0" tIns="0" rIns="0" bIns="0" rtlCol="0" anchor="t"/>
          <a:lstStyle/>
          <a:p>
            <a:pPr indent="0" marL="0">
              <a:buNone/>
            </a:pPr>
            <a:r>
              <a:rPr lang="en-US" sz="1300" i="1" dirty="0">
                <a:solidFill>
                  <a:schemeClr val="accent6"/>
                </a:solidFill>
              </a:rPr>
              <a:t>AlphaFold structures written as 3Di letters (Foldseek); ProstT5 fills gaps on the GPU.</a:t>
            </a:r>
            <a:endParaRPr lang="en-US" sz="1300" dirty="0"/>
          </a:p>
        </p:txBody>
      </p:sp>
      <p:sp>
        <p:nvSpPr>
          <p:cNvPr id="7" name="Text 4"/>
          <p:cNvSpPr txBox="1"/>
          <p:nvPr/>
        </p:nvSpPr>
        <p:spPr>
          <a:xfrm>
            <a:off x="6720840" y="1325880"/>
            <a:ext cx="4937760" cy="365760"/>
          </a:xfrm>
          <a:prstGeom prst="rect">
            <a:avLst/>
          </a:prstGeom>
          <a:noFill/>
          <a:ln/>
        </p:spPr>
        <p:txBody>
          <a:bodyPr wrap="square" lIns="0" tIns="0" rIns="0" bIns="0" rtlCol="0" anchor="t"/>
          <a:lstStyle/>
          <a:p>
            <a:pPr indent="0" marL="0">
              <a:buNone/>
            </a:pPr>
            <a:r>
              <a:rPr lang="en-US" sz="1800" b="1" dirty="0">
                <a:solidFill>
                  <a:schemeClr val="accent3"/>
                </a:solidFill>
              </a:rPr>
              <a:t>✓  Pros</a:t>
            </a:r>
            <a:endParaRPr lang="en-US" sz="1800" dirty="0"/>
          </a:p>
        </p:txBody>
      </p:sp>
      <p:sp>
        <p:nvSpPr>
          <p:cNvPr id="8" name="Text 5"/>
          <p:cNvSpPr txBox="1"/>
          <p:nvPr/>
        </p:nvSpPr>
        <p:spPr>
          <a:xfrm>
            <a:off x="6720840" y="1737360"/>
            <a:ext cx="4937760" cy="150876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Family completeness 0.794 → 0.853, above the sequence ceiling</a:t>
            </a:r>
            <a:endParaRPr lang="en-US" sz="1500" dirty="0"/>
          </a:p>
          <a:p>
            <a:pPr marL="342900" indent="-342900">
              <a:spcAft>
                <a:spcPts val="600"/>
              </a:spcAft>
              <a:buSzPct val="100000"/>
              <a:buChar char="•"/>
            </a:pPr>
            <a:r>
              <a:rPr lang="en-US" sz="1500" dirty="0">
                <a:solidFill>
                  <a:schemeClr val="tx1"/>
                </a:solidFill>
              </a:rPr>
              <a:t>ProstT5 on GPU: 40–60× faster than CPU</a:t>
            </a:r>
            <a:endParaRPr lang="en-US" sz="1500" dirty="0"/>
          </a:p>
        </p:txBody>
      </p:sp>
      <p:sp>
        <p:nvSpPr>
          <p:cNvPr id="9" name="Text 6"/>
          <p:cNvSpPr txBox="1"/>
          <p:nvPr/>
        </p:nvSpPr>
        <p:spPr>
          <a:xfrm>
            <a:off x="6720840" y="3291840"/>
            <a:ext cx="4937760" cy="365760"/>
          </a:xfrm>
          <a:prstGeom prst="rect">
            <a:avLst/>
          </a:prstGeom>
          <a:noFill/>
          <a:ln/>
        </p:spPr>
        <p:txBody>
          <a:bodyPr wrap="square" lIns="0" tIns="0" rIns="0" bIns="0" rtlCol="0" anchor="t"/>
          <a:lstStyle/>
          <a:p>
            <a:pPr indent="0" marL="0">
              <a:buNone/>
            </a:pPr>
            <a:r>
              <a:rPr lang="en-US" sz="1800" b="1" dirty="0">
                <a:solidFill>
                  <a:schemeClr val="accent4"/>
                </a:solidFill>
              </a:rPr>
              <a:t>✗  Cons</a:t>
            </a:r>
            <a:endParaRPr lang="en-US" sz="1800" dirty="0"/>
          </a:p>
        </p:txBody>
      </p:sp>
      <p:sp>
        <p:nvSpPr>
          <p:cNvPr id="10" name="Text 7"/>
          <p:cNvSpPr txBox="1"/>
          <p:nvPr/>
        </p:nvSpPr>
        <p:spPr>
          <a:xfrm>
            <a:off x="6720840" y="3703320"/>
            <a:ext cx="4937760" cy="150876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Paralogs share folds: no orthology signal</a:t>
            </a:r>
            <a:endParaRPr lang="en-US" sz="1500" dirty="0"/>
          </a:p>
          <a:p>
            <a:pPr marL="342900" indent="-342900">
              <a:spcAft>
                <a:spcPts val="600"/>
              </a:spcAft>
              <a:buSzPct val="100000"/>
              <a:buChar char="•"/>
            </a:pPr>
            <a:r>
              <a:rPr lang="en-US" sz="1500" dirty="0">
                <a:solidFill>
                  <a:schemeClr val="tx1"/>
                </a:solidFill>
              </a:rPr>
              <a:t>OrthoBench test precision 69.5 → 60.1</a:t>
            </a:r>
            <a:endParaRPr lang="en-US" sz="1500" dirty="0"/>
          </a:p>
          <a:p>
            <a:pPr marL="342900" indent="-342900">
              <a:spcAft>
                <a:spcPts val="600"/>
              </a:spcAft>
              <a:buSzPct val="100000"/>
              <a:buChar char="•"/>
            </a:pPr>
            <a:r>
              <a:rPr lang="en-US" sz="1500" dirty="0">
                <a:solidFill>
                  <a:schemeClr val="tx1"/>
                </a:solidFill>
              </a:rPr>
              <a:t>Full 3Di coverage added nothing more</a:t>
            </a:r>
            <a:endParaRPr lang="en-US" sz="1500" dirty="0"/>
          </a:p>
        </p:txBody>
      </p:sp>
      <p:sp>
        <p:nvSpPr>
          <p:cNvPr id="11" name="Shape 8"/>
          <p:cNvSpPr/>
          <p:nvPr/>
        </p:nvSpPr>
        <p:spPr>
          <a:xfrm>
            <a:off x="6720840" y="5349240"/>
            <a:ext cx="4937760" cy="685800"/>
          </a:xfrm>
          <a:prstGeom prst="roundRect">
            <a:avLst>
              <a:gd name="adj" fmla="val 16000"/>
            </a:avLst>
          </a:prstGeom>
          <a:solidFill>
            <a:schemeClr val="accent2"/>
          </a:solidFill>
          <a:ln w="12700">
            <a:solidFill>
              <a:schemeClr val="accent2"/>
            </a:solidFill>
            <a:prstDash val="solid"/>
          </a:ln>
        </p:spPr>
      </p:sp>
      <p:sp>
        <p:nvSpPr>
          <p:cNvPr id="12" name="Text 9"/>
          <p:cNvSpPr txBox="1"/>
          <p:nvPr/>
        </p:nvSpPr>
        <p:spPr>
          <a:xfrm>
            <a:off x="6903720" y="5349240"/>
            <a:ext cx="4663440" cy="685800"/>
          </a:xfrm>
          <a:prstGeom prst="rect">
            <a:avLst/>
          </a:prstGeom>
          <a:noFill/>
          <a:ln/>
        </p:spPr>
        <p:txBody>
          <a:bodyPr wrap="square" lIns="0" tIns="0" rIns="0" bIns="0" rtlCol="0" anchor="ctr"/>
          <a:lstStyle/>
          <a:p>
            <a:pPr indent="0" marL="0">
              <a:buNone/>
            </a:pPr>
            <a:r>
              <a:rPr lang="en-US" sz="1500" b="1" dirty="0">
                <a:solidFill>
                  <a:schemeClr val="bg1"/>
                </a:solidFill>
              </a:rPr>
              <a:t>Option, off by default</a:t>
            </a:r>
            <a:endParaRPr lang="en-US" sz="15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l"/>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Expression</a:t>
            </a:r>
            <a:endParaRPr lang="en-US" sz="3200" dirty="0"/>
          </a:p>
        </p:txBody>
      </p:sp>
      <p:pic>
        <p:nvPicPr>
          <p:cNvPr id="3" name="Image 0" descr="Tissue expression heatmap for an ortholog and a paralog">    </p:cNvPr>
          <p:cNvPicPr>
            <a:picLocks noChangeAspect="1"/>
          </p:cNvPicPr>
          <p:nvPr/>
        </p:nvPicPr>
        <p:blipFill>
          <a:blip r:embed="rId1"/>
          <a:stretch>
            <a:fillRect/>
          </a:stretch>
        </p:blipFill>
        <p:spPr>
          <a:xfrm>
            <a:off x="457200" y="1325880"/>
            <a:ext cx="5852160" cy="3657600"/>
          </a:xfrm>
          <a:prstGeom prst="rect">
            <a:avLst/>
          </a:prstGeom>
        </p:spPr>
      </p:pic>
      <p:sp>
        <p:nvSpPr>
          <p:cNvPr id="4" name="Shape 1"/>
          <p:cNvSpPr/>
          <p:nvPr/>
        </p:nvSpPr>
        <p:spPr>
          <a:xfrm>
            <a:off x="548640" y="5394960"/>
            <a:ext cx="2011680" cy="438912"/>
          </a:xfrm>
          <a:prstGeom prst="roundRect">
            <a:avLst>
              <a:gd name="adj" fmla="val 25000"/>
            </a:avLst>
          </a:prstGeom>
          <a:solidFill>
            <a:schemeClr val="accent6"/>
          </a:solidFill>
          <a:ln w="12700">
            <a:solidFill>
              <a:schemeClr val="accent6"/>
            </a:solidFill>
            <a:prstDash val="solid"/>
          </a:ln>
        </p:spPr>
      </p:sp>
      <p:sp>
        <p:nvSpPr>
          <p:cNvPr id="5" name="Text 2"/>
          <p:cNvSpPr txBox="1"/>
          <p:nvPr/>
        </p:nvSpPr>
        <p:spPr>
          <a:xfrm>
            <a:off x="548640" y="5394960"/>
            <a:ext cx="2011680" cy="438912"/>
          </a:xfrm>
          <a:prstGeom prst="rect">
            <a:avLst/>
          </a:prstGeom>
          <a:noFill/>
          <a:ln/>
        </p:spPr>
        <p:txBody>
          <a:bodyPr wrap="square" lIns="508" tIns="508" rIns="508" bIns="508" rtlCol="0" anchor="ctr"/>
          <a:lstStyle/>
          <a:p>
            <a:pPr algn="ctr" indent="0" marL="0">
              <a:buNone/>
            </a:pPr>
            <a:r>
              <a:rPr lang="en-US" sz="1200" b="1" dirty="0">
                <a:solidFill>
                  <a:schemeClr val="bg1"/>
                </a:solidFill>
              </a:rPr>
              <a:t>Rounds 1 + 2</a:t>
            </a:r>
            <a:endParaRPr lang="en-US" sz="1200" dirty="0"/>
          </a:p>
        </p:txBody>
      </p:sp>
      <p:sp>
        <p:nvSpPr>
          <p:cNvPr id="6" name="Text 3"/>
          <p:cNvSpPr txBox="1"/>
          <p:nvPr/>
        </p:nvSpPr>
        <p:spPr>
          <a:xfrm>
            <a:off x="2697480" y="5349240"/>
            <a:ext cx="3749040" cy="868680"/>
          </a:xfrm>
          <a:prstGeom prst="rect">
            <a:avLst/>
          </a:prstGeom>
          <a:noFill/>
          <a:ln/>
        </p:spPr>
        <p:txBody>
          <a:bodyPr wrap="square" lIns="0" tIns="0" rIns="0" bIns="0" rtlCol="0" anchor="t"/>
          <a:lstStyle/>
          <a:p>
            <a:pPr indent="0" marL="0">
              <a:buNone/>
            </a:pPr>
            <a:r>
              <a:rPr lang="en-US" sz="1300" i="1" dirty="0">
                <a:solidFill>
                  <a:schemeClr val="accent6"/>
                </a:solidFill>
              </a:rPr>
              <a:t>Tissue expression of each gene copy (Bgee v15.2).</a:t>
            </a:r>
            <a:endParaRPr lang="en-US" sz="1300" dirty="0"/>
          </a:p>
        </p:txBody>
      </p:sp>
      <p:sp>
        <p:nvSpPr>
          <p:cNvPr id="7" name="Text 4"/>
          <p:cNvSpPr txBox="1"/>
          <p:nvPr/>
        </p:nvSpPr>
        <p:spPr>
          <a:xfrm>
            <a:off x="6720840" y="1325880"/>
            <a:ext cx="4937760" cy="365760"/>
          </a:xfrm>
          <a:prstGeom prst="rect">
            <a:avLst/>
          </a:prstGeom>
          <a:noFill/>
          <a:ln/>
        </p:spPr>
        <p:txBody>
          <a:bodyPr wrap="square" lIns="0" tIns="0" rIns="0" bIns="0" rtlCol="0" anchor="t"/>
          <a:lstStyle/>
          <a:p>
            <a:pPr indent="0" marL="0">
              <a:buNone/>
            </a:pPr>
            <a:r>
              <a:rPr lang="en-US" sz="1800" b="1" dirty="0">
                <a:solidFill>
                  <a:schemeClr val="accent3"/>
                </a:solidFill>
              </a:rPr>
              <a:t>✓  Pros</a:t>
            </a:r>
            <a:endParaRPr lang="en-US" sz="1800" dirty="0"/>
          </a:p>
        </p:txBody>
      </p:sp>
      <p:sp>
        <p:nvSpPr>
          <p:cNvPr id="8" name="Text 5"/>
          <p:cNvSpPr txBox="1"/>
          <p:nvPr/>
        </p:nvSpPr>
        <p:spPr>
          <a:xfrm>
            <a:off x="6720840" y="1737360"/>
            <a:ext cx="4937760" cy="150876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Some signal overall (AUC 0.667)</a:t>
            </a:r>
            <a:endParaRPr lang="en-US" sz="1500" dirty="0"/>
          </a:p>
          <a:p>
            <a:pPr marL="342900" indent="-342900">
              <a:spcAft>
                <a:spcPts val="600"/>
              </a:spcAft>
              <a:buSzPct val="100000"/>
              <a:buChar char="•"/>
            </a:pPr>
            <a:r>
              <a:rPr lang="en-US" sz="1500" dirty="0">
                <a:solidFill>
                  <a:schemeClr val="tx1"/>
                </a:solidFill>
              </a:rPr>
              <a:t>Open data (CC0)</a:t>
            </a:r>
            <a:endParaRPr lang="en-US" sz="1500" dirty="0"/>
          </a:p>
        </p:txBody>
      </p:sp>
      <p:sp>
        <p:nvSpPr>
          <p:cNvPr id="9" name="Text 6"/>
          <p:cNvSpPr txBox="1"/>
          <p:nvPr/>
        </p:nvSpPr>
        <p:spPr>
          <a:xfrm>
            <a:off x="6720840" y="3291840"/>
            <a:ext cx="4937760" cy="365760"/>
          </a:xfrm>
          <a:prstGeom prst="rect">
            <a:avLst/>
          </a:prstGeom>
          <a:noFill/>
          <a:ln/>
        </p:spPr>
        <p:txBody>
          <a:bodyPr wrap="square" lIns="0" tIns="0" rIns="0" bIns="0" rtlCol="0" anchor="t"/>
          <a:lstStyle/>
          <a:p>
            <a:pPr indent="0" marL="0">
              <a:buNone/>
            </a:pPr>
            <a:r>
              <a:rPr lang="en-US" sz="1800" b="1" dirty="0">
                <a:solidFill>
                  <a:schemeClr val="accent4"/>
                </a:solidFill>
              </a:rPr>
              <a:t>✗  Cons</a:t>
            </a:r>
            <a:endParaRPr lang="en-US" sz="1800" dirty="0"/>
          </a:p>
        </p:txBody>
      </p:sp>
      <p:sp>
        <p:nvSpPr>
          <p:cNvPr id="10" name="Text 7"/>
          <p:cNvSpPr txBox="1"/>
          <p:nvPr/>
        </p:nvSpPr>
        <p:spPr>
          <a:xfrm>
            <a:off x="6720840" y="3703320"/>
            <a:ext cx="4937760" cy="150876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Hard cases −0.019 [−0.20, +0.15]</a:t>
            </a:r>
            <a:endParaRPr lang="en-US" sz="1500" dirty="0"/>
          </a:p>
          <a:p>
            <a:pPr marL="342900" indent="-342900">
              <a:spcAft>
                <a:spcPts val="600"/>
              </a:spcAft>
              <a:buSzPct val="100000"/>
              <a:buChar char="•"/>
            </a:pPr>
            <a:r>
              <a:rPr lang="en-US" sz="1500" dirty="0">
                <a:solidFill>
                  <a:schemeClr val="tx1"/>
                </a:solidFill>
              </a:rPr>
              <a:t>Specificity (τ) tie-break: −0.076</a:t>
            </a:r>
            <a:endParaRPr lang="en-US" sz="1500" dirty="0"/>
          </a:p>
          <a:p>
            <a:pPr marL="342900" indent="-342900">
              <a:spcAft>
                <a:spcPts val="600"/>
              </a:spcAft>
              <a:buSzPct val="100000"/>
              <a:buChar char="•"/>
            </a:pPr>
            <a:r>
              <a:rPr lang="en-US" sz="1500" dirty="0">
                <a:solidFill>
                  <a:schemeClr val="tx1"/>
                </a:solidFill>
              </a:rPr>
              <a:t>Only 10 of 12 benchmark species covered</a:t>
            </a:r>
            <a:endParaRPr lang="en-US" sz="1500" dirty="0"/>
          </a:p>
        </p:txBody>
      </p:sp>
      <p:sp>
        <p:nvSpPr>
          <p:cNvPr id="11" name="Shape 8"/>
          <p:cNvSpPr/>
          <p:nvPr/>
        </p:nvSpPr>
        <p:spPr>
          <a:xfrm>
            <a:off x="6720840" y="5349240"/>
            <a:ext cx="4937760" cy="685800"/>
          </a:xfrm>
          <a:prstGeom prst="roundRect">
            <a:avLst>
              <a:gd name="adj" fmla="val 16000"/>
            </a:avLst>
          </a:prstGeom>
          <a:solidFill>
            <a:schemeClr val="accent4"/>
          </a:solidFill>
          <a:ln w="12700">
            <a:solidFill>
              <a:schemeClr val="accent4"/>
            </a:solidFill>
            <a:prstDash val="solid"/>
          </a:ln>
        </p:spPr>
      </p:sp>
      <p:sp>
        <p:nvSpPr>
          <p:cNvPr id="12" name="Text 9"/>
          <p:cNvSpPr txBox="1"/>
          <p:nvPr/>
        </p:nvSpPr>
        <p:spPr>
          <a:xfrm>
            <a:off x="6903720" y="5349240"/>
            <a:ext cx="4663440" cy="685800"/>
          </a:xfrm>
          <a:prstGeom prst="rect">
            <a:avLst/>
          </a:prstGeom>
          <a:noFill/>
          <a:ln/>
        </p:spPr>
        <p:txBody>
          <a:bodyPr wrap="square" lIns="0" tIns="0" rIns="0" bIns="0" rtlCol="0" anchor="ctr"/>
          <a:lstStyle/>
          <a:p>
            <a:pPr indent="0" marL="0">
              <a:buNone/>
            </a:pPr>
            <a:r>
              <a:rPr lang="en-US" sz="1500" b="1" dirty="0">
                <a:solidFill>
                  <a:schemeClr val="bg1"/>
                </a:solidFill>
              </a:rPr>
              <a:t>Rejected by the pre-registered rule</a:t>
            </a:r>
            <a:endParaRPr lang="en-US" sz="15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l"/>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Isoforms</a:t>
            </a:r>
            <a:endParaRPr lang="en-US" sz="3200" dirty="0"/>
          </a:p>
        </p:txBody>
      </p:sp>
      <p:pic>
        <p:nvPicPr>
          <p:cNvPr id="3" name="Image 0" descr="One gene with several alternative transcripts">    </p:cNvPr>
          <p:cNvPicPr>
            <a:picLocks noChangeAspect="1"/>
          </p:cNvPicPr>
          <p:nvPr/>
        </p:nvPicPr>
        <p:blipFill>
          <a:blip r:embed="rId1"/>
          <a:stretch>
            <a:fillRect/>
          </a:stretch>
        </p:blipFill>
        <p:spPr>
          <a:xfrm>
            <a:off x="457200" y="1325880"/>
            <a:ext cx="5852160" cy="3657600"/>
          </a:xfrm>
          <a:prstGeom prst="rect">
            <a:avLst/>
          </a:prstGeom>
        </p:spPr>
      </p:pic>
      <p:sp>
        <p:nvSpPr>
          <p:cNvPr id="4" name="Shape 1"/>
          <p:cNvSpPr/>
          <p:nvPr/>
        </p:nvSpPr>
        <p:spPr>
          <a:xfrm>
            <a:off x="548640" y="5394960"/>
            <a:ext cx="2011680" cy="438912"/>
          </a:xfrm>
          <a:prstGeom prst="roundRect">
            <a:avLst>
              <a:gd name="adj" fmla="val 25000"/>
            </a:avLst>
          </a:prstGeom>
          <a:solidFill>
            <a:schemeClr val="accent6"/>
          </a:solidFill>
          <a:ln w="12700">
            <a:solidFill>
              <a:schemeClr val="accent6"/>
            </a:solidFill>
            <a:prstDash val="solid"/>
          </a:ln>
        </p:spPr>
      </p:sp>
      <p:sp>
        <p:nvSpPr>
          <p:cNvPr id="5" name="Text 2"/>
          <p:cNvSpPr txBox="1"/>
          <p:nvPr/>
        </p:nvSpPr>
        <p:spPr>
          <a:xfrm>
            <a:off x="548640" y="5394960"/>
            <a:ext cx="2011680" cy="438912"/>
          </a:xfrm>
          <a:prstGeom prst="rect">
            <a:avLst/>
          </a:prstGeom>
          <a:noFill/>
          <a:ln/>
        </p:spPr>
        <p:txBody>
          <a:bodyPr wrap="square" lIns="508" tIns="508" rIns="508" bIns="508" rtlCol="0" anchor="ctr"/>
          <a:lstStyle/>
          <a:p>
            <a:pPr algn="ctr" indent="0" marL="0">
              <a:buNone/>
            </a:pPr>
            <a:r>
              <a:rPr lang="en-US" sz="1200" b="1" dirty="0">
                <a:solidFill>
                  <a:schemeClr val="bg1"/>
                </a:solidFill>
              </a:rPr>
              <a:t>Round 1</a:t>
            </a:r>
            <a:endParaRPr lang="en-US" sz="1200" dirty="0"/>
          </a:p>
        </p:txBody>
      </p:sp>
      <p:sp>
        <p:nvSpPr>
          <p:cNvPr id="6" name="Text 3"/>
          <p:cNvSpPr txBox="1"/>
          <p:nvPr/>
        </p:nvSpPr>
        <p:spPr>
          <a:xfrm>
            <a:off x="2697480" y="5349240"/>
            <a:ext cx="3749040" cy="868680"/>
          </a:xfrm>
          <a:prstGeom prst="rect">
            <a:avLst/>
          </a:prstGeom>
          <a:noFill/>
          <a:ln/>
        </p:spPr>
        <p:txBody>
          <a:bodyPr wrap="square" lIns="0" tIns="0" rIns="0" bIns="0" rtlCol="0" anchor="t"/>
          <a:lstStyle/>
          <a:p>
            <a:pPr indent="0" marL="0">
              <a:buNone/>
            </a:pPr>
            <a:r>
              <a:rPr lang="en-US" sz="1300" i="1" dirty="0">
                <a:solidFill>
                  <a:schemeClr val="accent6"/>
                </a:solidFill>
              </a:rPr>
              <a:t>Search all splice isoforms, not one protein per gene.</a:t>
            </a:r>
            <a:endParaRPr lang="en-US" sz="1300" dirty="0"/>
          </a:p>
        </p:txBody>
      </p:sp>
      <p:sp>
        <p:nvSpPr>
          <p:cNvPr id="7" name="Text 4"/>
          <p:cNvSpPr txBox="1"/>
          <p:nvPr/>
        </p:nvSpPr>
        <p:spPr>
          <a:xfrm>
            <a:off x="6720840" y="1325880"/>
            <a:ext cx="4937760" cy="365760"/>
          </a:xfrm>
          <a:prstGeom prst="rect">
            <a:avLst/>
          </a:prstGeom>
          <a:noFill/>
          <a:ln/>
        </p:spPr>
        <p:txBody>
          <a:bodyPr wrap="square" lIns="0" tIns="0" rIns="0" bIns="0" rtlCol="0" anchor="t"/>
          <a:lstStyle/>
          <a:p>
            <a:pPr indent="0" marL="0">
              <a:buNone/>
            </a:pPr>
            <a:r>
              <a:rPr lang="en-US" sz="1800" b="1" dirty="0">
                <a:solidFill>
                  <a:schemeClr val="accent3"/>
                </a:solidFill>
              </a:rPr>
              <a:t>✓  Pros</a:t>
            </a:r>
            <a:endParaRPr lang="en-US" sz="1800" dirty="0"/>
          </a:p>
        </p:txBody>
      </p:sp>
      <p:sp>
        <p:nvSpPr>
          <p:cNvPr id="8" name="Text 5"/>
          <p:cNvSpPr txBox="1"/>
          <p:nvPr/>
        </p:nvSpPr>
        <p:spPr>
          <a:xfrm>
            <a:off x="6720840" y="1737360"/>
            <a:ext cx="4937760" cy="150876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Could pair orthologous isoforms</a:t>
            </a:r>
            <a:endParaRPr lang="en-US" sz="1500" dirty="0"/>
          </a:p>
          <a:p>
            <a:pPr marL="342900" indent="-342900">
              <a:spcAft>
                <a:spcPts val="600"/>
              </a:spcAft>
              <a:buSzPct val="100000"/>
              <a:buChar char="•"/>
            </a:pPr>
            <a:r>
              <a:rPr lang="en-US" sz="1500" dirty="0">
                <a:solidFill>
                  <a:schemeClr val="tx1"/>
                </a:solidFill>
              </a:rPr>
              <a:t>Data in every Ensembl release</a:t>
            </a:r>
            <a:endParaRPr lang="en-US" sz="1500" dirty="0"/>
          </a:p>
        </p:txBody>
      </p:sp>
      <p:sp>
        <p:nvSpPr>
          <p:cNvPr id="9" name="Text 6"/>
          <p:cNvSpPr txBox="1"/>
          <p:nvPr/>
        </p:nvSpPr>
        <p:spPr>
          <a:xfrm>
            <a:off x="6720840" y="3291840"/>
            <a:ext cx="4937760" cy="365760"/>
          </a:xfrm>
          <a:prstGeom prst="rect">
            <a:avLst/>
          </a:prstGeom>
          <a:noFill/>
          <a:ln/>
        </p:spPr>
        <p:txBody>
          <a:bodyPr wrap="square" lIns="0" tIns="0" rIns="0" bIns="0" rtlCol="0" anchor="t"/>
          <a:lstStyle/>
          <a:p>
            <a:pPr indent="0" marL="0">
              <a:buNone/>
            </a:pPr>
            <a:r>
              <a:rPr lang="en-US" sz="1800" b="1" dirty="0">
                <a:solidFill>
                  <a:schemeClr val="accent4"/>
                </a:solidFill>
              </a:rPr>
              <a:t>✗  Cons</a:t>
            </a:r>
            <a:endParaRPr lang="en-US" sz="1800" dirty="0"/>
          </a:p>
        </p:txBody>
      </p:sp>
      <p:sp>
        <p:nvSpPr>
          <p:cNvPr id="10" name="Text 7"/>
          <p:cNvSpPr txBox="1"/>
          <p:nvPr/>
        </p:nvSpPr>
        <p:spPr>
          <a:xfrm>
            <a:off x="6720840" y="3703320"/>
            <a:ext cx="4937760" cy="150876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Hard cases +0.013 [−0.018, +0.044]</a:t>
            </a:r>
            <a:endParaRPr lang="en-US" sz="1500" dirty="0"/>
          </a:p>
          <a:p>
            <a:pPr marL="342900" indent="-342900">
              <a:spcAft>
                <a:spcPts val="600"/>
              </a:spcAft>
              <a:buSzPct val="100000"/>
              <a:buChar char="•"/>
            </a:pPr>
            <a:r>
              <a:rPr lang="en-US" sz="1500" dirty="0">
                <a:solidFill>
                  <a:schemeClr val="tx1"/>
                </a:solidFill>
              </a:rPr>
              <a:t>2–5× more search time</a:t>
            </a:r>
            <a:endParaRPr lang="en-US" sz="1500" dirty="0"/>
          </a:p>
        </p:txBody>
      </p:sp>
      <p:sp>
        <p:nvSpPr>
          <p:cNvPr id="11" name="Shape 8"/>
          <p:cNvSpPr/>
          <p:nvPr/>
        </p:nvSpPr>
        <p:spPr>
          <a:xfrm>
            <a:off x="6720840" y="5349240"/>
            <a:ext cx="4937760" cy="685800"/>
          </a:xfrm>
          <a:prstGeom prst="roundRect">
            <a:avLst>
              <a:gd name="adj" fmla="val 16000"/>
            </a:avLst>
          </a:prstGeom>
          <a:solidFill>
            <a:schemeClr val="accent4"/>
          </a:solidFill>
          <a:ln w="12700">
            <a:solidFill>
              <a:schemeClr val="accent4"/>
            </a:solidFill>
            <a:prstDash val="solid"/>
          </a:ln>
        </p:spPr>
      </p:sp>
      <p:sp>
        <p:nvSpPr>
          <p:cNvPr id="12" name="Text 9"/>
          <p:cNvSpPr txBox="1"/>
          <p:nvPr/>
        </p:nvSpPr>
        <p:spPr>
          <a:xfrm>
            <a:off x="6903720" y="5349240"/>
            <a:ext cx="4663440" cy="685800"/>
          </a:xfrm>
          <a:prstGeom prst="rect">
            <a:avLst/>
          </a:prstGeom>
          <a:noFill/>
          <a:ln/>
        </p:spPr>
        <p:txBody>
          <a:bodyPr wrap="square" lIns="0" tIns="0" rIns="0" bIns="0" rtlCol="0" anchor="ctr"/>
          <a:lstStyle/>
          <a:p>
            <a:pPr indent="0" marL="0">
              <a:buNone/>
            </a:pPr>
            <a:r>
              <a:rPr lang="en-US" sz="1500" b="1" dirty="0">
                <a:solidFill>
                  <a:schemeClr val="bg1"/>
                </a:solidFill>
              </a:rPr>
              <a:t>Rejected</a:t>
            </a:r>
            <a:endParaRPr lang="en-US" sz="15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l"/>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Genomic DNA: are lost genes really lost?</a:t>
            </a:r>
            <a:endParaRPr lang="en-US" sz="3200" dirty="0"/>
          </a:p>
        </p:txBody>
      </p:sp>
      <p:pic>
        <p:nvPicPr>
          <p:cNvPr id="3" name="Image 0" descr="Searching the syntenic locus in the genome finds a pseudogene">    </p:cNvPr>
          <p:cNvPicPr>
            <a:picLocks noChangeAspect="1"/>
          </p:cNvPicPr>
          <p:nvPr/>
        </p:nvPicPr>
        <p:blipFill>
          <a:blip r:embed="rId1"/>
          <a:stretch>
            <a:fillRect/>
          </a:stretch>
        </p:blipFill>
        <p:spPr>
          <a:xfrm>
            <a:off x="457200" y="1325880"/>
            <a:ext cx="5852160" cy="3657600"/>
          </a:xfrm>
          <a:prstGeom prst="rect">
            <a:avLst/>
          </a:prstGeom>
        </p:spPr>
      </p:pic>
      <p:sp>
        <p:nvSpPr>
          <p:cNvPr id="4" name="Shape 1"/>
          <p:cNvSpPr/>
          <p:nvPr/>
        </p:nvSpPr>
        <p:spPr>
          <a:xfrm>
            <a:off x="548640" y="5394960"/>
            <a:ext cx="2011680" cy="438912"/>
          </a:xfrm>
          <a:prstGeom prst="roundRect">
            <a:avLst>
              <a:gd name="adj" fmla="val 25000"/>
            </a:avLst>
          </a:prstGeom>
          <a:solidFill>
            <a:schemeClr val="accent6"/>
          </a:solidFill>
          <a:ln w="12700">
            <a:solidFill>
              <a:schemeClr val="accent6"/>
            </a:solidFill>
            <a:prstDash val="solid"/>
          </a:ln>
        </p:spPr>
      </p:sp>
      <p:sp>
        <p:nvSpPr>
          <p:cNvPr id="5" name="Text 2"/>
          <p:cNvSpPr txBox="1"/>
          <p:nvPr/>
        </p:nvSpPr>
        <p:spPr>
          <a:xfrm>
            <a:off x="548640" y="5394960"/>
            <a:ext cx="2011680" cy="438912"/>
          </a:xfrm>
          <a:prstGeom prst="rect">
            <a:avLst/>
          </a:prstGeom>
          <a:noFill/>
          <a:ln/>
        </p:spPr>
        <p:txBody>
          <a:bodyPr wrap="square" lIns="508" tIns="508" rIns="508" bIns="508" rtlCol="0" anchor="ctr"/>
          <a:lstStyle/>
          <a:p>
            <a:pPr algn="ctr" indent="0" marL="0">
              <a:buNone/>
            </a:pPr>
            <a:r>
              <a:rPr lang="en-US" sz="1200" b="1" dirty="0">
                <a:solidFill>
                  <a:schemeClr val="bg1"/>
                </a:solidFill>
              </a:rPr>
              <a:t>Round 1</a:t>
            </a:r>
            <a:endParaRPr lang="en-US" sz="1200" dirty="0"/>
          </a:p>
        </p:txBody>
      </p:sp>
      <p:sp>
        <p:nvSpPr>
          <p:cNvPr id="6" name="Text 3"/>
          <p:cNvSpPr txBox="1"/>
          <p:nvPr/>
        </p:nvSpPr>
        <p:spPr>
          <a:xfrm>
            <a:off x="2697480" y="5349240"/>
            <a:ext cx="3749040" cy="868680"/>
          </a:xfrm>
          <a:prstGeom prst="rect">
            <a:avLst/>
          </a:prstGeom>
          <a:noFill/>
          <a:ln/>
        </p:spPr>
        <p:txBody>
          <a:bodyPr wrap="square" lIns="0" tIns="0" rIns="0" bIns="0" rtlCol="0" anchor="t"/>
          <a:lstStyle/>
          <a:p>
            <a:pPr indent="0" marL="0">
              <a:buNone/>
            </a:pPr>
            <a:r>
              <a:rPr lang="en-US" sz="1300" i="1" dirty="0">
                <a:solidFill>
                  <a:schemeClr val="accent6"/>
                </a:solidFill>
              </a:rPr>
              <a:t>Search the genome at the syntenic locus for each apparent loss (miniprot).</a:t>
            </a:r>
            <a:endParaRPr lang="en-US" sz="1300" dirty="0"/>
          </a:p>
        </p:txBody>
      </p:sp>
      <p:sp>
        <p:nvSpPr>
          <p:cNvPr id="7" name="Text 4"/>
          <p:cNvSpPr txBox="1"/>
          <p:nvPr/>
        </p:nvSpPr>
        <p:spPr>
          <a:xfrm>
            <a:off x="6720840" y="1325880"/>
            <a:ext cx="4937760" cy="365760"/>
          </a:xfrm>
          <a:prstGeom prst="rect">
            <a:avLst/>
          </a:prstGeom>
          <a:noFill/>
          <a:ln/>
        </p:spPr>
        <p:txBody>
          <a:bodyPr wrap="square" lIns="0" tIns="0" rIns="0" bIns="0" rtlCol="0" anchor="t"/>
          <a:lstStyle/>
          <a:p>
            <a:pPr indent="0" marL="0">
              <a:buNone/>
            </a:pPr>
            <a:r>
              <a:rPr lang="en-US" sz="1800" b="1" dirty="0">
                <a:solidFill>
                  <a:schemeClr val="accent3"/>
                </a:solidFill>
              </a:rPr>
              <a:t>✓  Pros</a:t>
            </a:r>
            <a:endParaRPr lang="en-US" sz="1800" dirty="0"/>
          </a:p>
        </p:txBody>
      </p:sp>
      <p:sp>
        <p:nvSpPr>
          <p:cNvPr id="8" name="Text 5"/>
          <p:cNvSpPr txBox="1"/>
          <p:nvPr/>
        </p:nvSpPr>
        <p:spPr>
          <a:xfrm>
            <a:off x="6720840" y="1737360"/>
            <a:ext cx="4937760" cy="150876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92% of planted controls found, 0 / 512 false hits</a:t>
            </a:r>
            <a:endParaRPr lang="en-US" sz="1500" dirty="0"/>
          </a:p>
          <a:p>
            <a:pPr marL="342900" indent="-342900">
              <a:spcAft>
                <a:spcPts val="600"/>
              </a:spcAft>
              <a:buSzPct val="100000"/>
              <a:buChar char="•"/>
            </a:pPr>
            <a:r>
              <a:rPr lang="en-US" sz="1500" dirty="0">
                <a:solidFill>
                  <a:schemeClr val="tx1"/>
                </a:solidFill>
              </a:rPr>
              <a:t>53% of 2,523 apparent mammal losses were not real</a:t>
            </a:r>
            <a:endParaRPr lang="en-US" sz="1500" dirty="0"/>
          </a:p>
          <a:p>
            <a:pPr marL="342900" indent="-342900">
              <a:spcAft>
                <a:spcPts val="600"/>
              </a:spcAft>
              <a:buSzPct val="100000"/>
              <a:buChar char="•"/>
            </a:pPr>
            <a:r>
              <a:rPr lang="en-US" sz="1500" dirty="0">
                <a:solidFill>
                  <a:schemeClr val="tx1"/>
                </a:solidFill>
              </a:rPr>
              <a:t>Exposed our own fission errors (32%)</a:t>
            </a:r>
            <a:endParaRPr lang="en-US" sz="1500" dirty="0"/>
          </a:p>
        </p:txBody>
      </p:sp>
      <p:sp>
        <p:nvSpPr>
          <p:cNvPr id="9" name="Text 6"/>
          <p:cNvSpPr txBox="1"/>
          <p:nvPr/>
        </p:nvSpPr>
        <p:spPr>
          <a:xfrm>
            <a:off x="6720840" y="3291840"/>
            <a:ext cx="4937760" cy="365760"/>
          </a:xfrm>
          <a:prstGeom prst="rect">
            <a:avLst/>
          </a:prstGeom>
          <a:noFill/>
          <a:ln/>
        </p:spPr>
        <p:txBody>
          <a:bodyPr wrap="square" lIns="0" tIns="0" rIns="0" bIns="0" rtlCol="0" anchor="t"/>
          <a:lstStyle/>
          <a:p>
            <a:pPr indent="0" marL="0">
              <a:buNone/>
            </a:pPr>
            <a:r>
              <a:rPr lang="en-US" sz="1800" b="1" dirty="0">
                <a:solidFill>
                  <a:schemeClr val="accent4"/>
                </a:solidFill>
              </a:rPr>
              <a:t>✗  Cons</a:t>
            </a:r>
            <a:endParaRPr lang="en-US" sz="1800" dirty="0"/>
          </a:p>
        </p:txBody>
      </p:sp>
      <p:sp>
        <p:nvSpPr>
          <p:cNvPr id="10" name="Text 7"/>
          <p:cNvSpPr txBox="1"/>
          <p:nvPr/>
        </p:nvSpPr>
        <p:spPr>
          <a:xfrm>
            <a:off x="6720840" y="3703320"/>
            <a:ext cx="4937760" cy="150876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Needs genomes and annotation</a:t>
            </a:r>
            <a:endParaRPr lang="en-US" sz="1500" dirty="0"/>
          </a:p>
          <a:p>
            <a:pPr marL="342900" indent="-342900">
              <a:spcAft>
                <a:spcPts val="600"/>
              </a:spcAft>
              <a:buSzPct val="100000"/>
              <a:buChar char="•"/>
            </a:pPr>
            <a:r>
              <a:rPr lang="en-US" sz="1500" dirty="0">
                <a:solidFill>
                  <a:schemeClr val="tx1"/>
                </a:solidFill>
              </a:rPr>
              <a:t>Validates results, does not infer them</a:t>
            </a:r>
            <a:endParaRPr lang="en-US" sz="1500" dirty="0"/>
          </a:p>
        </p:txBody>
      </p:sp>
      <p:sp>
        <p:nvSpPr>
          <p:cNvPr id="11" name="Shape 8"/>
          <p:cNvSpPr/>
          <p:nvPr/>
        </p:nvSpPr>
        <p:spPr>
          <a:xfrm>
            <a:off x="6720840" y="5349240"/>
            <a:ext cx="4937760" cy="685800"/>
          </a:xfrm>
          <a:prstGeom prst="roundRect">
            <a:avLst>
              <a:gd name="adj" fmla="val 16000"/>
            </a:avLst>
          </a:prstGeom>
          <a:solidFill>
            <a:schemeClr val="accent3"/>
          </a:solidFill>
          <a:ln w="12700">
            <a:solidFill>
              <a:schemeClr val="accent3"/>
            </a:solidFill>
            <a:prstDash val="solid"/>
          </a:ln>
        </p:spPr>
      </p:sp>
      <p:sp>
        <p:nvSpPr>
          <p:cNvPr id="12" name="Text 9"/>
          <p:cNvSpPr txBox="1"/>
          <p:nvPr/>
        </p:nvSpPr>
        <p:spPr>
          <a:xfrm>
            <a:off x="6903720" y="5349240"/>
            <a:ext cx="4663440" cy="685800"/>
          </a:xfrm>
          <a:prstGeom prst="rect">
            <a:avLst/>
          </a:prstGeom>
          <a:noFill/>
          <a:ln/>
        </p:spPr>
        <p:txBody>
          <a:bodyPr wrap="square" lIns="0" tIns="0" rIns="0" bIns="0" rtlCol="0" anchor="ctr"/>
          <a:lstStyle/>
          <a:p>
            <a:pPr indent="0" marL="0">
              <a:buNone/>
            </a:pPr>
            <a:r>
              <a:rPr lang="en-US" sz="1500" b="1" dirty="0">
                <a:solidFill>
                  <a:schemeClr val="bg1"/>
                </a:solidFill>
              </a:rPr>
              <a:t>Kept as a quality-control add-on</a:t>
            </a:r>
            <a:endParaRPr lang="en-US" sz="15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l"/>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Species tree: one tree for all families?</a:t>
            </a:r>
            <a:endParaRPr lang="en-US" sz="3200" dirty="0"/>
          </a:p>
        </p:txBody>
      </p:sp>
      <p:pic>
        <p:nvPicPr>
          <p:cNvPr id="3" name="Image 0" descr="NCBI, data-derived and random guide trees">    </p:cNvPr>
          <p:cNvPicPr>
            <a:picLocks noChangeAspect="1"/>
          </p:cNvPicPr>
          <p:nvPr/>
        </p:nvPicPr>
        <p:blipFill>
          <a:blip r:embed="rId1"/>
          <a:stretch>
            <a:fillRect/>
          </a:stretch>
        </p:blipFill>
        <p:spPr>
          <a:xfrm>
            <a:off x="457200" y="1325880"/>
            <a:ext cx="5852160" cy="3163824"/>
          </a:xfrm>
          <a:prstGeom prst="rect">
            <a:avLst/>
          </a:prstGeom>
        </p:spPr>
      </p:pic>
      <p:sp>
        <p:nvSpPr>
          <p:cNvPr id="4" name="Shape 1"/>
          <p:cNvSpPr/>
          <p:nvPr/>
        </p:nvSpPr>
        <p:spPr>
          <a:xfrm>
            <a:off x="548640" y="5394960"/>
            <a:ext cx="2011680" cy="438912"/>
          </a:xfrm>
          <a:prstGeom prst="roundRect">
            <a:avLst>
              <a:gd name="adj" fmla="val 25000"/>
            </a:avLst>
          </a:prstGeom>
          <a:solidFill>
            <a:schemeClr val="accent6"/>
          </a:solidFill>
          <a:ln w="12700">
            <a:solidFill>
              <a:schemeClr val="accent6"/>
            </a:solidFill>
            <a:prstDash val="solid"/>
          </a:ln>
        </p:spPr>
      </p:sp>
      <p:sp>
        <p:nvSpPr>
          <p:cNvPr id="5" name="Text 2"/>
          <p:cNvSpPr txBox="1"/>
          <p:nvPr/>
        </p:nvSpPr>
        <p:spPr>
          <a:xfrm>
            <a:off x="548640" y="5394960"/>
            <a:ext cx="2011680" cy="438912"/>
          </a:xfrm>
          <a:prstGeom prst="rect">
            <a:avLst/>
          </a:prstGeom>
          <a:noFill/>
          <a:ln/>
        </p:spPr>
        <p:txBody>
          <a:bodyPr wrap="square" lIns="508" tIns="508" rIns="508" bIns="508" rtlCol="0" anchor="ctr"/>
          <a:lstStyle/>
          <a:p>
            <a:pPr algn="ctr" indent="0" marL="0">
              <a:buNone/>
            </a:pPr>
            <a:r>
              <a:rPr lang="en-US" sz="1200" b="1" dirty="0">
                <a:solidFill>
                  <a:schemeClr val="bg1"/>
                </a:solidFill>
              </a:rPr>
              <a:t>Round 1</a:t>
            </a:r>
            <a:endParaRPr lang="en-US" sz="1200" dirty="0"/>
          </a:p>
        </p:txBody>
      </p:sp>
      <p:sp>
        <p:nvSpPr>
          <p:cNvPr id="6" name="Text 3"/>
          <p:cNvSpPr txBox="1"/>
          <p:nvPr/>
        </p:nvSpPr>
        <p:spPr>
          <a:xfrm>
            <a:off x="2697480" y="5349240"/>
            <a:ext cx="3749040" cy="868680"/>
          </a:xfrm>
          <a:prstGeom prst="rect">
            <a:avLst/>
          </a:prstGeom>
          <a:noFill/>
          <a:ln/>
        </p:spPr>
        <p:txBody>
          <a:bodyPr wrap="square" lIns="0" tIns="0" rIns="0" bIns="0" rtlCol="0" anchor="t"/>
          <a:lstStyle/>
          <a:p>
            <a:pPr indent="0" marL="0">
              <a:buNone/>
            </a:pPr>
            <a:r>
              <a:rPr lang="en-US" sz="1300" i="1" dirty="0">
                <a:solidFill>
                  <a:schemeClr val="accent6"/>
                </a:solidFill>
              </a:rPr>
              <a:t>The guide tree decides the order of merges.</a:t>
            </a:r>
            <a:endParaRPr lang="en-US" sz="1300" dirty="0"/>
          </a:p>
        </p:txBody>
      </p:sp>
      <p:sp>
        <p:nvSpPr>
          <p:cNvPr id="7" name="Text 4"/>
          <p:cNvSpPr txBox="1"/>
          <p:nvPr/>
        </p:nvSpPr>
        <p:spPr>
          <a:xfrm>
            <a:off x="6720840" y="1325880"/>
            <a:ext cx="4937760" cy="365760"/>
          </a:xfrm>
          <a:prstGeom prst="rect">
            <a:avLst/>
          </a:prstGeom>
          <a:noFill/>
          <a:ln/>
        </p:spPr>
        <p:txBody>
          <a:bodyPr wrap="square" lIns="0" tIns="0" rIns="0" bIns="0" rtlCol="0" anchor="t"/>
          <a:lstStyle/>
          <a:p>
            <a:pPr indent="0" marL="0">
              <a:buNone/>
            </a:pPr>
            <a:r>
              <a:rPr lang="en-US" sz="1800" b="1" dirty="0">
                <a:solidFill>
                  <a:schemeClr val="accent3"/>
                </a:solidFill>
              </a:rPr>
              <a:t>✓  Pros</a:t>
            </a:r>
            <a:endParaRPr lang="en-US" sz="1800" dirty="0"/>
          </a:p>
        </p:txBody>
      </p:sp>
      <p:sp>
        <p:nvSpPr>
          <p:cNvPr id="8" name="Text 5"/>
          <p:cNvSpPr txBox="1"/>
          <p:nvPr/>
        </p:nvSpPr>
        <p:spPr>
          <a:xfrm>
            <a:off x="6720840" y="1737360"/>
            <a:ext cx="4937760" cy="150876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A random tree costs 16.4 F: the tree does real work</a:t>
            </a:r>
            <a:endParaRPr lang="en-US" sz="1500" dirty="0"/>
          </a:p>
          <a:p>
            <a:pPr marL="342900" indent="-342900">
              <a:spcAft>
                <a:spcPts val="600"/>
              </a:spcAft>
              <a:buSzPct val="100000"/>
              <a:buChar char="•"/>
            </a:pPr>
            <a:r>
              <a:rPr lang="en-US" sz="1500" dirty="0">
                <a:solidFill>
                  <a:schemeClr val="tx1"/>
                </a:solidFill>
              </a:rPr>
              <a:t>Small local gene trees correct it per family</a:t>
            </a:r>
            <a:endParaRPr lang="en-US" sz="1500" dirty="0"/>
          </a:p>
        </p:txBody>
      </p:sp>
      <p:sp>
        <p:nvSpPr>
          <p:cNvPr id="9" name="Text 6"/>
          <p:cNvSpPr txBox="1"/>
          <p:nvPr/>
        </p:nvSpPr>
        <p:spPr>
          <a:xfrm>
            <a:off x="6720840" y="3291840"/>
            <a:ext cx="4937760" cy="365760"/>
          </a:xfrm>
          <a:prstGeom prst="rect">
            <a:avLst/>
          </a:prstGeom>
          <a:noFill/>
          <a:ln/>
        </p:spPr>
        <p:txBody>
          <a:bodyPr wrap="square" lIns="0" tIns="0" rIns="0" bIns="0" rtlCol="0" anchor="t"/>
          <a:lstStyle/>
          <a:p>
            <a:pPr indent="0" marL="0">
              <a:buNone/>
            </a:pPr>
            <a:r>
              <a:rPr lang="en-US" sz="1800" b="1" dirty="0">
                <a:solidFill>
                  <a:schemeClr val="accent4"/>
                </a:solidFill>
              </a:rPr>
              <a:t>✗  Cons</a:t>
            </a:r>
            <a:endParaRPr lang="en-US" sz="1800" dirty="0"/>
          </a:p>
        </p:txBody>
      </p:sp>
      <p:sp>
        <p:nvSpPr>
          <p:cNvPr id="10" name="Text 7"/>
          <p:cNvSpPr txBox="1"/>
          <p:nvPr/>
        </p:nvSpPr>
        <p:spPr>
          <a:xfrm>
            <a:off x="6720840" y="3703320"/>
            <a:ext cx="4937760" cy="150876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Data-derived trees: +0.02–0.03 recall (n.s.), EC −0.12</a:t>
            </a:r>
            <a:endParaRPr lang="en-US" sz="1500" dirty="0"/>
          </a:p>
          <a:p>
            <a:pPr marL="342900" indent="-342900">
              <a:spcAft>
                <a:spcPts val="600"/>
              </a:spcAft>
              <a:buSzPct val="100000"/>
              <a:buChar char="•"/>
            </a:pPr>
            <a:r>
              <a:rPr lang="en-US" sz="1500" dirty="0">
                <a:solidFill>
                  <a:schemeClr val="tx1"/>
                </a:solidFill>
              </a:rPr>
              <a:t>Long-branch errors, 25–30% conflict in bacteria</a:t>
            </a:r>
            <a:endParaRPr lang="en-US" sz="1500" dirty="0"/>
          </a:p>
        </p:txBody>
      </p:sp>
      <p:sp>
        <p:nvSpPr>
          <p:cNvPr id="11" name="Shape 8"/>
          <p:cNvSpPr/>
          <p:nvPr/>
        </p:nvSpPr>
        <p:spPr>
          <a:xfrm>
            <a:off x="6720840" y="5349240"/>
            <a:ext cx="4937760" cy="685800"/>
          </a:xfrm>
          <a:prstGeom prst="roundRect">
            <a:avLst>
              <a:gd name="adj" fmla="val 16000"/>
            </a:avLst>
          </a:prstGeom>
          <a:solidFill>
            <a:schemeClr val="accent3"/>
          </a:solidFill>
          <a:ln w="12700">
            <a:solidFill>
              <a:schemeClr val="accent3"/>
            </a:solidFill>
            <a:prstDash val="solid"/>
          </a:ln>
        </p:spPr>
      </p:sp>
      <p:sp>
        <p:nvSpPr>
          <p:cNvPr id="12" name="Text 9"/>
          <p:cNvSpPr txBox="1"/>
          <p:nvPr/>
        </p:nvSpPr>
        <p:spPr>
          <a:xfrm>
            <a:off x="6903720" y="5349240"/>
            <a:ext cx="4663440" cy="685800"/>
          </a:xfrm>
          <a:prstGeom prst="rect">
            <a:avLst/>
          </a:prstGeom>
          <a:noFill/>
          <a:ln/>
        </p:spPr>
        <p:txBody>
          <a:bodyPr wrap="square" lIns="0" tIns="0" rIns="0" bIns="0" rtlCol="0" anchor="ctr"/>
          <a:lstStyle/>
          <a:p>
            <a:pPr indent="0" marL="0">
              <a:buNone/>
            </a:pPr>
            <a:r>
              <a:rPr lang="en-US" sz="1500" b="1" dirty="0">
                <a:solidFill>
                  <a:schemeClr val="bg1"/>
                </a:solidFill>
              </a:rPr>
              <a:t>NCBI taxonomy + per-family local trees</a:t>
            </a:r>
            <a:endParaRPr lang="en-US" sz="15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l"/>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Interaction networks and co-fractionation</a:t>
            </a:r>
            <a:endParaRPr lang="en-US" sz="3200" dirty="0"/>
          </a:p>
        </p:txBody>
      </p:sp>
      <p:pic>
        <p:nvPicPr>
          <p:cNvPr id="3" name="Image 0" descr="Two interaction networks with shared partners">    </p:cNvPr>
          <p:cNvPicPr>
            <a:picLocks noChangeAspect="1"/>
          </p:cNvPicPr>
          <p:nvPr/>
        </p:nvPicPr>
        <p:blipFill>
          <a:blip r:embed="rId1"/>
          <a:stretch>
            <a:fillRect/>
          </a:stretch>
        </p:blipFill>
        <p:spPr>
          <a:xfrm>
            <a:off x="457200" y="1325880"/>
            <a:ext cx="5852160" cy="3657600"/>
          </a:xfrm>
          <a:prstGeom prst="rect">
            <a:avLst/>
          </a:prstGeom>
        </p:spPr>
      </p:pic>
      <p:sp>
        <p:nvSpPr>
          <p:cNvPr id="4" name="Shape 1"/>
          <p:cNvSpPr/>
          <p:nvPr/>
        </p:nvSpPr>
        <p:spPr>
          <a:xfrm>
            <a:off x="548640" y="5394960"/>
            <a:ext cx="2011680" cy="438912"/>
          </a:xfrm>
          <a:prstGeom prst="roundRect">
            <a:avLst>
              <a:gd name="adj" fmla="val 25000"/>
            </a:avLst>
          </a:prstGeom>
          <a:solidFill>
            <a:schemeClr val="accent6"/>
          </a:solidFill>
          <a:ln w="12700">
            <a:solidFill>
              <a:schemeClr val="accent6"/>
            </a:solidFill>
            <a:prstDash val="solid"/>
          </a:ln>
        </p:spPr>
      </p:sp>
      <p:sp>
        <p:nvSpPr>
          <p:cNvPr id="5" name="Text 2"/>
          <p:cNvSpPr txBox="1"/>
          <p:nvPr/>
        </p:nvSpPr>
        <p:spPr>
          <a:xfrm>
            <a:off x="548640" y="5394960"/>
            <a:ext cx="2011680" cy="438912"/>
          </a:xfrm>
          <a:prstGeom prst="rect">
            <a:avLst/>
          </a:prstGeom>
          <a:noFill/>
          <a:ln/>
        </p:spPr>
        <p:txBody>
          <a:bodyPr wrap="square" lIns="508" tIns="508" rIns="508" bIns="508" rtlCol="0" anchor="ctr"/>
          <a:lstStyle/>
          <a:p>
            <a:pPr algn="ctr" indent="0" marL="0">
              <a:buNone/>
            </a:pPr>
            <a:r>
              <a:rPr lang="en-US" sz="1200" b="1" dirty="0">
                <a:solidFill>
                  <a:schemeClr val="bg1"/>
                </a:solidFill>
              </a:rPr>
              <a:t>Round 2</a:t>
            </a:r>
            <a:endParaRPr lang="en-US" sz="1200" dirty="0"/>
          </a:p>
        </p:txBody>
      </p:sp>
      <p:sp>
        <p:nvSpPr>
          <p:cNvPr id="6" name="Text 3"/>
          <p:cNvSpPr txBox="1"/>
          <p:nvPr/>
        </p:nvSpPr>
        <p:spPr>
          <a:xfrm>
            <a:off x="2697480" y="5349240"/>
            <a:ext cx="3749040" cy="868680"/>
          </a:xfrm>
          <a:prstGeom prst="rect">
            <a:avLst/>
          </a:prstGeom>
          <a:noFill/>
          <a:ln/>
        </p:spPr>
        <p:txBody>
          <a:bodyPr wrap="square" lIns="0" tIns="0" rIns="0" bIns="0" rtlCol="0" anchor="t"/>
          <a:lstStyle/>
          <a:p>
            <a:pPr indent="0" marL="0">
              <a:buNone/>
            </a:pPr>
            <a:r>
              <a:rPr lang="en-US" sz="1300" i="1" dirty="0">
                <a:solidFill>
                  <a:schemeClr val="accent6"/>
                </a:solidFill>
              </a:rPr>
              <a:t>STRING v12 (own-species evidence only) and hu.MAP 3.0 complexes.</a:t>
            </a:r>
            <a:endParaRPr lang="en-US" sz="1300" dirty="0"/>
          </a:p>
        </p:txBody>
      </p:sp>
      <p:sp>
        <p:nvSpPr>
          <p:cNvPr id="7" name="Text 4"/>
          <p:cNvSpPr txBox="1"/>
          <p:nvPr/>
        </p:nvSpPr>
        <p:spPr>
          <a:xfrm>
            <a:off x="6720840" y="1325880"/>
            <a:ext cx="4937760" cy="365760"/>
          </a:xfrm>
          <a:prstGeom prst="rect">
            <a:avLst/>
          </a:prstGeom>
          <a:noFill/>
          <a:ln/>
        </p:spPr>
        <p:txBody>
          <a:bodyPr wrap="square" lIns="0" tIns="0" rIns="0" bIns="0" rtlCol="0" anchor="t"/>
          <a:lstStyle/>
          <a:p>
            <a:pPr indent="0" marL="0">
              <a:buNone/>
            </a:pPr>
            <a:r>
              <a:rPr lang="en-US" sz="1800" b="1" dirty="0">
                <a:solidFill>
                  <a:schemeClr val="accent3"/>
                </a:solidFill>
              </a:rPr>
              <a:t>✓  Pros</a:t>
            </a:r>
            <a:endParaRPr lang="en-US" sz="1800" dirty="0"/>
          </a:p>
        </p:txBody>
      </p:sp>
      <p:sp>
        <p:nvSpPr>
          <p:cNvPr id="8" name="Text 5"/>
          <p:cNvSpPr txBox="1"/>
          <p:nvPr/>
        </p:nvSpPr>
        <p:spPr>
          <a:xfrm>
            <a:off x="6720840" y="1737360"/>
            <a:ext cx="4937760" cy="150876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Some signal over all pairs (AUC 0.63)</a:t>
            </a:r>
            <a:endParaRPr lang="en-US" sz="1500" dirty="0"/>
          </a:p>
          <a:p>
            <a:pPr marL="342900" indent="-342900">
              <a:spcAft>
                <a:spcPts val="600"/>
              </a:spcAft>
              <a:buSzPct val="100000"/>
              <a:buChar char="•"/>
            </a:pPr>
            <a:r>
              <a:rPr lang="en-US" sz="1500" dirty="0">
                <a:solidFill>
                  <a:schemeClr val="tx1"/>
                </a:solidFill>
              </a:rPr>
              <a:t>Cheap: 0.4 CPU-hours</a:t>
            </a:r>
            <a:endParaRPr lang="en-US" sz="1500" dirty="0"/>
          </a:p>
        </p:txBody>
      </p:sp>
      <p:sp>
        <p:nvSpPr>
          <p:cNvPr id="9" name="Text 6"/>
          <p:cNvSpPr txBox="1"/>
          <p:nvPr/>
        </p:nvSpPr>
        <p:spPr>
          <a:xfrm>
            <a:off x="6720840" y="3291840"/>
            <a:ext cx="4937760" cy="365760"/>
          </a:xfrm>
          <a:prstGeom prst="rect">
            <a:avLst/>
          </a:prstGeom>
          <a:noFill/>
          <a:ln/>
        </p:spPr>
        <p:txBody>
          <a:bodyPr wrap="square" lIns="0" tIns="0" rIns="0" bIns="0" rtlCol="0" anchor="t"/>
          <a:lstStyle/>
          <a:p>
            <a:pPr indent="0" marL="0">
              <a:buNone/>
            </a:pPr>
            <a:r>
              <a:rPr lang="en-US" sz="1800" b="1" dirty="0">
                <a:solidFill>
                  <a:schemeClr val="accent4"/>
                </a:solidFill>
              </a:rPr>
              <a:t>✗  Cons</a:t>
            </a:r>
            <a:endParaRPr lang="en-US" sz="1800" dirty="0"/>
          </a:p>
        </p:txBody>
      </p:sp>
      <p:sp>
        <p:nvSpPr>
          <p:cNvPr id="10" name="Text 7"/>
          <p:cNvSpPr txBox="1"/>
          <p:nvPr/>
        </p:nvSpPr>
        <p:spPr>
          <a:xfrm>
            <a:off x="6720840" y="3703320"/>
            <a:ext cx="4937760" cy="150876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Covers 3.4% of candidates</a:t>
            </a:r>
            <a:endParaRPr lang="en-US" sz="1500" dirty="0"/>
          </a:p>
          <a:p>
            <a:pPr marL="342900" indent="-342900">
              <a:spcAft>
                <a:spcPts val="600"/>
              </a:spcAft>
              <a:buSzPct val="100000"/>
              <a:buChar char="•"/>
            </a:pPr>
            <a:r>
              <a:rPr lang="en-US" sz="1500" dirty="0">
                <a:solidFill>
                  <a:schemeClr val="tx1"/>
                </a:solidFill>
              </a:rPr>
              <a:t>Hard cases at chance (AUC 0.50)</a:t>
            </a:r>
            <a:endParaRPr lang="en-US" sz="1500" dirty="0"/>
          </a:p>
          <a:p>
            <a:pPr marL="342900" indent="-342900">
              <a:spcAft>
                <a:spcPts val="600"/>
              </a:spcAft>
              <a:buSzPct val="100000"/>
              <a:buChar char="•"/>
            </a:pPr>
            <a:r>
              <a:rPr lang="en-US" sz="1500" dirty="0">
                <a:solidFill>
                  <a:schemeClr val="tx1"/>
                </a:solidFill>
              </a:rPr>
              <a:t>Rescued pairs were orthologs only 48–54% of the time</a:t>
            </a:r>
            <a:endParaRPr lang="en-US" sz="1500" dirty="0"/>
          </a:p>
        </p:txBody>
      </p:sp>
      <p:sp>
        <p:nvSpPr>
          <p:cNvPr id="11" name="Shape 8"/>
          <p:cNvSpPr/>
          <p:nvPr/>
        </p:nvSpPr>
        <p:spPr>
          <a:xfrm>
            <a:off x="6720840" y="5349240"/>
            <a:ext cx="4937760" cy="685800"/>
          </a:xfrm>
          <a:prstGeom prst="roundRect">
            <a:avLst>
              <a:gd name="adj" fmla="val 16000"/>
            </a:avLst>
          </a:prstGeom>
          <a:solidFill>
            <a:schemeClr val="accent4"/>
          </a:solidFill>
          <a:ln w="12700">
            <a:solidFill>
              <a:schemeClr val="accent4"/>
            </a:solidFill>
            <a:prstDash val="solid"/>
          </a:ln>
        </p:spPr>
      </p:sp>
      <p:sp>
        <p:nvSpPr>
          <p:cNvPr id="12" name="Text 9"/>
          <p:cNvSpPr txBox="1"/>
          <p:nvPr/>
        </p:nvSpPr>
        <p:spPr>
          <a:xfrm>
            <a:off x="6903720" y="5349240"/>
            <a:ext cx="4663440" cy="685800"/>
          </a:xfrm>
          <a:prstGeom prst="rect">
            <a:avLst/>
          </a:prstGeom>
          <a:noFill/>
          <a:ln/>
        </p:spPr>
        <p:txBody>
          <a:bodyPr wrap="square" lIns="0" tIns="0" rIns="0" bIns="0" rtlCol="0" anchor="ctr"/>
          <a:lstStyle/>
          <a:p>
            <a:pPr indent="0" marL="0">
              <a:buNone/>
            </a:pPr>
            <a:r>
              <a:rPr lang="en-US" sz="1500" b="1" dirty="0">
                <a:solidFill>
                  <a:schemeClr val="bg1"/>
                </a:solidFill>
              </a:rPr>
              <a:t>Fails the first gate, mainly on coverage</a:t>
            </a:r>
            <a:endParaRPr lang="en-US" sz="15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l"/>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Protein abundance</a:t>
            </a:r>
            <a:endParaRPr lang="en-US" sz="3200" dirty="0"/>
          </a:p>
        </p:txBody>
      </p:sp>
      <p:pic>
        <p:nvPicPr>
          <p:cNvPr id="3" name="Image 0" descr="Abundance of an ortholog and paralog in proteomics data">    </p:cNvPr>
          <p:cNvPicPr>
            <a:picLocks noChangeAspect="1"/>
          </p:cNvPicPr>
          <p:nvPr/>
        </p:nvPicPr>
        <p:blipFill>
          <a:blip r:embed="rId1"/>
          <a:stretch>
            <a:fillRect/>
          </a:stretch>
        </p:blipFill>
        <p:spPr>
          <a:xfrm>
            <a:off x="457200" y="1325880"/>
            <a:ext cx="5852160" cy="3657600"/>
          </a:xfrm>
          <a:prstGeom prst="rect">
            <a:avLst/>
          </a:prstGeom>
        </p:spPr>
      </p:pic>
      <p:sp>
        <p:nvSpPr>
          <p:cNvPr id="4" name="Shape 1"/>
          <p:cNvSpPr/>
          <p:nvPr/>
        </p:nvSpPr>
        <p:spPr>
          <a:xfrm>
            <a:off x="548640" y="5394960"/>
            <a:ext cx="2011680" cy="438912"/>
          </a:xfrm>
          <a:prstGeom prst="roundRect">
            <a:avLst>
              <a:gd name="adj" fmla="val 25000"/>
            </a:avLst>
          </a:prstGeom>
          <a:solidFill>
            <a:schemeClr val="accent6"/>
          </a:solidFill>
          <a:ln w="12700">
            <a:solidFill>
              <a:schemeClr val="accent6"/>
            </a:solidFill>
            <a:prstDash val="solid"/>
          </a:ln>
        </p:spPr>
      </p:sp>
      <p:sp>
        <p:nvSpPr>
          <p:cNvPr id="5" name="Text 2"/>
          <p:cNvSpPr txBox="1"/>
          <p:nvPr/>
        </p:nvSpPr>
        <p:spPr>
          <a:xfrm>
            <a:off x="548640" y="5394960"/>
            <a:ext cx="2011680" cy="438912"/>
          </a:xfrm>
          <a:prstGeom prst="rect">
            <a:avLst/>
          </a:prstGeom>
          <a:noFill/>
          <a:ln/>
        </p:spPr>
        <p:txBody>
          <a:bodyPr wrap="square" lIns="508" tIns="508" rIns="508" bIns="508" rtlCol="0" anchor="ctr"/>
          <a:lstStyle/>
          <a:p>
            <a:pPr algn="ctr" indent="0" marL="0">
              <a:buNone/>
            </a:pPr>
            <a:r>
              <a:rPr lang="en-US" sz="1200" b="1" dirty="0">
                <a:solidFill>
                  <a:schemeClr val="bg1"/>
                </a:solidFill>
              </a:rPr>
              <a:t>Round 2</a:t>
            </a:r>
            <a:endParaRPr lang="en-US" sz="1200" dirty="0"/>
          </a:p>
        </p:txBody>
      </p:sp>
      <p:sp>
        <p:nvSpPr>
          <p:cNvPr id="6" name="Text 3"/>
          <p:cNvSpPr txBox="1"/>
          <p:nvPr/>
        </p:nvSpPr>
        <p:spPr>
          <a:xfrm>
            <a:off x="2697480" y="5349240"/>
            <a:ext cx="3749040" cy="868680"/>
          </a:xfrm>
          <a:prstGeom prst="rect">
            <a:avLst/>
          </a:prstGeom>
          <a:noFill/>
          <a:ln/>
        </p:spPr>
        <p:txBody>
          <a:bodyPr wrap="square" lIns="0" tIns="0" rIns="0" bIns="0" rtlCol="0" anchor="t"/>
          <a:lstStyle/>
          <a:p>
            <a:pPr indent="0" marL="0">
              <a:buNone/>
            </a:pPr>
            <a:r>
              <a:rPr lang="en-US" sz="1300" i="1" dirty="0">
                <a:solidFill>
                  <a:schemeClr val="accent6"/>
                </a:solidFill>
              </a:rPr>
              <a:t>Whole-organism protein abundance from PaxDb 5.0.</a:t>
            </a:r>
            <a:endParaRPr lang="en-US" sz="1300" dirty="0"/>
          </a:p>
        </p:txBody>
      </p:sp>
      <p:sp>
        <p:nvSpPr>
          <p:cNvPr id="7" name="Text 4"/>
          <p:cNvSpPr txBox="1"/>
          <p:nvPr/>
        </p:nvSpPr>
        <p:spPr>
          <a:xfrm>
            <a:off x="6720840" y="1325880"/>
            <a:ext cx="4937760" cy="365760"/>
          </a:xfrm>
          <a:prstGeom prst="rect">
            <a:avLst/>
          </a:prstGeom>
          <a:noFill/>
          <a:ln/>
        </p:spPr>
        <p:txBody>
          <a:bodyPr wrap="square" lIns="0" tIns="0" rIns="0" bIns="0" rtlCol="0" anchor="t"/>
          <a:lstStyle/>
          <a:p>
            <a:pPr indent="0" marL="0">
              <a:buNone/>
            </a:pPr>
            <a:r>
              <a:rPr lang="en-US" sz="1800" b="1" dirty="0">
                <a:solidFill>
                  <a:schemeClr val="accent3"/>
                </a:solidFill>
              </a:rPr>
              <a:t>✓  Pros</a:t>
            </a:r>
            <a:endParaRPr lang="en-US" sz="1800" dirty="0"/>
          </a:p>
        </p:txBody>
      </p:sp>
      <p:sp>
        <p:nvSpPr>
          <p:cNvPr id="8" name="Text 5"/>
          <p:cNvSpPr txBox="1"/>
          <p:nvPr/>
        </p:nvSpPr>
        <p:spPr>
          <a:xfrm>
            <a:off x="6720840" y="1737360"/>
            <a:ext cx="4937760" cy="150876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AUC 0.68 over all pairs, 0.69 on hard pairs</a:t>
            </a:r>
            <a:endParaRPr lang="en-US" sz="1500" dirty="0"/>
          </a:p>
        </p:txBody>
      </p:sp>
      <p:sp>
        <p:nvSpPr>
          <p:cNvPr id="9" name="Text 6"/>
          <p:cNvSpPr txBox="1"/>
          <p:nvPr/>
        </p:nvSpPr>
        <p:spPr>
          <a:xfrm>
            <a:off x="6720840" y="3291840"/>
            <a:ext cx="4937760" cy="365760"/>
          </a:xfrm>
          <a:prstGeom prst="rect">
            <a:avLst/>
          </a:prstGeom>
          <a:noFill/>
          <a:ln/>
        </p:spPr>
        <p:txBody>
          <a:bodyPr wrap="square" lIns="0" tIns="0" rIns="0" bIns="0" rtlCol="0" anchor="t"/>
          <a:lstStyle/>
          <a:p>
            <a:pPr indent="0" marL="0">
              <a:buNone/>
            </a:pPr>
            <a:r>
              <a:rPr lang="en-US" sz="1800" b="1" dirty="0">
                <a:solidFill>
                  <a:schemeClr val="accent4"/>
                </a:solidFill>
              </a:rPr>
              <a:t>✗  Cons</a:t>
            </a:r>
            <a:endParaRPr lang="en-US" sz="1800" dirty="0"/>
          </a:p>
        </p:txBody>
      </p:sp>
      <p:sp>
        <p:nvSpPr>
          <p:cNvPr id="10" name="Text 7"/>
          <p:cNvSpPr txBox="1"/>
          <p:nvPr/>
        </p:nvSpPr>
        <p:spPr>
          <a:xfrm>
            <a:off x="6720840" y="3703320"/>
            <a:ext cx="4937760" cy="150876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Right in only 39 of 116 hard decisions</a:t>
            </a:r>
            <a:endParaRPr lang="en-US" sz="1500" dirty="0"/>
          </a:p>
          <a:p>
            <a:pPr marL="342900" indent="-342900">
              <a:spcAft>
                <a:spcPts val="600"/>
              </a:spcAft>
              <a:buSzPct val="100000"/>
              <a:buChar char="•"/>
            </a:pPr>
            <a:r>
              <a:rPr lang="en-US" sz="1500" dirty="0">
                <a:solidFill>
                  <a:schemeClr val="tx1"/>
                </a:solidFill>
              </a:rPr>
              <a:t>As a re-ranker: −0.131</a:t>
            </a:r>
            <a:endParaRPr lang="en-US" sz="1500" dirty="0"/>
          </a:p>
        </p:txBody>
      </p:sp>
      <p:sp>
        <p:nvSpPr>
          <p:cNvPr id="11" name="Shape 8"/>
          <p:cNvSpPr/>
          <p:nvPr/>
        </p:nvSpPr>
        <p:spPr>
          <a:xfrm>
            <a:off x="6720840" y="5349240"/>
            <a:ext cx="4937760" cy="685800"/>
          </a:xfrm>
          <a:prstGeom prst="roundRect">
            <a:avLst>
              <a:gd name="adj" fmla="val 16000"/>
            </a:avLst>
          </a:prstGeom>
          <a:solidFill>
            <a:schemeClr val="accent4"/>
          </a:solidFill>
          <a:ln w="12700">
            <a:solidFill>
              <a:schemeClr val="accent4"/>
            </a:solidFill>
            <a:prstDash val="solid"/>
          </a:ln>
        </p:spPr>
      </p:sp>
      <p:sp>
        <p:nvSpPr>
          <p:cNvPr id="12" name="Text 9"/>
          <p:cNvSpPr txBox="1"/>
          <p:nvPr/>
        </p:nvSpPr>
        <p:spPr>
          <a:xfrm>
            <a:off x="6903720" y="5349240"/>
            <a:ext cx="4663440" cy="685800"/>
          </a:xfrm>
          <a:prstGeom prst="rect">
            <a:avLst/>
          </a:prstGeom>
          <a:noFill/>
          <a:ln/>
        </p:spPr>
        <p:txBody>
          <a:bodyPr wrap="square" lIns="0" tIns="0" rIns="0" bIns="0" rtlCol="0" anchor="ctr"/>
          <a:lstStyle/>
          <a:p>
            <a:pPr indent="0" marL="0">
              <a:buNone/>
            </a:pPr>
            <a:r>
              <a:rPr lang="en-US" sz="1500" b="1" dirty="0">
                <a:solidFill>
                  <a:schemeClr val="bg1"/>
                </a:solidFill>
              </a:rPr>
              <a:t>Fails the first gate</a:t>
            </a:r>
            <a:endParaRPr lang="en-US" sz="15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l"/>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Domain architecture</a:t>
            </a:r>
            <a:endParaRPr lang="en-US" sz="3200" dirty="0"/>
          </a:p>
        </p:txBody>
      </p:sp>
      <p:pic>
        <p:nvPicPr>
          <p:cNvPr id="3" name="Image 0" descr="Domain architectures of orthologs and paralogs">    </p:cNvPr>
          <p:cNvPicPr>
            <a:picLocks noChangeAspect="1"/>
          </p:cNvPicPr>
          <p:nvPr/>
        </p:nvPicPr>
        <p:blipFill>
          <a:blip r:embed="rId1"/>
          <a:stretch>
            <a:fillRect/>
          </a:stretch>
        </p:blipFill>
        <p:spPr>
          <a:xfrm>
            <a:off x="457200" y="1325880"/>
            <a:ext cx="5852160" cy="3657600"/>
          </a:xfrm>
          <a:prstGeom prst="rect">
            <a:avLst/>
          </a:prstGeom>
        </p:spPr>
      </p:pic>
      <p:sp>
        <p:nvSpPr>
          <p:cNvPr id="4" name="Shape 1"/>
          <p:cNvSpPr/>
          <p:nvPr/>
        </p:nvSpPr>
        <p:spPr>
          <a:xfrm>
            <a:off x="548640" y="5394960"/>
            <a:ext cx="2011680" cy="438912"/>
          </a:xfrm>
          <a:prstGeom prst="roundRect">
            <a:avLst>
              <a:gd name="adj" fmla="val 25000"/>
            </a:avLst>
          </a:prstGeom>
          <a:solidFill>
            <a:schemeClr val="accent6"/>
          </a:solidFill>
          <a:ln w="12700">
            <a:solidFill>
              <a:schemeClr val="accent6"/>
            </a:solidFill>
            <a:prstDash val="solid"/>
          </a:ln>
        </p:spPr>
      </p:sp>
      <p:sp>
        <p:nvSpPr>
          <p:cNvPr id="5" name="Text 2"/>
          <p:cNvSpPr txBox="1"/>
          <p:nvPr/>
        </p:nvSpPr>
        <p:spPr>
          <a:xfrm>
            <a:off x="548640" y="5394960"/>
            <a:ext cx="2011680" cy="438912"/>
          </a:xfrm>
          <a:prstGeom prst="rect">
            <a:avLst/>
          </a:prstGeom>
          <a:noFill/>
          <a:ln/>
        </p:spPr>
        <p:txBody>
          <a:bodyPr wrap="square" lIns="508" tIns="508" rIns="508" bIns="508" rtlCol="0" anchor="ctr"/>
          <a:lstStyle/>
          <a:p>
            <a:pPr algn="ctr" indent="0" marL="0">
              <a:buNone/>
            </a:pPr>
            <a:r>
              <a:rPr lang="en-US" sz="1200" b="1" dirty="0">
                <a:solidFill>
                  <a:schemeClr val="bg1"/>
                </a:solidFill>
              </a:rPr>
              <a:t>Round 2</a:t>
            </a:r>
            <a:endParaRPr lang="en-US" sz="1200" dirty="0"/>
          </a:p>
        </p:txBody>
      </p:sp>
      <p:sp>
        <p:nvSpPr>
          <p:cNvPr id="6" name="Text 3"/>
          <p:cNvSpPr txBox="1"/>
          <p:nvPr/>
        </p:nvSpPr>
        <p:spPr>
          <a:xfrm>
            <a:off x="2697480" y="5349240"/>
            <a:ext cx="3749040" cy="868680"/>
          </a:xfrm>
          <a:prstGeom prst="rect">
            <a:avLst/>
          </a:prstGeom>
          <a:noFill/>
          <a:ln/>
        </p:spPr>
        <p:txBody>
          <a:bodyPr wrap="square" lIns="0" tIns="0" rIns="0" bIns="0" rtlCol="0" anchor="t"/>
          <a:lstStyle/>
          <a:p>
            <a:pPr indent="0" marL="0">
              <a:buNone/>
            </a:pPr>
            <a:r>
              <a:rPr lang="en-US" sz="1300" i="1" dirty="0">
                <a:solidFill>
                  <a:schemeClr val="accent6"/>
                </a:solidFill>
              </a:rPr>
              <a:t>Pfam-A 38.2 domains and clans (TED/CATH not needed: Pfam covered &gt;96%).</a:t>
            </a:r>
            <a:endParaRPr lang="en-US" sz="1300" dirty="0"/>
          </a:p>
        </p:txBody>
      </p:sp>
      <p:sp>
        <p:nvSpPr>
          <p:cNvPr id="7" name="Text 4"/>
          <p:cNvSpPr txBox="1"/>
          <p:nvPr/>
        </p:nvSpPr>
        <p:spPr>
          <a:xfrm>
            <a:off x="6720840" y="1325880"/>
            <a:ext cx="4937760" cy="365760"/>
          </a:xfrm>
          <a:prstGeom prst="rect">
            <a:avLst/>
          </a:prstGeom>
          <a:noFill/>
          <a:ln/>
        </p:spPr>
        <p:txBody>
          <a:bodyPr wrap="square" lIns="0" tIns="0" rIns="0" bIns="0" rtlCol="0" anchor="t"/>
          <a:lstStyle/>
          <a:p>
            <a:pPr indent="0" marL="0">
              <a:buNone/>
            </a:pPr>
            <a:r>
              <a:rPr lang="en-US" sz="1800" b="1" dirty="0">
                <a:solidFill>
                  <a:schemeClr val="accent3"/>
                </a:solidFill>
              </a:rPr>
              <a:t>✓  Pros</a:t>
            </a:r>
            <a:endParaRPr lang="en-US" sz="1800" dirty="0"/>
          </a:p>
        </p:txBody>
      </p:sp>
      <p:sp>
        <p:nvSpPr>
          <p:cNvPr id="8" name="Text 5"/>
          <p:cNvSpPr txBox="1"/>
          <p:nvPr/>
        </p:nvSpPr>
        <p:spPr>
          <a:xfrm>
            <a:off x="6720840" y="1737360"/>
            <a:ext cx="4937760" cy="150876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Separates different groups (AUC 0.98)</a:t>
            </a:r>
            <a:endParaRPr lang="en-US" sz="1500" dirty="0"/>
          </a:p>
          <a:p>
            <a:pPr marL="342900" indent="-342900">
              <a:spcAft>
                <a:spcPts val="600"/>
              </a:spcAft>
              <a:buSzPct val="100000"/>
              <a:buChar char="•"/>
            </a:pPr>
            <a:r>
              <a:rPr lang="en-US" sz="1500" dirty="0">
                <a:solidFill>
                  <a:schemeClr val="tx1"/>
                </a:solidFill>
              </a:rPr>
              <a:t>Best gate: TreeFam-A F1 +0.018 [+0.003, +0.034]</a:t>
            </a:r>
            <a:endParaRPr lang="en-US" sz="1500" dirty="0"/>
          </a:p>
        </p:txBody>
      </p:sp>
      <p:sp>
        <p:nvSpPr>
          <p:cNvPr id="9" name="Text 6"/>
          <p:cNvSpPr txBox="1"/>
          <p:nvPr/>
        </p:nvSpPr>
        <p:spPr>
          <a:xfrm>
            <a:off x="6720840" y="3291840"/>
            <a:ext cx="4937760" cy="365760"/>
          </a:xfrm>
          <a:prstGeom prst="rect">
            <a:avLst/>
          </a:prstGeom>
          <a:noFill/>
          <a:ln/>
        </p:spPr>
        <p:txBody>
          <a:bodyPr wrap="square" lIns="0" tIns="0" rIns="0" bIns="0" rtlCol="0" anchor="t"/>
          <a:lstStyle/>
          <a:p>
            <a:pPr indent="0" marL="0">
              <a:buNone/>
            </a:pPr>
            <a:r>
              <a:rPr lang="en-US" sz="1800" b="1" dirty="0">
                <a:solidFill>
                  <a:schemeClr val="accent4"/>
                </a:solidFill>
              </a:rPr>
              <a:t>✗  Cons</a:t>
            </a:r>
            <a:endParaRPr lang="en-US" sz="1800" dirty="0"/>
          </a:p>
        </p:txBody>
      </p:sp>
      <p:sp>
        <p:nvSpPr>
          <p:cNvPr id="10" name="Text 7"/>
          <p:cNvSpPr txBox="1"/>
          <p:nvPr/>
        </p:nvSpPr>
        <p:spPr>
          <a:xfrm>
            <a:off x="6720840" y="3703320"/>
            <a:ext cx="4937760" cy="150876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Inside a group no better than shuffled (0.54)</a:t>
            </a:r>
            <a:endParaRPr lang="en-US" sz="1500" dirty="0"/>
          </a:p>
          <a:p>
            <a:pPr marL="342900" indent="-342900">
              <a:spcAft>
                <a:spcPts val="600"/>
              </a:spcAft>
              <a:buSzPct val="100000"/>
              <a:buChar char="•"/>
            </a:pPr>
            <a:r>
              <a:rPr lang="en-US" sz="1500" dirty="0">
                <a:solidFill>
                  <a:schemeClr val="tx1"/>
                </a:solidFill>
              </a:rPr>
              <a:t>OrthoBench −2.9 OG-F, precision −0.025</a:t>
            </a:r>
            <a:endParaRPr lang="en-US" sz="1500" dirty="0"/>
          </a:p>
          <a:p>
            <a:pPr marL="342900" indent="-342900">
              <a:spcAft>
                <a:spcPts val="600"/>
              </a:spcAft>
              <a:buSzPct val="100000"/>
              <a:buChar char="•"/>
            </a:pPr>
            <a:r>
              <a:rPr lang="en-US" sz="1500" dirty="0">
                <a:solidFill>
                  <a:schemeClr val="tx1"/>
                </a:solidFill>
              </a:rPr>
              <a:t>48 CPU-hours of annotation</a:t>
            </a:r>
            <a:endParaRPr lang="en-US" sz="1500" dirty="0"/>
          </a:p>
        </p:txBody>
      </p:sp>
      <p:sp>
        <p:nvSpPr>
          <p:cNvPr id="11" name="Shape 8"/>
          <p:cNvSpPr/>
          <p:nvPr/>
        </p:nvSpPr>
        <p:spPr>
          <a:xfrm>
            <a:off x="6720840" y="5349240"/>
            <a:ext cx="4937760" cy="685800"/>
          </a:xfrm>
          <a:prstGeom prst="roundRect">
            <a:avLst>
              <a:gd name="adj" fmla="val 16000"/>
            </a:avLst>
          </a:prstGeom>
          <a:solidFill>
            <a:schemeClr val="accent4"/>
          </a:solidFill>
          <a:ln w="12700">
            <a:solidFill>
              <a:schemeClr val="accent4"/>
            </a:solidFill>
            <a:prstDash val="solid"/>
          </a:ln>
        </p:spPr>
      </p:sp>
      <p:sp>
        <p:nvSpPr>
          <p:cNvPr id="12" name="Text 9"/>
          <p:cNvSpPr txBox="1"/>
          <p:nvPr/>
        </p:nvSpPr>
        <p:spPr>
          <a:xfrm>
            <a:off x="6903720" y="5349240"/>
            <a:ext cx="4663440" cy="685800"/>
          </a:xfrm>
          <a:prstGeom prst="rect">
            <a:avLst/>
          </a:prstGeom>
          <a:noFill/>
          <a:ln/>
        </p:spPr>
        <p:txBody>
          <a:bodyPr wrap="square" lIns="0" tIns="0" rIns="0" bIns="0" rtlCol="0" anchor="ctr"/>
          <a:lstStyle/>
          <a:p>
            <a:pPr indent="0" marL="0">
              <a:buNone/>
            </a:pPr>
            <a:r>
              <a:rPr lang="en-US" sz="1500" b="1" dirty="0">
                <a:solidFill>
                  <a:schemeClr val="bg1"/>
                </a:solidFill>
              </a:rPr>
              <a:t>Fails the guard metrics</a:t>
            </a:r>
            <a:endParaRPr lang="en-US" sz="15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l"/>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Protein language models</a:t>
            </a:r>
            <a:endParaRPr lang="en-US" sz="3200" dirty="0"/>
          </a:p>
        </p:txBody>
      </p:sp>
      <p:pic>
        <p:nvPicPr>
          <p:cNvPr id="3" name="Image 0" descr="Embedding space where ortholog and paralog are equally close">    </p:cNvPr>
          <p:cNvPicPr>
            <a:picLocks noChangeAspect="1"/>
          </p:cNvPicPr>
          <p:nvPr/>
        </p:nvPicPr>
        <p:blipFill>
          <a:blip r:embed="rId1"/>
          <a:stretch>
            <a:fillRect/>
          </a:stretch>
        </p:blipFill>
        <p:spPr>
          <a:xfrm>
            <a:off x="457200" y="1325880"/>
            <a:ext cx="5852160" cy="3657600"/>
          </a:xfrm>
          <a:prstGeom prst="rect">
            <a:avLst/>
          </a:prstGeom>
        </p:spPr>
      </p:pic>
      <p:sp>
        <p:nvSpPr>
          <p:cNvPr id="4" name="Shape 1"/>
          <p:cNvSpPr/>
          <p:nvPr/>
        </p:nvSpPr>
        <p:spPr>
          <a:xfrm>
            <a:off x="548640" y="5394960"/>
            <a:ext cx="2011680" cy="438912"/>
          </a:xfrm>
          <a:prstGeom prst="roundRect">
            <a:avLst>
              <a:gd name="adj" fmla="val 25000"/>
            </a:avLst>
          </a:prstGeom>
          <a:solidFill>
            <a:schemeClr val="accent6"/>
          </a:solidFill>
          <a:ln w="12700">
            <a:solidFill>
              <a:schemeClr val="accent6"/>
            </a:solidFill>
            <a:prstDash val="solid"/>
          </a:ln>
        </p:spPr>
      </p:sp>
      <p:sp>
        <p:nvSpPr>
          <p:cNvPr id="5" name="Text 2"/>
          <p:cNvSpPr txBox="1"/>
          <p:nvPr/>
        </p:nvSpPr>
        <p:spPr>
          <a:xfrm>
            <a:off x="548640" y="5394960"/>
            <a:ext cx="2011680" cy="438912"/>
          </a:xfrm>
          <a:prstGeom prst="rect">
            <a:avLst/>
          </a:prstGeom>
          <a:noFill/>
          <a:ln/>
        </p:spPr>
        <p:txBody>
          <a:bodyPr wrap="square" lIns="508" tIns="508" rIns="508" bIns="508" rtlCol="0" anchor="ctr"/>
          <a:lstStyle/>
          <a:p>
            <a:pPr algn="ctr" indent="0" marL="0">
              <a:buNone/>
            </a:pPr>
            <a:r>
              <a:rPr lang="en-US" sz="1200" b="1" dirty="0">
                <a:solidFill>
                  <a:schemeClr val="bg1"/>
                </a:solidFill>
              </a:rPr>
              <a:t>Round 2</a:t>
            </a:r>
            <a:endParaRPr lang="en-US" sz="1200" dirty="0"/>
          </a:p>
        </p:txBody>
      </p:sp>
      <p:sp>
        <p:nvSpPr>
          <p:cNvPr id="6" name="Text 3"/>
          <p:cNvSpPr txBox="1"/>
          <p:nvPr/>
        </p:nvSpPr>
        <p:spPr>
          <a:xfrm>
            <a:off x="2697480" y="5349240"/>
            <a:ext cx="3749040" cy="868680"/>
          </a:xfrm>
          <a:prstGeom prst="rect">
            <a:avLst/>
          </a:prstGeom>
          <a:noFill/>
          <a:ln/>
        </p:spPr>
        <p:txBody>
          <a:bodyPr wrap="square" lIns="0" tIns="0" rIns="0" bIns="0" rtlCol="0" anchor="t"/>
          <a:lstStyle/>
          <a:p>
            <a:pPr indent="0" marL="0">
              <a:buNone/>
            </a:pPr>
            <a:r>
              <a:rPr lang="en-US" sz="1300" i="1" dirty="0">
                <a:solidFill>
                  <a:schemeClr val="accent6"/>
                </a:solidFill>
              </a:rPr>
              <a:t>ESM-2 (35M–3B), ProtT5, and a head trained on our own synteny pairs.</a:t>
            </a:r>
            <a:endParaRPr lang="en-US" sz="1300" dirty="0"/>
          </a:p>
        </p:txBody>
      </p:sp>
      <p:sp>
        <p:nvSpPr>
          <p:cNvPr id="7" name="Text 4"/>
          <p:cNvSpPr txBox="1"/>
          <p:nvPr/>
        </p:nvSpPr>
        <p:spPr>
          <a:xfrm>
            <a:off x="6720840" y="1325880"/>
            <a:ext cx="4937760" cy="365760"/>
          </a:xfrm>
          <a:prstGeom prst="rect">
            <a:avLst/>
          </a:prstGeom>
          <a:noFill/>
          <a:ln/>
        </p:spPr>
        <p:txBody>
          <a:bodyPr wrap="square" lIns="0" tIns="0" rIns="0" bIns="0" rtlCol="0" anchor="t"/>
          <a:lstStyle/>
          <a:p>
            <a:pPr indent="0" marL="0">
              <a:buNone/>
            </a:pPr>
            <a:r>
              <a:rPr lang="en-US" sz="1800" b="1" dirty="0">
                <a:solidFill>
                  <a:schemeClr val="accent3"/>
                </a:solidFill>
              </a:rPr>
              <a:t>✓  Pros</a:t>
            </a:r>
            <a:endParaRPr lang="en-US" sz="1800" dirty="0"/>
          </a:p>
        </p:txBody>
      </p:sp>
      <p:sp>
        <p:nvSpPr>
          <p:cNvPr id="8" name="Text 5"/>
          <p:cNvSpPr txBox="1"/>
          <p:nvPr/>
        </p:nvSpPr>
        <p:spPr>
          <a:xfrm>
            <a:off x="6720840" y="1737360"/>
            <a:ext cx="4937760" cy="150876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Above shuffled on all triplets (+0.23–0.33)</a:t>
            </a:r>
            <a:endParaRPr lang="en-US" sz="1500" dirty="0"/>
          </a:p>
          <a:p>
            <a:pPr marL="342900" indent="-342900">
              <a:spcAft>
                <a:spcPts val="600"/>
              </a:spcAft>
              <a:buSzPct val="100000"/>
              <a:buChar char="•"/>
            </a:pPr>
            <a:r>
              <a:rPr lang="en-US" sz="1500" dirty="0">
                <a:solidFill>
                  <a:schemeClr val="tx1"/>
                </a:solidFill>
              </a:rPr>
              <a:t>Own head: +0.040 on all triplets</a:t>
            </a:r>
            <a:endParaRPr lang="en-US" sz="1500" dirty="0"/>
          </a:p>
          <a:p>
            <a:pPr marL="342900" indent="-342900">
              <a:spcAft>
                <a:spcPts val="600"/>
              </a:spcAft>
              <a:buSzPct val="100000"/>
              <a:buChar char="•"/>
            </a:pPr>
            <a:r>
              <a:rPr lang="en-US" sz="1500" dirty="0">
                <a:solidFill>
                  <a:schemeClr val="tx1"/>
                </a:solidFill>
              </a:rPr>
              <a:t>Cheap on GPU: 3 GPU-hours</a:t>
            </a:r>
            <a:endParaRPr lang="en-US" sz="1500" dirty="0"/>
          </a:p>
        </p:txBody>
      </p:sp>
      <p:sp>
        <p:nvSpPr>
          <p:cNvPr id="9" name="Text 6"/>
          <p:cNvSpPr txBox="1"/>
          <p:nvPr/>
        </p:nvSpPr>
        <p:spPr>
          <a:xfrm>
            <a:off x="6720840" y="3291840"/>
            <a:ext cx="4937760" cy="365760"/>
          </a:xfrm>
          <a:prstGeom prst="rect">
            <a:avLst/>
          </a:prstGeom>
          <a:noFill/>
          <a:ln/>
        </p:spPr>
        <p:txBody>
          <a:bodyPr wrap="square" lIns="0" tIns="0" rIns="0" bIns="0" rtlCol="0" anchor="t"/>
          <a:lstStyle/>
          <a:p>
            <a:pPr indent="0" marL="0">
              <a:buNone/>
            </a:pPr>
            <a:r>
              <a:rPr lang="en-US" sz="1800" b="1" dirty="0">
                <a:solidFill>
                  <a:schemeClr val="accent4"/>
                </a:solidFill>
              </a:rPr>
              <a:t>✗  Cons</a:t>
            </a:r>
            <a:endParaRPr lang="en-US" sz="1800" dirty="0"/>
          </a:p>
        </p:txBody>
      </p:sp>
      <p:sp>
        <p:nvSpPr>
          <p:cNvPr id="10" name="Text 7"/>
          <p:cNvSpPr txBox="1"/>
          <p:nvPr/>
        </p:nvSpPr>
        <p:spPr>
          <a:xfrm>
            <a:off x="6720840" y="3703320"/>
            <a:ext cx="4937760" cy="150876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Below sequence (deep 0.61–0.72 vs 0.757)</a:t>
            </a:r>
            <a:endParaRPr lang="en-US" sz="1500" dirty="0"/>
          </a:p>
          <a:p>
            <a:pPr marL="342900" indent="-342900">
              <a:spcAft>
                <a:spcPts val="600"/>
              </a:spcAft>
              <a:buSzPct val="100000"/>
              <a:buChar char="•"/>
            </a:pPr>
            <a:r>
              <a:rPr lang="en-US" sz="1500" dirty="0">
                <a:solidFill>
                  <a:schemeClr val="tx1"/>
                </a:solidFill>
              </a:rPr>
              <a:t>Fails where sequence fails; hard −0.007</a:t>
            </a:r>
            <a:endParaRPr lang="en-US" sz="1500" dirty="0"/>
          </a:p>
          <a:p>
            <a:pPr marL="342900" indent="-342900">
              <a:spcAft>
                <a:spcPts val="600"/>
              </a:spcAft>
              <a:buSzPct val="100000"/>
              <a:buChar char="•"/>
            </a:pPr>
            <a:r>
              <a:rPr lang="en-US" sz="1500" dirty="0">
                <a:solidFill>
                  <a:schemeClr val="tx1"/>
                </a:solidFill>
              </a:rPr>
              <a:t>Neighbour rescue chained 229k of 251k genes</a:t>
            </a:r>
            <a:endParaRPr lang="en-US" sz="1500" dirty="0"/>
          </a:p>
        </p:txBody>
      </p:sp>
      <p:sp>
        <p:nvSpPr>
          <p:cNvPr id="11" name="Shape 8"/>
          <p:cNvSpPr/>
          <p:nvPr/>
        </p:nvSpPr>
        <p:spPr>
          <a:xfrm>
            <a:off x="6720840" y="5349240"/>
            <a:ext cx="4937760" cy="685800"/>
          </a:xfrm>
          <a:prstGeom prst="roundRect">
            <a:avLst>
              <a:gd name="adj" fmla="val 16000"/>
            </a:avLst>
          </a:prstGeom>
          <a:solidFill>
            <a:schemeClr val="accent4"/>
          </a:solidFill>
          <a:ln w="12700">
            <a:solidFill>
              <a:schemeClr val="accent4"/>
            </a:solidFill>
            <a:prstDash val="solid"/>
          </a:ln>
        </p:spPr>
      </p:sp>
      <p:sp>
        <p:nvSpPr>
          <p:cNvPr id="12" name="Text 9"/>
          <p:cNvSpPr txBox="1"/>
          <p:nvPr/>
        </p:nvSpPr>
        <p:spPr>
          <a:xfrm>
            <a:off x="6903720" y="5349240"/>
            <a:ext cx="4663440" cy="685800"/>
          </a:xfrm>
          <a:prstGeom prst="rect">
            <a:avLst/>
          </a:prstGeom>
          <a:noFill/>
          <a:ln/>
        </p:spPr>
        <p:txBody>
          <a:bodyPr wrap="square" lIns="0" tIns="0" rIns="0" bIns="0" rtlCol="0" anchor="ctr"/>
          <a:lstStyle/>
          <a:p>
            <a:pPr indent="0" marL="0">
              <a:buNone/>
            </a:pPr>
            <a:r>
              <a:rPr lang="en-US" sz="1500" b="1" dirty="0">
                <a:solidFill>
                  <a:schemeClr val="bg1"/>
                </a:solidFill>
              </a:rPr>
              <a:t>Fails the first gate</a:t>
            </a:r>
            <a:endParaRPr lang="en-US" sz="15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l"/>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Intron positions</a:t>
            </a:r>
            <a:endParaRPr lang="en-US" sz="3200" dirty="0"/>
          </a:p>
        </p:txBody>
      </p:sp>
      <p:pic>
        <p:nvPicPr>
          <p:cNvPr id="3" name="Image 0" descr="Intron positions mapped onto aligned proteins">    </p:cNvPr>
          <p:cNvPicPr>
            <a:picLocks noChangeAspect="1"/>
          </p:cNvPicPr>
          <p:nvPr/>
        </p:nvPicPr>
        <p:blipFill>
          <a:blip r:embed="rId1"/>
          <a:stretch>
            <a:fillRect/>
          </a:stretch>
        </p:blipFill>
        <p:spPr>
          <a:xfrm>
            <a:off x="457200" y="1325880"/>
            <a:ext cx="5852160" cy="3657600"/>
          </a:xfrm>
          <a:prstGeom prst="rect">
            <a:avLst/>
          </a:prstGeom>
        </p:spPr>
      </p:pic>
      <p:sp>
        <p:nvSpPr>
          <p:cNvPr id="4" name="Shape 1"/>
          <p:cNvSpPr/>
          <p:nvPr/>
        </p:nvSpPr>
        <p:spPr>
          <a:xfrm>
            <a:off x="548640" y="5394960"/>
            <a:ext cx="2011680" cy="438912"/>
          </a:xfrm>
          <a:prstGeom prst="roundRect">
            <a:avLst>
              <a:gd name="adj" fmla="val 25000"/>
            </a:avLst>
          </a:prstGeom>
          <a:solidFill>
            <a:schemeClr val="accent6"/>
          </a:solidFill>
          <a:ln w="12700">
            <a:solidFill>
              <a:schemeClr val="accent6"/>
            </a:solidFill>
            <a:prstDash val="solid"/>
          </a:ln>
        </p:spPr>
      </p:sp>
      <p:sp>
        <p:nvSpPr>
          <p:cNvPr id="5" name="Text 2"/>
          <p:cNvSpPr txBox="1"/>
          <p:nvPr/>
        </p:nvSpPr>
        <p:spPr>
          <a:xfrm>
            <a:off x="548640" y="5394960"/>
            <a:ext cx="2011680" cy="438912"/>
          </a:xfrm>
          <a:prstGeom prst="rect">
            <a:avLst/>
          </a:prstGeom>
          <a:noFill/>
          <a:ln/>
        </p:spPr>
        <p:txBody>
          <a:bodyPr wrap="square" lIns="508" tIns="508" rIns="508" bIns="508" rtlCol="0" anchor="ctr"/>
          <a:lstStyle/>
          <a:p>
            <a:pPr algn="ctr" indent="0" marL="0">
              <a:buNone/>
            </a:pPr>
            <a:r>
              <a:rPr lang="en-US" sz="1200" b="1" dirty="0">
                <a:solidFill>
                  <a:schemeClr val="bg1"/>
                </a:solidFill>
              </a:rPr>
              <a:t>Round 2</a:t>
            </a:r>
            <a:endParaRPr lang="en-US" sz="1200" dirty="0"/>
          </a:p>
        </p:txBody>
      </p:sp>
      <p:sp>
        <p:nvSpPr>
          <p:cNvPr id="6" name="Text 3"/>
          <p:cNvSpPr txBox="1"/>
          <p:nvPr/>
        </p:nvSpPr>
        <p:spPr>
          <a:xfrm>
            <a:off x="2697480" y="5349240"/>
            <a:ext cx="3749040" cy="868680"/>
          </a:xfrm>
          <a:prstGeom prst="rect">
            <a:avLst/>
          </a:prstGeom>
          <a:noFill/>
          <a:ln/>
        </p:spPr>
        <p:txBody>
          <a:bodyPr wrap="square" lIns="0" tIns="0" rIns="0" bIns="0" rtlCol="0" anchor="t"/>
          <a:lstStyle/>
          <a:p>
            <a:pPr indent="0" marL="0">
              <a:buNone/>
            </a:pPr>
            <a:r>
              <a:rPr lang="en-US" sz="1300" i="1" dirty="0">
                <a:solidFill>
                  <a:schemeClr val="accent6"/>
                </a:solidFill>
              </a:rPr>
              <a:t>Shared intron positions and phases from Ensembl gene models.</a:t>
            </a:r>
            <a:endParaRPr lang="en-US" sz="1300" dirty="0"/>
          </a:p>
        </p:txBody>
      </p:sp>
      <p:sp>
        <p:nvSpPr>
          <p:cNvPr id="7" name="Text 4"/>
          <p:cNvSpPr txBox="1"/>
          <p:nvPr/>
        </p:nvSpPr>
        <p:spPr>
          <a:xfrm>
            <a:off x="6720840" y="1325880"/>
            <a:ext cx="4937760" cy="365760"/>
          </a:xfrm>
          <a:prstGeom prst="rect">
            <a:avLst/>
          </a:prstGeom>
          <a:noFill/>
          <a:ln/>
        </p:spPr>
        <p:txBody>
          <a:bodyPr wrap="square" lIns="0" tIns="0" rIns="0" bIns="0" rtlCol="0" anchor="t"/>
          <a:lstStyle/>
          <a:p>
            <a:pPr indent="0" marL="0">
              <a:buNone/>
            </a:pPr>
            <a:r>
              <a:rPr lang="en-US" sz="1800" b="1" dirty="0">
                <a:solidFill>
                  <a:schemeClr val="accent3"/>
                </a:solidFill>
              </a:rPr>
              <a:t>✓  Pros</a:t>
            </a:r>
            <a:endParaRPr lang="en-US" sz="1800" dirty="0"/>
          </a:p>
        </p:txBody>
      </p:sp>
      <p:sp>
        <p:nvSpPr>
          <p:cNvPr id="8" name="Text 5"/>
          <p:cNvSpPr txBox="1"/>
          <p:nvPr/>
        </p:nvSpPr>
        <p:spPr>
          <a:xfrm>
            <a:off x="6720840" y="1737360"/>
            <a:ext cx="4937760" cy="150876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Some signal (AUC 0.578)</a:t>
            </a:r>
            <a:endParaRPr lang="en-US" sz="1500" dirty="0"/>
          </a:p>
          <a:p>
            <a:pPr marL="342900" indent="-342900">
              <a:spcAft>
                <a:spcPts val="600"/>
              </a:spcAft>
              <a:buSzPct val="100000"/>
              <a:buChar char="•"/>
            </a:pPr>
            <a:r>
              <a:rPr lang="en-US" sz="1500" dirty="0">
                <a:solidFill>
                  <a:schemeClr val="tx1"/>
                </a:solidFill>
              </a:rPr>
              <a:t>Free with any genome annotation</a:t>
            </a:r>
            <a:endParaRPr lang="en-US" sz="1500" dirty="0"/>
          </a:p>
        </p:txBody>
      </p:sp>
      <p:sp>
        <p:nvSpPr>
          <p:cNvPr id="9" name="Text 6"/>
          <p:cNvSpPr txBox="1"/>
          <p:nvPr/>
        </p:nvSpPr>
        <p:spPr>
          <a:xfrm>
            <a:off x="6720840" y="3291840"/>
            <a:ext cx="4937760" cy="365760"/>
          </a:xfrm>
          <a:prstGeom prst="rect">
            <a:avLst/>
          </a:prstGeom>
          <a:noFill/>
          <a:ln/>
        </p:spPr>
        <p:txBody>
          <a:bodyPr wrap="square" lIns="0" tIns="0" rIns="0" bIns="0" rtlCol="0" anchor="t"/>
          <a:lstStyle/>
          <a:p>
            <a:pPr indent="0" marL="0">
              <a:buNone/>
            </a:pPr>
            <a:r>
              <a:rPr lang="en-US" sz="1800" b="1" dirty="0">
                <a:solidFill>
                  <a:schemeClr val="accent4"/>
                </a:solidFill>
              </a:rPr>
              <a:t>✗  Cons</a:t>
            </a:r>
            <a:endParaRPr lang="en-US" sz="1800" dirty="0"/>
          </a:p>
        </p:txBody>
      </p:sp>
      <p:sp>
        <p:nvSpPr>
          <p:cNvPr id="10" name="Text 7"/>
          <p:cNvSpPr txBox="1"/>
          <p:nvPr/>
        </p:nvSpPr>
        <p:spPr>
          <a:xfrm>
            <a:off x="6720840" y="3703320"/>
            <a:ext cx="4937760" cy="150876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Below sequence (0.654)</a:t>
            </a:r>
            <a:endParaRPr lang="en-US" sz="1500" dirty="0"/>
          </a:p>
          <a:p>
            <a:pPr marL="342900" indent="-342900">
              <a:spcAft>
                <a:spcPts val="600"/>
              </a:spcAft>
              <a:buSzPct val="100000"/>
              <a:buChar char="•"/>
            </a:pPr>
            <a:r>
              <a:rPr lang="en-US" sz="1500" dirty="0">
                <a:solidFill>
                  <a:schemeClr val="tx1"/>
                </a:solidFill>
              </a:rPr>
              <a:t>Tie-break −0.071 [−0.149, +0.007]</a:t>
            </a:r>
            <a:endParaRPr lang="en-US" sz="1500" dirty="0"/>
          </a:p>
        </p:txBody>
      </p:sp>
      <p:sp>
        <p:nvSpPr>
          <p:cNvPr id="11" name="Shape 8"/>
          <p:cNvSpPr/>
          <p:nvPr/>
        </p:nvSpPr>
        <p:spPr>
          <a:xfrm>
            <a:off x="6720840" y="5349240"/>
            <a:ext cx="4937760" cy="685800"/>
          </a:xfrm>
          <a:prstGeom prst="roundRect">
            <a:avLst>
              <a:gd name="adj" fmla="val 16000"/>
            </a:avLst>
          </a:prstGeom>
          <a:solidFill>
            <a:schemeClr val="accent4"/>
          </a:solidFill>
          <a:ln w="12700">
            <a:solidFill>
              <a:schemeClr val="accent4"/>
            </a:solidFill>
            <a:prstDash val="solid"/>
          </a:ln>
        </p:spPr>
      </p:sp>
      <p:sp>
        <p:nvSpPr>
          <p:cNvPr id="12" name="Text 9"/>
          <p:cNvSpPr txBox="1"/>
          <p:nvPr/>
        </p:nvSpPr>
        <p:spPr>
          <a:xfrm>
            <a:off x="6903720" y="5349240"/>
            <a:ext cx="4663440" cy="685800"/>
          </a:xfrm>
          <a:prstGeom prst="rect">
            <a:avLst/>
          </a:prstGeom>
          <a:noFill/>
          <a:ln/>
        </p:spPr>
        <p:txBody>
          <a:bodyPr wrap="square" lIns="0" tIns="0" rIns="0" bIns="0" rtlCol="0" anchor="ctr"/>
          <a:lstStyle/>
          <a:p>
            <a:pPr indent="0" marL="0">
              <a:buNone/>
            </a:pPr>
            <a:r>
              <a:rPr lang="en-US" sz="1500" b="1" dirty="0">
                <a:solidFill>
                  <a:schemeClr val="bg1"/>
                </a:solidFill>
              </a:rPr>
              <a:t>Not integrated (a logged judgement call)</a:t>
            </a:r>
            <a:endParaRPr lang="en-US" sz="15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l"/>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GPU acceleration</a:t>
            </a:r>
            <a:endParaRPr lang="en-US" sz="3200" dirty="0"/>
          </a:p>
        </p:txBody>
      </p:sp>
      <p:pic>
        <p:nvPicPr>
          <p:cNvPr id="3" name="Image 0" descr="Small families on the GPU, large families on DIAMOND">    </p:cNvPr>
          <p:cNvPicPr>
            <a:picLocks noChangeAspect="1"/>
          </p:cNvPicPr>
          <p:nvPr/>
        </p:nvPicPr>
        <p:blipFill>
          <a:blip r:embed="rId1"/>
          <a:stretch>
            <a:fillRect/>
          </a:stretch>
        </p:blipFill>
        <p:spPr>
          <a:xfrm>
            <a:off x="457200" y="1325880"/>
            <a:ext cx="5852160" cy="3657600"/>
          </a:xfrm>
          <a:prstGeom prst="rect">
            <a:avLst/>
          </a:prstGeom>
        </p:spPr>
      </p:pic>
      <p:sp>
        <p:nvSpPr>
          <p:cNvPr id="4" name="Shape 1"/>
          <p:cNvSpPr/>
          <p:nvPr/>
        </p:nvSpPr>
        <p:spPr>
          <a:xfrm>
            <a:off x="548640" y="5394960"/>
            <a:ext cx="2011680" cy="438912"/>
          </a:xfrm>
          <a:prstGeom prst="roundRect">
            <a:avLst>
              <a:gd name="adj" fmla="val 25000"/>
            </a:avLst>
          </a:prstGeom>
          <a:solidFill>
            <a:schemeClr val="accent6"/>
          </a:solidFill>
          <a:ln w="12700">
            <a:solidFill>
              <a:schemeClr val="accent6"/>
            </a:solidFill>
            <a:prstDash val="solid"/>
          </a:ln>
        </p:spPr>
      </p:sp>
      <p:sp>
        <p:nvSpPr>
          <p:cNvPr id="5" name="Text 2"/>
          <p:cNvSpPr txBox="1"/>
          <p:nvPr/>
        </p:nvSpPr>
        <p:spPr>
          <a:xfrm>
            <a:off x="548640" y="5394960"/>
            <a:ext cx="2011680" cy="438912"/>
          </a:xfrm>
          <a:prstGeom prst="rect">
            <a:avLst/>
          </a:prstGeom>
          <a:noFill/>
          <a:ln/>
        </p:spPr>
        <p:txBody>
          <a:bodyPr wrap="square" lIns="508" tIns="508" rIns="508" bIns="508" rtlCol="0" anchor="ctr"/>
          <a:lstStyle/>
          <a:p>
            <a:pPr algn="ctr" indent="0" marL="0">
              <a:buNone/>
            </a:pPr>
            <a:r>
              <a:rPr lang="en-US" sz="1200" b="1" dirty="0">
                <a:solidFill>
                  <a:schemeClr val="bg1"/>
                </a:solidFill>
              </a:rPr>
              <a:t>Post-freeze</a:t>
            </a:r>
            <a:endParaRPr lang="en-US" sz="1200" dirty="0"/>
          </a:p>
        </p:txBody>
      </p:sp>
      <p:sp>
        <p:nvSpPr>
          <p:cNvPr id="6" name="Text 3"/>
          <p:cNvSpPr txBox="1"/>
          <p:nvPr/>
        </p:nvSpPr>
        <p:spPr>
          <a:xfrm>
            <a:off x="2697480" y="5349240"/>
            <a:ext cx="3749040" cy="868680"/>
          </a:xfrm>
          <a:prstGeom prst="rect">
            <a:avLst/>
          </a:prstGeom>
          <a:noFill/>
          <a:ln/>
        </p:spPr>
        <p:txBody>
          <a:bodyPr wrap="square" lIns="0" tIns="0" rIns="0" bIns="0" rtlCol="0" anchor="t"/>
          <a:lstStyle/>
          <a:p>
            <a:pPr indent="0" marL="0">
              <a:buNone/>
            </a:pPr>
            <a:r>
              <a:rPr lang="en-US" sz="1300" i="1" dirty="0">
                <a:solidFill>
                  <a:schemeClr val="accent6"/>
                </a:solidFill>
              </a:rPr>
              <a:t>An A100 GPU arrived after 19.5 h; all options are opt-in on branch v2-gpu.</a:t>
            </a:r>
            <a:endParaRPr lang="en-US" sz="1300" dirty="0"/>
          </a:p>
        </p:txBody>
      </p:sp>
      <p:sp>
        <p:nvSpPr>
          <p:cNvPr id="7" name="Text 4"/>
          <p:cNvSpPr txBox="1"/>
          <p:nvPr/>
        </p:nvSpPr>
        <p:spPr>
          <a:xfrm>
            <a:off x="6720840" y="1325880"/>
            <a:ext cx="4937760" cy="365760"/>
          </a:xfrm>
          <a:prstGeom prst="rect">
            <a:avLst/>
          </a:prstGeom>
          <a:noFill/>
          <a:ln/>
        </p:spPr>
        <p:txBody>
          <a:bodyPr wrap="square" lIns="0" tIns="0" rIns="0" bIns="0" rtlCol="0" anchor="t"/>
          <a:lstStyle/>
          <a:p>
            <a:pPr indent="0" marL="0">
              <a:buNone/>
            </a:pPr>
            <a:r>
              <a:rPr lang="en-US" sz="1800" b="1" dirty="0">
                <a:solidFill>
                  <a:schemeClr val="accent3"/>
                </a:solidFill>
              </a:rPr>
              <a:t>✓  Pros</a:t>
            </a:r>
            <a:endParaRPr lang="en-US" sz="1800" dirty="0"/>
          </a:p>
        </p:txBody>
      </p:sp>
      <p:sp>
        <p:nvSpPr>
          <p:cNvPr id="8" name="Text 5"/>
          <p:cNvSpPr txBox="1"/>
          <p:nvPr/>
        </p:nvSpPr>
        <p:spPr>
          <a:xfrm>
            <a:off x="6720840" y="1737360"/>
            <a:ext cx="4937760" cy="150876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Own CUDA Smith–Waterman: 600–640 GCUPS</a:t>
            </a:r>
            <a:endParaRPr lang="en-US" sz="1500" dirty="0"/>
          </a:p>
          <a:p>
            <a:pPr marL="342900" indent="-342900">
              <a:spcAft>
                <a:spcPts val="600"/>
              </a:spcAft>
              <a:buSzPct val="100000"/>
              <a:buChar char="•"/>
            </a:pPr>
            <a:r>
              <a:rPr lang="en-US" sz="1500" dirty="0">
                <a:solidFill>
                  <a:schemeClr val="tx1"/>
                </a:solidFill>
              </a:rPr>
              <a:t>1.18× faster end to end, same accuracy</a:t>
            </a:r>
            <a:endParaRPr lang="en-US" sz="1500" dirty="0"/>
          </a:p>
          <a:p>
            <a:pPr marL="342900" indent="-342900">
              <a:spcAft>
                <a:spcPts val="600"/>
              </a:spcAft>
              <a:buSzPct val="100000"/>
              <a:buChar char="•"/>
            </a:pPr>
            <a:r>
              <a:rPr lang="en-US" sz="1500" dirty="0">
                <a:solidFill>
                  <a:schemeClr val="tx1"/>
                </a:solidFill>
              </a:rPr>
              <a:t>ProstT5 3Di 40–60× faster</a:t>
            </a:r>
            <a:endParaRPr lang="en-US" sz="1500" dirty="0"/>
          </a:p>
        </p:txBody>
      </p:sp>
      <p:sp>
        <p:nvSpPr>
          <p:cNvPr id="9" name="Text 6"/>
          <p:cNvSpPr txBox="1"/>
          <p:nvPr/>
        </p:nvSpPr>
        <p:spPr>
          <a:xfrm>
            <a:off x="6720840" y="3291840"/>
            <a:ext cx="4937760" cy="365760"/>
          </a:xfrm>
          <a:prstGeom prst="rect">
            <a:avLst/>
          </a:prstGeom>
          <a:noFill/>
          <a:ln/>
        </p:spPr>
        <p:txBody>
          <a:bodyPr wrap="square" lIns="0" tIns="0" rIns="0" bIns="0" rtlCol="0" anchor="t"/>
          <a:lstStyle/>
          <a:p>
            <a:pPr indent="0" marL="0">
              <a:buNone/>
            </a:pPr>
            <a:r>
              <a:rPr lang="en-US" sz="1800" b="1" dirty="0">
                <a:solidFill>
                  <a:schemeClr val="accent4"/>
                </a:solidFill>
              </a:rPr>
              <a:t>✗  Cons</a:t>
            </a:r>
            <a:endParaRPr lang="en-US" sz="1800" dirty="0"/>
          </a:p>
        </p:txBody>
      </p:sp>
      <p:sp>
        <p:nvSpPr>
          <p:cNvPr id="10" name="Text 7"/>
          <p:cNvSpPr txBox="1"/>
          <p:nvPr/>
        </p:nvSpPr>
        <p:spPr>
          <a:xfrm>
            <a:off x="6720840" y="3703320"/>
            <a:ext cx="4937760" cy="150876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All-GPU scoring changes the score graph: −5 to −8 OG-F</a:t>
            </a:r>
            <a:endParaRPr lang="en-US" sz="1500" dirty="0"/>
          </a:p>
          <a:p>
            <a:pPr marL="342900" indent="-342900">
              <a:spcAft>
                <a:spcPts val="600"/>
              </a:spcAft>
              <a:buSzPct val="100000"/>
              <a:buChar char="•"/>
            </a:pPr>
            <a:r>
              <a:rPr lang="en-US" sz="1500" dirty="0">
                <a:solidFill>
                  <a:schemeClr val="tx1"/>
                </a:solidFill>
              </a:rPr>
              <a:t>Local trees are not GPU-bound</a:t>
            </a:r>
            <a:endParaRPr lang="en-US" sz="1500" dirty="0"/>
          </a:p>
          <a:p>
            <a:pPr marL="342900" indent="-342900">
              <a:spcAft>
                <a:spcPts val="600"/>
              </a:spcAft>
              <a:buSzPct val="100000"/>
              <a:buChar char="•"/>
            </a:pPr>
            <a:r>
              <a:rPr lang="en-US" sz="1500" dirty="0">
                <a:solidFill>
                  <a:schemeClr val="tx1"/>
                </a:solidFill>
              </a:rPr>
              <a:t>MMseqs2-GPU slower at these sizes</a:t>
            </a:r>
            <a:endParaRPr lang="en-US" sz="1500" dirty="0"/>
          </a:p>
        </p:txBody>
      </p:sp>
      <p:sp>
        <p:nvSpPr>
          <p:cNvPr id="11" name="Shape 8"/>
          <p:cNvSpPr/>
          <p:nvPr/>
        </p:nvSpPr>
        <p:spPr>
          <a:xfrm>
            <a:off x="6720840" y="5349240"/>
            <a:ext cx="4937760" cy="685800"/>
          </a:xfrm>
          <a:prstGeom prst="roundRect">
            <a:avLst>
              <a:gd name="adj" fmla="val 16000"/>
            </a:avLst>
          </a:prstGeom>
          <a:solidFill>
            <a:schemeClr val="accent3"/>
          </a:solidFill>
          <a:ln w="12700">
            <a:solidFill>
              <a:schemeClr val="accent3"/>
            </a:solidFill>
            <a:prstDash val="solid"/>
          </a:ln>
        </p:spPr>
      </p:sp>
      <p:sp>
        <p:nvSpPr>
          <p:cNvPr id="12" name="Text 9"/>
          <p:cNvSpPr txBox="1"/>
          <p:nvPr/>
        </p:nvSpPr>
        <p:spPr>
          <a:xfrm>
            <a:off x="6903720" y="5349240"/>
            <a:ext cx="4663440" cy="685800"/>
          </a:xfrm>
          <a:prstGeom prst="rect">
            <a:avLst/>
          </a:prstGeom>
          <a:noFill/>
          <a:ln/>
        </p:spPr>
        <p:txBody>
          <a:bodyPr wrap="square" lIns="0" tIns="0" rIns="0" bIns="0" rtlCol="0" anchor="ctr"/>
          <a:lstStyle/>
          <a:p>
            <a:pPr indent="0" marL="0">
              <a:buNone/>
            </a:pPr>
            <a:r>
              <a:rPr lang="en-US" sz="1500" b="1" dirty="0">
                <a:solidFill>
                  <a:schemeClr val="bg1"/>
                </a:solidFill>
              </a:rPr>
              <a:t>Safe GPU option kept; faster variants not equivalent</a:t>
            </a:r>
            <a:endParaRPr lang="en-US" sz="15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l"/>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Informative alone is not useful together</a:t>
            </a:r>
            <a:endParaRPr lang="en-US" sz="3200" dirty="0"/>
          </a:p>
        </p:txBody>
      </p:sp>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548640" y="1234440"/>
          <a:ext cx="7863840" cy="914400"/>
        </p:xfrm>
        <a:graphic>
          <a:graphicData uri="http://schemas.openxmlformats.org/drawingml/2006/table">
            <a:tbl>
              <a:tblPr/>
              <a:tblGrid>
                <a:gridCol w="1737360"/>
                <a:gridCol w="1463040"/>
                <a:gridCol w="1554480"/>
                <a:gridCol w="1737360"/>
                <a:gridCol w="1371600"/>
              </a:tblGrid>
              <a:tr h="411480">
                <a:tc>
                  <a:txBody>
                    <a:bodyPr/>
                    <a:lstStyle/>
                    <a:p>
                      <a:pPr indent="0" marL="0">
                        <a:buNone/>
                      </a:pPr>
                      <a:r>
                        <a:rPr lang="en-US" sz="1300" b="1" dirty="0">
                          <a:solidFill>
                            <a:srgbClr val="1F3A5F"/>
                          </a:solidFill>
                        </a:rPr>
                        <a:t>Layer</a:t>
                      </a:r>
                      <a:endParaRPr lang="en-US" sz="1300" dirty="0"/>
                    </a:p>
                  </a:txBody>
                  <a:tcPr marL="91440" marR="9144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9EEF5"/>
                    </a:solidFill>
                  </a:tcPr>
                </a:tc>
                <a:tc>
                  <a:txBody>
                    <a:bodyPr/>
                    <a:lstStyle/>
                    <a:p>
                      <a:pPr indent="0" marL="0">
                        <a:buNone/>
                      </a:pPr>
                      <a:r>
                        <a:rPr lang="en-US" sz="1300" b="1" dirty="0">
                          <a:solidFill>
                            <a:srgbClr val="1F3A5F"/>
                          </a:solidFill>
                        </a:rPr>
                        <a:t>Signal, all pairs</a:t>
                      </a:r>
                      <a:endParaRPr lang="en-US" sz="1300" dirty="0"/>
                    </a:p>
                  </a:txBody>
                  <a:tcPr marL="91440" marR="9144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9EEF5"/>
                    </a:solidFill>
                  </a:tcPr>
                </a:tc>
                <a:tc>
                  <a:txBody>
                    <a:bodyPr/>
                    <a:lstStyle/>
                    <a:p>
                      <a:pPr indent="0" marL="0">
                        <a:buNone/>
                      </a:pPr>
                      <a:r>
                        <a:rPr lang="en-US" sz="1300" b="1" dirty="0">
                          <a:solidFill>
                            <a:srgbClr val="1F3A5F"/>
                          </a:solidFill>
                        </a:rPr>
                        <a:t>Signal, hard cases</a:t>
                      </a:r>
                      <a:endParaRPr lang="en-US" sz="1300" dirty="0"/>
                    </a:p>
                  </a:txBody>
                  <a:tcPr marL="91440" marR="9144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9EEF5"/>
                    </a:solidFill>
                  </a:tcPr>
                </a:tc>
                <a:tc>
                  <a:txBody>
                    <a:bodyPr/>
                    <a:lstStyle/>
                    <a:p>
                      <a:pPr indent="0" marL="0">
                        <a:buNone/>
                      </a:pPr>
                      <a:r>
                        <a:rPr lang="en-US" sz="1300" b="1" dirty="0">
                          <a:solidFill>
                            <a:srgbClr val="1F3A5F"/>
                          </a:solidFill>
                        </a:rPr>
                        <a:t>Inside the pipeline</a:t>
                      </a:r>
                      <a:endParaRPr lang="en-US" sz="1300" dirty="0"/>
                    </a:p>
                  </a:txBody>
                  <a:tcPr marL="91440" marR="9144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9EEF5"/>
                    </a:solidFill>
                  </a:tcPr>
                </a:tc>
                <a:tc>
                  <a:txBody>
                    <a:bodyPr/>
                    <a:lstStyle/>
                    <a:p>
                      <a:pPr indent="0" marL="0">
                        <a:buNone/>
                      </a:pPr>
                      <a:r>
                        <a:rPr lang="en-US" sz="1300" b="1" dirty="0">
                          <a:solidFill>
                            <a:srgbClr val="1F3A5F"/>
                          </a:solidFill>
                        </a:rPr>
                        <a:t>Verdict</a:t>
                      </a:r>
                      <a:endParaRPr lang="en-US" sz="1300" dirty="0"/>
                    </a:p>
                  </a:txBody>
                  <a:tcPr marL="91440" marR="9144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9EEF5"/>
                    </a:solidFill>
                  </a:tcPr>
                </a:tc>
              </a:tr>
              <a:tr h="411480">
                <a:tc>
                  <a:txBody>
                    <a:bodyPr/>
                    <a:lstStyle/>
                    <a:p>
                      <a:pPr indent="0" marL="0">
                        <a:buNone/>
                      </a:pPr>
                      <a:r>
                        <a:rPr lang="en-US" sz="1300" b="1" dirty="0">
                          <a:solidFill>
                            <a:srgbClr val="22303F"/>
                          </a:solidFill>
                        </a:rPr>
                        <a:t>Gene order</a:t>
                      </a:r>
                      <a:endParaRPr lang="en-US" sz="1300" dirty="0"/>
                    </a:p>
                  </a:txBody>
                  <a:tcPr marL="91440" marR="9144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indent="0" marL="0">
                        <a:buNone/>
                      </a:pPr>
                      <a:r>
                        <a:rPr lang="en-US" sz="1300" dirty="0">
                          <a:solidFill>
                            <a:srgbClr val="4E8A5B"/>
                          </a:solidFill>
                        </a:rPr>
                        <a:t>strong</a:t>
                      </a:r>
                      <a:endParaRPr lang="en-US" sz="1300" dirty="0"/>
                    </a:p>
                  </a:txBody>
                  <a:tcPr marL="91440" marR="9144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indent="0" marL="0">
                        <a:buNone/>
                      </a:pPr>
                      <a:r>
                        <a:rPr lang="en-US" sz="1300" dirty="0">
                          <a:solidFill>
                            <a:srgbClr val="22303F"/>
                          </a:solidFill>
                        </a:rPr>
                        <a:t>shallow only</a:t>
                      </a:r>
                      <a:endParaRPr lang="en-US" sz="1300" dirty="0"/>
                    </a:p>
                  </a:txBody>
                  <a:tcPr marL="91440" marR="9144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indent="0" marL="0">
                        <a:buNone/>
                      </a:pPr>
                      <a:r>
                        <a:rPr lang="en-US" sz="1300" dirty="0">
                          <a:solidFill>
                            <a:srgbClr val="22303F"/>
                          </a:solidFill>
                        </a:rPr>
                        <a:t>no test gain</a:t>
                      </a:r>
                      <a:endParaRPr lang="en-US" sz="1300" dirty="0"/>
                    </a:p>
                  </a:txBody>
                  <a:tcPr marL="91440" marR="9144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indent="0" marL="0">
                        <a:buNone/>
                      </a:pPr>
                      <a:r>
                        <a:rPr lang="en-US" sz="1300" b="1" dirty="0">
                          <a:solidFill>
                            <a:srgbClr val="D9822B"/>
                          </a:solidFill>
                        </a:rPr>
                        <a:t>option, on</a:t>
                      </a:r>
                      <a:endParaRPr lang="en-US" sz="1300" dirty="0"/>
                    </a:p>
                  </a:txBody>
                  <a:tcPr marL="91440" marR="9144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r>
              <a:tr h="411480">
                <a:tc>
                  <a:txBody>
                    <a:bodyPr/>
                    <a:lstStyle/>
                    <a:p>
                      <a:pPr indent="0" marL="0">
                        <a:buNone/>
                      </a:pPr>
                      <a:r>
                        <a:rPr lang="en-US" sz="1300" b="1" dirty="0">
                          <a:solidFill>
                            <a:srgbClr val="22303F"/>
                          </a:solidFill>
                        </a:rPr>
                        <a:t>3D structure</a:t>
                      </a:r>
                      <a:endParaRPr lang="en-US" sz="1300" dirty="0"/>
                    </a:p>
                  </a:txBody>
                  <a:tcPr marL="91440" marR="9144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indent="0" marL="0">
                        <a:buNone/>
                      </a:pPr>
                      <a:r>
                        <a:rPr lang="en-US" sz="1300" dirty="0">
                          <a:solidFill>
                            <a:srgbClr val="4E8A5B"/>
                          </a:solidFill>
                        </a:rPr>
                        <a:t>strong</a:t>
                      </a:r>
                      <a:endParaRPr lang="en-US" sz="1300" dirty="0"/>
                    </a:p>
                  </a:txBody>
                  <a:tcPr marL="91440" marR="9144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indent="0" marL="0">
                        <a:buNone/>
                      </a:pPr>
                      <a:r>
                        <a:rPr lang="en-US" sz="1300" dirty="0">
                          <a:solidFill>
                            <a:srgbClr val="B5473A"/>
                          </a:solidFill>
                        </a:rPr>
                        <a:t>none</a:t>
                      </a:r>
                      <a:endParaRPr lang="en-US" sz="1300" dirty="0"/>
                    </a:p>
                  </a:txBody>
                  <a:tcPr marL="91440" marR="9144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indent="0" marL="0">
                        <a:buNone/>
                      </a:pPr>
                      <a:r>
                        <a:rPr lang="en-US" sz="1300" dirty="0">
                          <a:solidFill>
                            <a:srgbClr val="B5473A"/>
                          </a:solidFill>
                        </a:rPr>
                        <a:t>loss of precision</a:t>
                      </a:r>
                      <a:endParaRPr lang="en-US" sz="1300" dirty="0"/>
                    </a:p>
                  </a:txBody>
                  <a:tcPr marL="91440" marR="9144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indent="0" marL="0">
                        <a:buNone/>
                      </a:pPr>
                      <a:r>
                        <a:rPr lang="en-US" sz="1300" b="1" dirty="0">
                          <a:solidFill>
                            <a:srgbClr val="D9822B"/>
                          </a:solidFill>
                        </a:rPr>
                        <a:t>option, off</a:t>
                      </a:r>
                      <a:endParaRPr lang="en-US" sz="1300" dirty="0"/>
                    </a:p>
                  </a:txBody>
                  <a:tcPr marL="91440" marR="9144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r>
              <a:tr h="411480">
                <a:tc>
                  <a:txBody>
                    <a:bodyPr/>
                    <a:lstStyle/>
                    <a:p>
                      <a:pPr indent="0" marL="0">
                        <a:buNone/>
                      </a:pPr>
                      <a:r>
                        <a:rPr lang="en-US" sz="1300" b="1" dirty="0">
                          <a:solidFill>
                            <a:srgbClr val="22303F"/>
                          </a:solidFill>
                        </a:rPr>
                        <a:t>Expression</a:t>
                      </a:r>
                      <a:endParaRPr lang="en-US" sz="1300" dirty="0"/>
                    </a:p>
                  </a:txBody>
                  <a:tcPr marL="91440" marR="9144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indent="0" marL="0">
                        <a:buNone/>
                      </a:pPr>
                      <a:r>
                        <a:rPr lang="en-US" sz="1300" dirty="0">
                          <a:solidFill>
                            <a:srgbClr val="D9822B"/>
                          </a:solidFill>
                        </a:rPr>
                        <a:t>weak</a:t>
                      </a:r>
                      <a:endParaRPr lang="en-US" sz="1300" dirty="0"/>
                    </a:p>
                  </a:txBody>
                  <a:tcPr marL="91440" marR="9144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indent="0" marL="0">
                        <a:buNone/>
                      </a:pPr>
                      <a:r>
                        <a:rPr lang="en-US" sz="1300" dirty="0">
                          <a:solidFill>
                            <a:srgbClr val="B5473A"/>
                          </a:solidFill>
                        </a:rPr>
                        <a:t>none</a:t>
                      </a:r>
                      <a:endParaRPr lang="en-US" sz="1300" dirty="0"/>
                    </a:p>
                  </a:txBody>
                  <a:tcPr marL="91440" marR="9144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indent="0" marL="0">
                        <a:buNone/>
                      </a:pPr>
                      <a:r>
                        <a:rPr lang="en-US" sz="1300" dirty="0">
                          <a:solidFill>
                            <a:srgbClr val="22303F"/>
                          </a:solidFill>
                        </a:rPr>
                        <a:t>not run</a:t>
                      </a:r>
                      <a:endParaRPr lang="en-US" sz="1300" dirty="0"/>
                    </a:p>
                  </a:txBody>
                  <a:tcPr marL="91440" marR="9144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indent="0" marL="0">
                        <a:buNone/>
                      </a:pPr>
                      <a:r>
                        <a:rPr lang="en-US" sz="1300" b="1" dirty="0">
                          <a:solidFill>
                            <a:srgbClr val="B5473A"/>
                          </a:solidFill>
                        </a:rPr>
                        <a:t>rejected</a:t>
                      </a:r>
                      <a:endParaRPr lang="en-US" sz="1300" dirty="0"/>
                    </a:p>
                  </a:txBody>
                  <a:tcPr marL="91440" marR="9144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r>
              <a:tr h="411480">
                <a:tc>
                  <a:txBody>
                    <a:bodyPr/>
                    <a:lstStyle/>
                    <a:p>
                      <a:pPr indent="0" marL="0">
                        <a:buNone/>
                      </a:pPr>
                      <a:r>
                        <a:rPr lang="en-US" sz="1300" b="1" dirty="0">
                          <a:solidFill>
                            <a:srgbClr val="22303F"/>
                          </a:solidFill>
                        </a:rPr>
                        <a:t>Isoforms</a:t>
                      </a:r>
                      <a:endParaRPr lang="en-US" sz="1300" dirty="0"/>
                    </a:p>
                  </a:txBody>
                  <a:tcPr marL="91440" marR="9144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indent="0" marL="0">
                        <a:buNone/>
                      </a:pPr>
                      <a:r>
                        <a:rPr lang="en-US" sz="1300" dirty="0">
                          <a:solidFill>
                            <a:srgbClr val="22303F"/>
                          </a:solidFill>
                        </a:rPr>
                        <a:t>—</a:t>
                      </a:r>
                      <a:endParaRPr lang="en-US" sz="1300" dirty="0"/>
                    </a:p>
                  </a:txBody>
                  <a:tcPr marL="91440" marR="9144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indent="0" marL="0">
                        <a:buNone/>
                      </a:pPr>
                      <a:r>
                        <a:rPr lang="en-US" sz="1300" dirty="0">
                          <a:solidFill>
                            <a:srgbClr val="B5473A"/>
                          </a:solidFill>
                        </a:rPr>
                        <a:t>none</a:t>
                      </a:r>
                      <a:endParaRPr lang="en-US" sz="1300" dirty="0"/>
                    </a:p>
                  </a:txBody>
                  <a:tcPr marL="91440" marR="9144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indent="0" marL="0">
                        <a:buNone/>
                      </a:pPr>
                      <a:r>
                        <a:rPr lang="en-US" sz="1300" dirty="0">
                          <a:solidFill>
                            <a:srgbClr val="22303F"/>
                          </a:solidFill>
                        </a:rPr>
                        <a:t>not run</a:t>
                      </a:r>
                      <a:endParaRPr lang="en-US" sz="1300" dirty="0"/>
                    </a:p>
                  </a:txBody>
                  <a:tcPr marL="91440" marR="9144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indent="0" marL="0">
                        <a:buNone/>
                      </a:pPr>
                      <a:r>
                        <a:rPr lang="en-US" sz="1300" b="1" dirty="0">
                          <a:solidFill>
                            <a:srgbClr val="B5473A"/>
                          </a:solidFill>
                        </a:rPr>
                        <a:t>rejected</a:t>
                      </a:r>
                      <a:endParaRPr lang="en-US" sz="1300" dirty="0"/>
                    </a:p>
                  </a:txBody>
                  <a:tcPr marL="91440" marR="9144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r>
              <a:tr h="411480">
                <a:tc>
                  <a:txBody>
                    <a:bodyPr/>
                    <a:lstStyle/>
                    <a:p>
                      <a:pPr indent="0" marL="0">
                        <a:buNone/>
                      </a:pPr>
                      <a:r>
                        <a:rPr lang="en-US" sz="1300" b="1" dirty="0">
                          <a:solidFill>
                            <a:srgbClr val="22303F"/>
                          </a:solidFill>
                        </a:rPr>
                        <a:t>Genomic DNA</a:t>
                      </a:r>
                      <a:endParaRPr lang="en-US" sz="1300" dirty="0"/>
                    </a:p>
                  </a:txBody>
                  <a:tcPr marL="91440" marR="9144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indent="0" marL="0">
                        <a:buNone/>
                      </a:pPr>
                      <a:r>
                        <a:rPr lang="en-US" sz="1300" dirty="0">
                          <a:solidFill>
                            <a:srgbClr val="22303F"/>
                          </a:solidFill>
                        </a:rPr>
                        <a:t>—</a:t>
                      </a:r>
                      <a:endParaRPr lang="en-US" sz="1300" dirty="0"/>
                    </a:p>
                  </a:txBody>
                  <a:tcPr marL="91440" marR="9144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indent="0" marL="0">
                        <a:buNone/>
                      </a:pPr>
                      <a:r>
                        <a:rPr lang="en-US" sz="1300" dirty="0">
                          <a:solidFill>
                            <a:srgbClr val="22303F"/>
                          </a:solidFill>
                        </a:rPr>
                        <a:t>—</a:t>
                      </a:r>
                      <a:endParaRPr lang="en-US" sz="1300" dirty="0"/>
                    </a:p>
                  </a:txBody>
                  <a:tcPr marL="91440" marR="9144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indent="0" marL="0">
                        <a:buNone/>
                      </a:pPr>
                      <a:r>
                        <a:rPr lang="en-US" sz="1300" dirty="0">
                          <a:solidFill>
                            <a:srgbClr val="22303F"/>
                          </a:solidFill>
                        </a:rPr>
                        <a:t>finds errors</a:t>
                      </a:r>
                      <a:endParaRPr lang="en-US" sz="1300" dirty="0"/>
                    </a:p>
                  </a:txBody>
                  <a:tcPr marL="91440" marR="9144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indent="0" marL="0">
                        <a:buNone/>
                      </a:pPr>
                      <a:r>
                        <a:rPr lang="en-US" sz="1300" b="1" dirty="0">
                          <a:solidFill>
                            <a:srgbClr val="4E8A5B"/>
                          </a:solidFill>
                        </a:rPr>
                        <a:t>QC add-on</a:t>
                      </a:r>
                      <a:endParaRPr lang="en-US" sz="1300" dirty="0"/>
                    </a:p>
                  </a:txBody>
                  <a:tcPr marL="91440" marR="9144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r>
              <a:tr h="411480">
                <a:tc>
                  <a:txBody>
                    <a:bodyPr/>
                    <a:lstStyle/>
                    <a:p>
                      <a:pPr indent="0" marL="0">
                        <a:buNone/>
                      </a:pPr>
                      <a:r>
                        <a:rPr lang="en-US" sz="1300" b="1" dirty="0">
                          <a:solidFill>
                            <a:srgbClr val="22303F"/>
                          </a:solidFill>
                        </a:rPr>
                        <a:t>Networks</a:t>
                      </a:r>
                      <a:endParaRPr lang="en-US" sz="1300" dirty="0"/>
                    </a:p>
                  </a:txBody>
                  <a:tcPr marL="91440" marR="9144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indent="0" marL="0">
                        <a:buNone/>
                      </a:pPr>
                      <a:r>
                        <a:rPr lang="en-US" sz="1300" dirty="0">
                          <a:solidFill>
                            <a:srgbClr val="D9822B"/>
                          </a:solidFill>
                        </a:rPr>
                        <a:t>weak</a:t>
                      </a:r>
                      <a:endParaRPr lang="en-US" sz="1300" dirty="0"/>
                    </a:p>
                  </a:txBody>
                  <a:tcPr marL="91440" marR="9144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indent="0" marL="0">
                        <a:buNone/>
                      </a:pPr>
                      <a:r>
                        <a:rPr lang="en-US" sz="1300" dirty="0">
                          <a:solidFill>
                            <a:srgbClr val="B5473A"/>
                          </a:solidFill>
                        </a:rPr>
                        <a:t>none</a:t>
                      </a:r>
                      <a:endParaRPr lang="en-US" sz="1300" dirty="0"/>
                    </a:p>
                  </a:txBody>
                  <a:tcPr marL="91440" marR="9144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indent="0" marL="0">
                        <a:buNone/>
                      </a:pPr>
                      <a:r>
                        <a:rPr lang="en-US" sz="1300" dirty="0">
                          <a:solidFill>
                            <a:srgbClr val="22303F"/>
                          </a:solidFill>
                        </a:rPr>
                        <a:t>not run</a:t>
                      </a:r>
                      <a:endParaRPr lang="en-US" sz="1300" dirty="0"/>
                    </a:p>
                  </a:txBody>
                  <a:tcPr marL="91440" marR="9144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indent="0" marL="0">
                        <a:buNone/>
                      </a:pPr>
                      <a:r>
                        <a:rPr lang="en-US" sz="1300" b="1" dirty="0">
                          <a:solidFill>
                            <a:srgbClr val="B5473A"/>
                          </a:solidFill>
                        </a:rPr>
                        <a:t>fails</a:t>
                      </a:r>
                      <a:endParaRPr lang="en-US" sz="1300" dirty="0"/>
                    </a:p>
                  </a:txBody>
                  <a:tcPr marL="91440" marR="9144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r>
              <a:tr h="411480">
                <a:tc>
                  <a:txBody>
                    <a:bodyPr/>
                    <a:lstStyle/>
                    <a:p>
                      <a:pPr indent="0" marL="0">
                        <a:buNone/>
                      </a:pPr>
                      <a:r>
                        <a:rPr lang="en-US" sz="1300" b="1" dirty="0">
                          <a:solidFill>
                            <a:srgbClr val="22303F"/>
                          </a:solidFill>
                        </a:rPr>
                        <a:t>Abundance</a:t>
                      </a:r>
                      <a:endParaRPr lang="en-US" sz="1300" dirty="0"/>
                    </a:p>
                  </a:txBody>
                  <a:tcPr marL="91440" marR="9144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indent="0" marL="0">
                        <a:buNone/>
                      </a:pPr>
                      <a:r>
                        <a:rPr lang="en-US" sz="1300" dirty="0">
                          <a:solidFill>
                            <a:srgbClr val="D9822B"/>
                          </a:solidFill>
                        </a:rPr>
                        <a:t>weak</a:t>
                      </a:r>
                      <a:endParaRPr lang="en-US" sz="1300" dirty="0"/>
                    </a:p>
                  </a:txBody>
                  <a:tcPr marL="91440" marR="9144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indent="0" marL="0">
                        <a:buNone/>
                      </a:pPr>
                      <a:r>
                        <a:rPr lang="en-US" sz="1300" dirty="0">
                          <a:solidFill>
                            <a:srgbClr val="D9822B"/>
                          </a:solidFill>
                        </a:rPr>
                        <a:t>weak</a:t>
                      </a:r>
                      <a:endParaRPr lang="en-US" sz="1300" dirty="0"/>
                    </a:p>
                  </a:txBody>
                  <a:tcPr marL="91440" marR="9144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indent="0" marL="0">
                        <a:buNone/>
                      </a:pPr>
                      <a:r>
                        <a:rPr lang="en-US" sz="1300" dirty="0">
                          <a:solidFill>
                            <a:srgbClr val="22303F"/>
                          </a:solidFill>
                        </a:rPr>
                        <a:t>not run</a:t>
                      </a:r>
                      <a:endParaRPr lang="en-US" sz="1300" dirty="0"/>
                    </a:p>
                  </a:txBody>
                  <a:tcPr marL="91440" marR="9144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indent="0" marL="0">
                        <a:buNone/>
                      </a:pPr>
                      <a:r>
                        <a:rPr lang="en-US" sz="1300" b="1" dirty="0">
                          <a:solidFill>
                            <a:srgbClr val="B5473A"/>
                          </a:solidFill>
                        </a:rPr>
                        <a:t>fails</a:t>
                      </a:r>
                      <a:endParaRPr lang="en-US" sz="1300" dirty="0"/>
                    </a:p>
                  </a:txBody>
                  <a:tcPr marL="91440" marR="9144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r>
              <a:tr h="411480">
                <a:tc>
                  <a:txBody>
                    <a:bodyPr/>
                    <a:lstStyle/>
                    <a:p>
                      <a:pPr indent="0" marL="0">
                        <a:buNone/>
                      </a:pPr>
                      <a:r>
                        <a:rPr lang="en-US" sz="1300" b="1" dirty="0">
                          <a:solidFill>
                            <a:srgbClr val="22303F"/>
                          </a:solidFill>
                        </a:rPr>
                        <a:t>Domains</a:t>
                      </a:r>
                      <a:endParaRPr lang="en-US" sz="1300" dirty="0"/>
                    </a:p>
                  </a:txBody>
                  <a:tcPr marL="91440" marR="9144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indent="0" marL="0">
                        <a:buNone/>
                      </a:pPr>
                      <a:r>
                        <a:rPr lang="en-US" sz="1300" dirty="0">
                          <a:solidFill>
                            <a:srgbClr val="4E8A5B"/>
                          </a:solidFill>
                        </a:rPr>
                        <a:t>strong</a:t>
                      </a:r>
                      <a:endParaRPr lang="en-US" sz="1300" dirty="0"/>
                    </a:p>
                  </a:txBody>
                  <a:tcPr marL="91440" marR="9144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indent="0" marL="0">
                        <a:buNone/>
                      </a:pPr>
                      <a:r>
                        <a:rPr lang="en-US" sz="1300" dirty="0">
                          <a:solidFill>
                            <a:srgbClr val="D9822B"/>
                          </a:solidFill>
                        </a:rPr>
                        <a:t>weak</a:t>
                      </a:r>
                      <a:endParaRPr lang="en-US" sz="1300" dirty="0"/>
                    </a:p>
                  </a:txBody>
                  <a:tcPr marL="91440" marR="9144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indent="0" marL="0">
                        <a:buNone/>
                      </a:pPr>
                      <a:r>
                        <a:rPr lang="en-US" sz="1300" dirty="0">
                          <a:solidFill>
                            <a:srgbClr val="B5473A"/>
                          </a:solidFill>
                        </a:rPr>
                        <a:t>loss of precision</a:t>
                      </a:r>
                      <a:endParaRPr lang="en-US" sz="1300" dirty="0"/>
                    </a:p>
                  </a:txBody>
                  <a:tcPr marL="91440" marR="9144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indent="0" marL="0">
                        <a:buNone/>
                      </a:pPr>
                      <a:r>
                        <a:rPr lang="en-US" sz="1300" b="1" dirty="0">
                          <a:solidFill>
                            <a:srgbClr val="B5473A"/>
                          </a:solidFill>
                        </a:rPr>
                        <a:t>fails</a:t>
                      </a:r>
                      <a:endParaRPr lang="en-US" sz="1300" dirty="0"/>
                    </a:p>
                  </a:txBody>
                  <a:tcPr marL="91440" marR="9144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r>
              <a:tr h="411480">
                <a:tc>
                  <a:txBody>
                    <a:bodyPr/>
                    <a:lstStyle/>
                    <a:p>
                      <a:pPr indent="0" marL="0">
                        <a:buNone/>
                      </a:pPr>
                      <a:r>
                        <a:rPr lang="en-US" sz="1300" b="1" dirty="0">
                          <a:solidFill>
                            <a:srgbClr val="22303F"/>
                          </a:solidFill>
                        </a:rPr>
                        <a:t>Protein LMs</a:t>
                      </a:r>
                      <a:endParaRPr lang="en-US" sz="1300" dirty="0"/>
                    </a:p>
                  </a:txBody>
                  <a:tcPr marL="91440" marR="9144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indent="0" marL="0">
                        <a:buNone/>
                      </a:pPr>
                      <a:r>
                        <a:rPr lang="en-US" sz="1300" dirty="0">
                          <a:solidFill>
                            <a:srgbClr val="4E8A5B"/>
                          </a:solidFill>
                        </a:rPr>
                        <a:t>strong</a:t>
                      </a:r>
                      <a:endParaRPr lang="en-US" sz="1300" dirty="0"/>
                    </a:p>
                  </a:txBody>
                  <a:tcPr marL="91440" marR="9144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indent="0" marL="0">
                        <a:buNone/>
                      </a:pPr>
                      <a:r>
                        <a:rPr lang="en-US" sz="1300" dirty="0">
                          <a:solidFill>
                            <a:srgbClr val="B5473A"/>
                          </a:solidFill>
                        </a:rPr>
                        <a:t>none</a:t>
                      </a:r>
                      <a:endParaRPr lang="en-US" sz="1300" dirty="0"/>
                    </a:p>
                  </a:txBody>
                  <a:tcPr marL="91440" marR="9144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indent="0" marL="0">
                        <a:buNone/>
                      </a:pPr>
                      <a:r>
                        <a:rPr lang="en-US" sz="1300" dirty="0">
                          <a:solidFill>
                            <a:srgbClr val="22303F"/>
                          </a:solidFill>
                        </a:rPr>
                        <a:t>not run</a:t>
                      </a:r>
                      <a:endParaRPr lang="en-US" sz="1300" dirty="0"/>
                    </a:p>
                  </a:txBody>
                  <a:tcPr marL="91440" marR="9144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indent="0" marL="0">
                        <a:buNone/>
                      </a:pPr>
                      <a:r>
                        <a:rPr lang="en-US" sz="1300" b="1" dirty="0">
                          <a:solidFill>
                            <a:srgbClr val="B5473A"/>
                          </a:solidFill>
                        </a:rPr>
                        <a:t>fails</a:t>
                      </a:r>
                      <a:endParaRPr lang="en-US" sz="1300" dirty="0"/>
                    </a:p>
                  </a:txBody>
                  <a:tcPr marL="91440" marR="9144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r>
              <a:tr h="411480">
                <a:tc>
                  <a:txBody>
                    <a:bodyPr/>
                    <a:lstStyle/>
                    <a:p>
                      <a:pPr indent="0" marL="0">
                        <a:buNone/>
                      </a:pPr>
                      <a:r>
                        <a:rPr lang="en-US" sz="1300" b="1" dirty="0">
                          <a:solidFill>
                            <a:srgbClr val="22303F"/>
                          </a:solidFill>
                        </a:rPr>
                        <a:t>Introns</a:t>
                      </a:r>
                      <a:endParaRPr lang="en-US" sz="1300" dirty="0"/>
                    </a:p>
                  </a:txBody>
                  <a:tcPr marL="91440" marR="9144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indent="0" marL="0">
                        <a:buNone/>
                      </a:pPr>
                      <a:r>
                        <a:rPr lang="en-US" sz="1300" dirty="0">
                          <a:solidFill>
                            <a:srgbClr val="D9822B"/>
                          </a:solidFill>
                        </a:rPr>
                        <a:t>weak</a:t>
                      </a:r>
                      <a:endParaRPr lang="en-US" sz="1300" dirty="0"/>
                    </a:p>
                  </a:txBody>
                  <a:tcPr marL="91440" marR="9144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indent="0" marL="0">
                        <a:buNone/>
                      </a:pPr>
                      <a:r>
                        <a:rPr lang="en-US" sz="1300" dirty="0">
                          <a:solidFill>
                            <a:srgbClr val="D9822B"/>
                          </a:solidFill>
                        </a:rPr>
                        <a:t>weak</a:t>
                      </a:r>
                      <a:endParaRPr lang="en-US" sz="1300" dirty="0"/>
                    </a:p>
                  </a:txBody>
                  <a:tcPr marL="91440" marR="9144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indent="0" marL="0">
                        <a:buNone/>
                      </a:pPr>
                      <a:r>
                        <a:rPr lang="en-US" sz="1300" dirty="0">
                          <a:solidFill>
                            <a:srgbClr val="22303F"/>
                          </a:solidFill>
                        </a:rPr>
                        <a:t>not run</a:t>
                      </a:r>
                      <a:endParaRPr lang="en-US" sz="1300" dirty="0"/>
                    </a:p>
                  </a:txBody>
                  <a:tcPr marL="91440" marR="9144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indent="0" marL="0">
                        <a:buNone/>
                      </a:pPr>
                      <a:r>
                        <a:rPr lang="en-US" sz="1300" b="1" dirty="0">
                          <a:solidFill>
                            <a:srgbClr val="B5473A"/>
                          </a:solidFill>
                        </a:rPr>
                        <a:t>fails</a:t>
                      </a:r>
                      <a:endParaRPr lang="en-US" sz="1300" dirty="0"/>
                    </a:p>
                  </a:txBody>
                  <a:tcPr marL="91440" marR="9144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r>
            </a:tbl>
          </a:graphicData>
        </a:graphic>
      </p:graphicFrame>
      <p:sp>
        <p:nvSpPr>
          <p:cNvPr id="4" name="Shape 1"/>
          <p:cNvSpPr/>
          <p:nvPr/>
        </p:nvSpPr>
        <p:spPr>
          <a:xfrm>
            <a:off x="8778240" y="1234440"/>
            <a:ext cx="2834640" cy="4526280"/>
          </a:xfrm>
          <a:prstGeom prst="roundRect">
            <a:avLst>
              <a:gd name="adj" fmla="val 3871"/>
            </a:avLst>
          </a:prstGeom>
          <a:solidFill>
            <a:schemeClr val="tx2"/>
          </a:solidFill>
          <a:ln w="12700">
            <a:solidFill>
              <a:schemeClr val="tx2"/>
            </a:solidFill>
            <a:prstDash val="solid"/>
          </a:ln>
        </p:spPr>
      </p:sp>
      <p:sp>
        <p:nvSpPr>
          <p:cNvPr id="5" name="Text 2"/>
          <p:cNvSpPr txBox="1"/>
          <p:nvPr/>
        </p:nvSpPr>
        <p:spPr>
          <a:xfrm>
            <a:off x="9006840" y="1463040"/>
            <a:ext cx="2423160" cy="4114800"/>
          </a:xfrm>
          <a:prstGeom prst="rect">
            <a:avLst/>
          </a:prstGeom>
          <a:noFill/>
          <a:ln/>
        </p:spPr>
        <p:txBody>
          <a:bodyPr wrap="square" lIns="0" tIns="0" rIns="0" bIns="0" rtlCol="0" anchor="t"/>
          <a:lstStyle/>
          <a:p>
            <a:pPr indent="0" marL="0">
              <a:buNone/>
            </a:pPr>
            <a:r>
              <a:rPr lang="en-US" sz="1600" dirty="0">
                <a:solidFill>
                  <a:schemeClr val="bg1"/>
                </a:solidFill>
                <a:latin typeface="Cambria" pitchFamily="34" charset="0"/>
                <a:ea typeface="Cambria" pitchFamily="34" charset="-122"/>
                <a:cs typeface="Cambria" pitchFamily="34" charset="-120"/>
              </a:rPr>
              <a:t>Most layers tell orthologs from paralogs in general.</a:t>
            </a:r>
            <a:endParaRPr lang="en-US" sz="1600" dirty="0"/>
          </a:p>
          <a:p>
            <a:pPr indent="0" marL="0">
              <a:buNone/>
            </a:pPr>
            <a:endParaRPr lang="en-US" sz="1600" dirty="0"/>
          </a:p>
          <a:p>
            <a:pPr indent="0" marL="0">
              <a:buNone/>
            </a:pPr>
            <a:r>
              <a:rPr lang="en-US" sz="1600" dirty="0">
                <a:solidFill>
                  <a:schemeClr val="bg1"/>
                </a:solidFill>
                <a:latin typeface="Cambria" pitchFamily="34" charset="0"/>
                <a:ea typeface="Cambria" pitchFamily="34" charset="-122"/>
                <a:cs typeface="Cambria" pitchFamily="34" charset="-120"/>
              </a:rPr>
              <a:t>Few help in the hard cases, the near-equal paralogs where sequence fails.</a:t>
            </a:r>
            <a:endParaRPr lang="en-US" sz="1600" dirty="0"/>
          </a:p>
          <a:p>
            <a:pPr indent="0" marL="0">
              <a:buNone/>
            </a:pPr>
            <a:endParaRPr lang="en-US" sz="1600" dirty="0"/>
          </a:p>
          <a:p>
            <a:pPr indent="0" marL="0">
              <a:buNone/>
            </a:pPr>
            <a:r>
              <a:rPr lang="en-US" sz="1600" dirty="0">
                <a:solidFill>
                  <a:schemeClr val="bg1"/>
                </a:solidFill>
                <a:latin typeface="Cambria" pitchFamily="34" charset="0"/>
                <a:ea typeface="Cambria" pitchFamily="34" charset="-122"/>
                <a:cs typeface="Cambria" pitchFamily="34" charset="-120"/>
              </a:rPr>
              <a:t>That is where a layer must add something new.</a:t>
            </a:r>
            <a:endParaRPr lang="en-US" sz="16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l"/>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0" type="title" hasCustomPrompt="1"/>
          </p:nvPr>
        </p:nvSpPr>
        <p:spPr>
          <a:xfrm>
            <a:off x="731520" y="2651760"/>
            <a:ext cx="10698480" cy="1097280"/>
          </a:xfrm>
          <a:prstGeom prst="rect">
            <a:avLst/>
          </a:prstGeom>
          <a:noFill/>
          <a:ln/>
        </p:spPr>
        <p:txBody>
          <a:bodyPr wrap="square" rtlCol="0"/>
          <a:lstStyle/>
          <a:p>
            <a:pPr algn="l" indent="0" marL="0">
              <a:buNone/>
            </a:pPr>
            <a:r>
              <a:rPr lang="en-US" sz="4400" b="1" dirty="0">
                <a:solidFill>
                  <a:schemeClr val="bg1"/>
                </a:solidFill>
                <a:latin typeface="Cambria" pitchFamily="34" charset="0"/>
                <a:ea typeface="Cambria" pitchFamily="34" charset="-122"/>
                <a:cs typeface="Cambria" pitchFamily="34" charset="-120"/>
              </a:rPr>
              <a:t>Decision making</a:t>
            </a:r>
            <a:endParaRPr lang="en-US" sz="4400" dirty="0"/>
          </a:p>
        </p:txBody>
      </p:sp>
      <p:sp>
        <p:nvSpPr>
          <p:cNvPr id="3" name="Text 0"/>
          <p:cNvSpPr/>
          <p:nvPr>
            <p:ph idx="101" type="body" hasCustomPrompt="1"/>
          </p:nvPr>
        </p:nvSpPr>
        <p:spPr>
          <a:xfrm>
            <a:off x="731520" y="3794760"/>
            <a:ext cx="10698480" cy="731520"/>
          </a:xfrm>
          <a:prstGeom prst="rect">
            <a:avLst/>
          </a:prstGeom>
          <a:noFill/>
          <a:ln/>
        </p:spPr>
        <p:txBody>
          <a:bodyPr wrap="square" rtlCol="0"/>
          <a:lstStyle/>
          <a:p>
            <a:pPr indent="0" marL="0">
              <a:buNone/>
            </a:pPr>
            <a:r>
              <a:rPr lang="en-US" sz="2000" dirty="0">
                <a:solidFill>
                  <a:schemeClr val="bg2"/>
                </a:solidFill>
              </a:rPr>
              <a:t>How a layer earned its place, and what to reuse next time</a:t>
            </a:r>
            <a:endParaRPr lang="en-US" sz="20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bg2"/>
                </a:solidFill>
              </a:defRPr>
            </a:lvl1pPr>
          </a:lstStyle>
          <a:p>
            <a:pPr algn="l"/>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Every layer went through the same funnel</a:t>
            </a:r>
            <a:endParaRPr lang="en-US" sz="3200" dirty="0"/>
          </a:p>
        </p:txBody>
      </p:sp>
      <p:sp>
        <p:nvSpPr>
          <p:cNvPr id="3" name="Shape 1"/>
          <p:cNvSpPr/>
          <p:nvPr/>
        </p:nvSpPr>
        <p:spPr>
          <a:xfrm>
            <a:off x="548640" y="1280160"/>
            <a:ext cx="11064240" cy="749808"/>
          </a:xfrm>
          <a:prstGeom prst="roundRect">
            <a:avLst>
              <a:gd name="adj" fmla="val 14634"/>
            </a:avLst>
          </a:prstGeom>
          <a:solidFill>
            <a:schemeClr val="accent1"/>
          </a:solidFill>
          <a:ln w="12700">
            <a:solidFill>
              <a:schemeClr val="accent1"/>
            </a:solidFill>
            <a:prstDash val="solid"/>
          </a:ln>
        </p:spPr>
      </p:sp>
      <p:sp>
        <p:nvSpPr>
          <p:cNvPr id="4" name="Text 2"/>
          <p:cNvSpPr txBox="1"/>
          <p:nvPr/>
        </p:nvSpPr>
        <p:spPr>
          <a:xfrm>
            <a:off x="731520" y="1280160"/>
            <a:ext cx="10698480" cy="749808"/>
          </a:xfrm>
          <a:prstGeom prst="rect">
            <a:avLst/>
          </a:prstGeom>
          <a:noFill/>
          <a:ln/>
        </p:spPr>
        <p:txBody>
          <a:bodyPr wrap="square" lIns="0" tIns="0" rIns="0" bIns="0" rtlCol="0" anchor="ctr"/>
          <a:lstStyle/>
          <a:p>
            <a:pPr algn="ctr" indent="0" marL="0">
              <a:buNone/>
            </a:pPr>
            <a:r>
              <a:rPr lang="en-US" sz="1600" dirty="0">
                <a:solidFill>
                  <a:schemeClr val="bg1"/>
                </a:solidFill>
              </a:rPr>
              <a:t>Pre-register  ·  hypothesis, arms, keep rule</a:t>
            </a:r>
            <a:endParaRPr lang="en-US" sz="1600" dirty="0"/>
          </a:p>
        </p:txBody>
      </p:sp>
      <p:sp>
        <p:nvSpPr>
          <p:cNvPr id="5" name="Shape 3"/>
          <p:cNvSpPr/>
          <p:nvPr/>
        </p:nvSpPr>
        <p:spPr>
          <a:xfrm>
            <a:off x="1325880" y="2176272"/>
            <a:ext cx="9509760" cy="749808"/>
          </a:xfrm>
          <a:prstGeom prst="roundRect">
            <a:avLst>
              <a:gd name="adj" fmla="val 14634"/>
            </a:avLst>
          </a:prstGeom>
          <a:solidFill>
            <a:schemeClr val="accent1"/>
          </a:solidFill>
          <a:ln w="12700">
            <a:solidFill>
              <a:schemeClr val="accent1"/>
            </a:solidFill>
            <a:prstDash val="solid"/>
          </a:ln>
        </p:spPr>
      </p:sp>
      <p:sp>
        <p:nvSpPr>
          <p:cNvPr id="6" name="Text 4"/>
          <p:cNvSpPr txBox="1"/>
          <p:nvPr/>
        </p:nvSpPr>
        <p:spPr>
          <a:xfrm>
            <a:off x="1508760" y="2176272"/>
            <a:ext cx="9144000" cy="749808"/>
          </a:xfrm>
          <a:prstGeom prst="rect">
            <a:avLst/>
          </a:prstGeom>
          <a:noFill/>
          <a:ln/>
        </p:spPr>
        <p:txBody>
          <a:bodyPr wrap="square" lIns="0" tIns="0" rIns="0" bIns="0" rtlCol="0" anchor="ctr"/>
          <a:lstStyle/>
          <a:p>
            <a:pPr algn="ctr" indent="0" marL="0">
              <a:buNone/>
            </a:pPr>
            <a:r>
              <a:rPr lang="en-US" sz="1600" dirty="0">
                <a:solidFill>
                  <a:schemeClr val="bg1"/>
                </a:solidFill>
              </a:rPr>
              <a:t>Signal alone  ·  AUC vs shuffled control</a:t>
            </a:r>
            <a:endParaRPr lang="en-US" sz="1600" dirty="0"/>
          </a:p>
        </p:txBody>
      </p:sp>
      <p:sp>
        <p:nvSpPr>
          <p:cNvPr id="7" name="Shape 5"/>
          <p:cNvSpPr/>
          <p:nvPr/>
        </p:nvSpPr>
        <p:spPr>
          <a:xfrm>
            <a:off x="2103120" y="3072384"/>
            <a:ext cx="7955280" cy="749808"/>
          </a:xfrm>
          <a:prstGeom prst="roundRect">
            <a:avLst>
              <a:gd name="adj" fmla="val 14634"/>
            </a:avLst>
          </a:prstGeom>
          <a:solidFill>
            <a:schemeClr val="accent2"/>
          </a:solidFill>
          <a:ln w="12700">
            <a:solidFill>
              <a:schemeClr val="accent2"/>
            </a:solidFill>
            <a:prstDash val="solid"/>
          </a:ln>
        </p:spPr>
      </p:sp>
      <p:sp>
        <p:nvSpPr>
          <p:cNvPr id="8" name="Text 6"/>
          <p:cNvSpPr txBox="1"/>
          <p:nvPr/>
        </p:nvSpPr>
        <p:spPr>
          <a:xfrm>
            <a:off x="2286000" y="3072384"/>
            <a:ext cx="7589520" cy="749808"/>
          </a:xfrm>
          <a:prstGeom prst="rect">
            <a:avLst/>
          </a:prstGeom>
          <a:noFill/>
          <a:ln/>
        </p:spPr>
        <p:txBody>
          <a:bodyPr wrap="square" lIns="0" tIns="0" rIns="0" bIns="0" rtlCol="0" anchor="ctr"/>
          <a:lstStyle/>
          <a:p>
            <a:pPr algn="ctr" indent="0" marL="0">
              <a:buNone/>
            </a:pPr>
            <a:r>
              <a:rPr lang="en-US" sz="1600" dirty="0">
                <a:solidFill>
                  <a:schemeClr val="bg1"/>
                </a:solidFill>
              </a:rPr>
              <a:t>Hard cases  ·  near-equal paralogs</a:t>
            </a:r>
            <a:endParaRPr lang="en-US" sz="1600" dirty="0"/>
          </a:p>
        </p:txBody>
      </p:sp>
      <p:sp>
        <p:nvSpPr>
          <p:cNvPr id="9" name="Shape 7"/>
          <p:cNvSpPr/>
          <p:nvPr/>
        </p:nvSpPr>
        <p:spPr>
          <a:xfrm>
            <a:off x="2880360" y="3968496"/>
            <a:ext cx="6400800" cy="749808"/>
          </a:xfrm>
          <a:prstGeom prst="roundRect">
            <a:avLst>
              <a:gd name="adj" fmla="val 14634"/>
            </a:avLst>
          </a:prstGeom>
          <a:solidFill>
            <a:schemeClr val="accent2"/>
          </a:solidFill>
          <a:ln w="12700">
            <a:solidFill>
              <a:schemeClr val="accent2"/>
            </a:solidFill>
            <a:prstDash val="solid"/>
          </a:ln>
        </p:spPr>
      </p:sp>
      <p:sp>
        <p:nvSpPr>
          <p:cNvPr id="10" name="Text 8"/>
          <p:cNvSpPr txBox="1"/>
          <p:nvPr/>
        </p:nvSpPr>
        <p:spPr>
          <a:xfrm>
            <a:off x="3063240" y="3968496"/>
            <a:ext cx="6035040" cy="749808"/>
          </a:xfrm>
          <a:prstGeom prst="rect">
            <a:avLst/>
          </a:prstGeom>
          <a:noFill/>
          <a:ln/>
        </p:spPr>
        <p:txBody>
          <a:bodyPr wrap="square" lIns="0" tIns="0" rIns="0" bIns="0" rtlCol="0" anchor="ctr"/>
          <a:lstStyle/>
          <a:p>
            <a:pPr algn="ctr" indent="0" marL="0">
              <a:buNone/>
            </a:pPr>
            <a:r>
              <a:rPr lang="en-US" sz="1600" dirty="0">
                <a:solidFill>
                  <a:schemeClr val="bg1"/>
                </a:solidFill>
              </a:rPr>
              <a:t>Inside the pipeline (dev)  ·  lower CI &gt; 0, guards hold</a:t>
            </a:r>
            <a:endParaRPr lang="en-US" sz="1600" dirty="0"/>
          </a:p>
        </p:txBody>
      </p:sp>
      <p:sp>
        <p:nvSpPr>
          <p:cNvPr id="11" name="Shape 9"/>
          <p:cNvSpPr/>
          <p:nvPr/>
        </p:nvSpPr>
        <p:spPr>
          <a:xfrm>
            <a:off x="3657600" y="4864608"/>
            <a:ext cx="4846320" cy="749808"/>
          </a:xfrm>
          <a:prstGeom prst="roundRect">
            <a:avLst>
              <a:gd name="adj" fmla="val 14634"/>
            </a:avLst>
          </a:prstGeom>
          <a:solidFill>
            <a:schemeClr val="accent3"/>
          </a:solidFill>
          <a:ln w="12700">
            <a:solidFill>
              <a:schemeClr val="accent3"/>
            </a:solidFill>
            <a:prstDash val="solid"/>
          </a:ln>
        </p:spPr>
      </p:sp>
      <p:sp>
        <p:nvSpPr>
          <p:cNvPr id="12" name="Text 10"/>
          <p:cNvSpPr txBox="1"/>
          <p:nvPr/>
        </p:nvSpPr>
        <p:spPr>
          <a:xfrm>
            <a:off x="3840480" y="4864608"/>
            <a:ext cx="4480560" cy="749808"/>
          </a:xfrm>
          <a:prstGeom prst="rect">
            <a:avLst/>
          </a:prstGeom>
          <a:noFill/>
          <a:ln/>
        </p:spPr>
        <p:txBody>
          <a:bodyPr wrap="square" lIns="0" tIns="0" rIns="0" bIns="0" rtlCol="0" anchor="ctr"/>
          <a:lstStyle/>
          <a:p>
            <a:pPr algn="ctr" indent="0" marL="0">
              <a:buNone/>
            </a:pPr>
            <a:r>
              <a:rPr lang="en-US" sz="1600" dirty="0">
                <a:solidFill>
                  <a:schemeClr val="bg1"/>
                </a:solidFill>
              </a:rPr>
              <a:t>Held-out test, once  ·  separate agent</a:t>
            </a:r>
            <a:endParaRPr lang="en-US" sz="1600" dirty="0"/>
          </a:p>
        </p:txBody>
      </p:sp>
      <p:sp>
        <p:nvSpPr>
          <p:cNvPr id="13" name="Text 11"/>
          <p:cNvSpPr txBox="1"/>
          <p:nvPr/>
        </p:nvSpPr>
        <p:spPr>
          <a:xfrm>
            <a:off x="548640" y="5806440"/>
            <a:ext cx="11064240" cy="411480"/>
          </a:xfrm>
          <a:prstGeom prst="rect">
            <a:avLst/>
          </a:prstGeom>
          <a:noFill/>
          <a:ln/>
        </p:spPr>
        <p:txBody>
          <a:bodyPr wrap="square" lIns="0" tIns="0" rIns="0" bIns="0" rtlCol="0" anchor="t"/>
          <a:lstStyle/>
          <a:p>
            <a:pPr algn="ctr" indent="0" marL="0">
              <a:buNone/>
            </a:pPr>
            <a:r>
              <a:rPr lang="en-US" sz="1500" b="1" dirty="0">
                <a:solidFill>
                  <a:schemeClr val="tx2"/>
                </a:solidFill>
              </a:rPr>
              <a:t>13 layers entered · 3 helped on development data (gene order, structure rescue, domain gate) · 0 improved held-out results</a:t>
            </a:r>
            <a:endParaRPr lang="en-US" sz="15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l"/>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Decisions here, and how to carry them forward</a:t>
            </a:r>
            <a:endParaRPr lang="en-US" sz="3200" dirty="0"/>
          </a:p>
        </p:txBody>
      </p:sp>
      <p:sp>
        <p:nvSpPr>
          <p:cNvPr id="3" name="Shape 1"/>
          <p:cNvSpPr/>
          <p:nvPr/>
        </p:nvSpPr>
        <p:spPr>
          <a:xfrm>
            <a:off x="548640" y="1280160"/>
            <a:ext cx="5303520" cy="640080"/>
          </a:xfrm>
          <a:prstGeom prst="roundRect">
            <a:avLst>
              <a:gd name="adj" fmla="val 17143"/>
            </a:avLst>
          </a:prstGeom>
          <a:solidFill>
            <a:schemeClr val="tx2"/>
          </a:solidFill>
          <a:ln w="12700">
            <a:solidFill>
              <a:schemeClr val="tx2"/>
            </a:solidFill>
            <a:prstDash val="solid"/>
          </a:ln>
        </p:spPr>
      </p:sp>
      <p:sp>
        <p:nvSpPr>
          <p:cNvPr id="4" name="Text 2"/>
          <p:cNvSpPr txBox="1"/>
          <p:nvPr/>
        </p:nvSpPr>
        <p:spPr>
          <a:xfrm>
            <a:off x="777240" y="1280160"/>
            <a:ext cx="4937760" cy="640080"/>
          </a:xfrm>
          <a:prstGeom prst="rect">
            <a:avLst/>
          </a:prstGeom>
          <a:noFill/>
          <a:ln/>
        </p:spPr>
        <p:txBody>
          <a:bodyPr wrap="square" lIns="0" tIns="0" rIns="0" bIns="0" rtlCol="0" anchor="ctr"/>
          <a:lstStyle/>
          <a:p>
            <a:pPr indent="0" marL="0">
              <a:buNone/>
            </a:pPr>
            <a:r>
              <a:rPr lang="en-US" sz="2000" b="1" dirty="0">
                <a:solidFill>
                  <a:schemeClr val="bg1"/>
                </a:solidFill>
                <a:latin typeface="Cambria" pitchFamily="34" charset="0"/>
                <a:ea typeface="Cambria" pitchFamily="34" charset="-122"/>
                <a:cs typeface="Cambria" pitchFamily="34" charset="-120"/>
              </a:rPr>
              <a:t>In this project</a:t>
            </a:r>
            <a:endParaRPr lang="en-US" sz="2000" dirty="0"/>
          </a:p>
        </p:txBody>
      </p:sp>
      <p:sp>
        <p:nvSpPr>
          <p:cNvPr id="5" name="Shape 3"/>
          <p:cNvSpPr/>
          <p:nvPr/>
        </p:nvSpPr>
        <p:spPr>
          <a:xfrm>
            <a:off x="640080" y="2286000"/>
            <a:ext cx="457200" cy="457200"/>
          </a:xfrm>
          <a:prstGeom prst="ellipse">
            <a:avLst/>
          </a:prstGeom>
          <a:solidFill>
            <a:schemeClr val="tx2"/>
          </a:solidFill>
          <a:ln w="12700">
            <a:solidFill>
              <a:schemeClr val="tx2"/>
            </a:solidFill>
            <a:prstDash val="solid"/>
          </a:ln>
        </p:spPr>
      </p:sp>
      <p:sp>
        <p:nvSpPr>
          <p:cNvPr id="6" name="Text 4"/>
          <p:cNvSpPr txBox="1"/>
          <p:nvPr/>
        </p:nvSpPr>
        <p:spPr>
          <a:xfrm>
            <a:off x="640080" y="228600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rPr>
              <a:t>1</a:t>
            </a:r>
            <a:endParaRPr lang="en-US" sz="1500" dirty="0"/>
          </a:p>
        </p:txBody>
      </p:sp>
      <p:sp>
        <p:nvSpPr>
          <p:cNvPr id="7" name="Text 5"/>
          <p:cNvSpPr txBox="1"/>
          <p:nvPr/>
        </p:nvSpPr>
        <p:spPr>
          <a:xfrm>
            <a:off x="1280160" y="2148840"/>
            <a:ext cx="4480560" cy="731520"/>
          </a:xfrm>
          <a:prstGeom prst="rect">
            <a:avLst/>
          </a:prstGeom>
          <a:noFill/>
          <a:ln/>
        </p:spPr>
        <p:txBody>
          <a:bodyPr wrap="square" lIns="0" tIns="0" rIns="0" bIns="0" rtlCol="0" anchor="ctr"/>
          <a:lstStyle/>
          <a:p>
            <a:pPr indent="0" marL="0">
              <a:buNone/>
            </a:pPr>
            <a:r>
              <a:rPr lang="en-US" sz="1700" dirty="0">
                <a:solidFill>
                  <a:schemeClr val="tx1"/>
                </a:solidFill>
              </a:rPr>
              <a:t>Pre-registered keep rule + guard metrics</a:t>
            </a:r>
            <a:endParaRPr lang="en-US" sz="1700" dirty="0"/>
          </a:p>
        </p:txBody>
      </p:sp>
      <p:sp>
        <p:nvSpPr>
          <p:cNvPr id="8" name="Shape 6"/>
          <p:cNvSpPr/>
          <p:nvPr/>
        </p:nvSpPr>
        <p:spPr>
          <a:xfrm>
            <a:off x="640080" y="3182112"/>
            <a:ext cx="457200" cy="457200"/>
          </a:xfrm>
          <a:prstGeom prst="ellipse">
            <a:avLst/>
          </a:prstGeom>
          <a:solidFill>
            <a:schemeClr val="tx2"/>
          </a:solidFill>
          <a:ln w="12700">
            <a:solidFill>
              <a:schemeClr val="tx2"/>
            </a:solidFill>
            <a:prstDash val="solid"/>
          </a:ln>
        </p:spPr>
      </p:sp>
      <p:sp>
        <p:nvSpPr>
          <p:cNvPr id="9" name="Text 7"/>
          <p:cNvSpPr txBox="1"/>
          <p:nvPr/>
        </p:nvSpPr>
        <p:spPr>
          <a:xfrm>
            <a:off x="640080" y="3182112"/>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rPr>
              <a:t>2</a:t>
            </a:r>
            <a:endParaRPr lang="en-US" sz="1500" dirty="0"/>
          </a:p>
        </p:txBody>
      </p:sp>
      <p:sp>
        <p:nvSpPr>
          <p:cNvPr id="10" name="Text 8"/>
          <p:cNvSpPr txBox="1"/>
          <p:nvPr/>
        </p:nvSpPr>
        <p:spPr>
          <a:xfrm>
            <a:off x="1280160" y="3044952"/>
            <a:ext cx="4480560" cy="731520"/>
          </a:xfrm>
          <a:prstGeom prst="rect">
            <a:avLst/>
          </a:prstGeom>
          <a:noFill/>
          <a:ln/>
        </p:spPr>
        <p:txBody>
          <a:bodyPr wrap="square" lIns="0" tIns="0" rIns="0" bIns="0" rtlCol="0" anchor="ctr"/>
          <a:lstStyle/>
          <a:p>
            <a:pPr indent="0" marL="0">
              <a:buNone/>
            </a:pPr>
            <a:r>
              <a:rPr lang="en-US" sz="1700" dirty="0">
                <a:solidFill>
                  <a:schemeClr val="tx1"/>
                </a:solidFill>
              </a:rPr>
              <a:t>Dev set small: ±2–4 F is noise</a:t>
            </a:r>
            <a:endParaRPr lang="en-US" sz="1700" dirty="0"/>
          </a:p>
        </p:txBody>
      </p:sp>
      <p:sp>
        <p:nvSpPr>
          <p:cNvPr id="11" name="Shape 9"/>
          <p:cNvSpPr/>
          <p:nvPr/>
        </p:nvSpPr>
        <p:spPr>
          <a:xfrm>
            <a:off x="640080" y="4078224"/>
            <a:ext cx="457200" cy="457200"/>
          </a:xfrm>
          <a:prstGeom prst="ellipse">
            <a:avLst/>
          </a:prstGeom>
          <a:solidFill>
            <a:schemeClr val="tx2"/>
          </a:solidFill>
          <a:ln w="12700">
            <a:solidFill>
              <a:schemeClr val="tx2"/>
            </a:solidFill>
            <a:prstDash val="solid"/>
          </a:ln>
        </p:spPr>
      </p:sp>
      <p:sp>
        <p:nvSpPr>
          <p:cNvPr id="12" name="Text 10"/>
          <p:cNvSpPr txBox="1"/>
          <p:nvPr/>
        </p:nvSpPr>
        <p:spPr>
          <a:xfrm>
            <a:off x="640080" y="4078224"/>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rPr>
              <a:t>3</a:t>
            </a:r>
            <a:endParaRPr lang="en-US" sz="1500" dirty="0"/>
          </a:p>
        </p:txBody>
      </p:sp>
      <p:sp>
        <p:nvSpPr>
          <p:cNvPr id="13" name="Text 11"/>
          <p:cNvSpPr txBox="1"/>
          <p:nvPr/>
        </p:nvSpPr>
        <p:spPr>
          <a:xfrm>
            <a:off x="1280160" y="3941064"/>
            <a:ext cx="4480560" cy="731520"/>
          </a:xfrm>
          <a:prstGeom prst="rect">
            <a:avLst/>
          </a:prstGeom>
          <a:noFill/>
          <a:ln/>
        </p:spPr>
        <p:txBody>
          <a:bodyPr wrap="square" lIns="0" tIns="0" rIns="0" bIns="0" rtlCol="0" anchor="ctr"/>
          <a:lstStyle/>
          <a:p>
            <a:pPr indent="0" marL="0">
              <a:buNone/>
            </a:pPr>
            <a:r>
              <a:rPr lang="en-US" sz="1700" dirty="0">
                <a:solidFill>
                  <a:schemeClr val="tx1"/>
                </a:solidFill>
              </a:rPr>
              <a:t>Test scored once, after the freeze</a:t>
            </a:r>
            <a:endParaRPr lang="en-US" sz="1700" dirty="0"/>
          </a:p>
        </p:txBody>
      </p:sp>
      <p:sp>
        <p:nvSpPr>
          <p:cNvPr id="14" name="Shape 12"/>
          <p:cNvSpPr/>
          <p:nvPr/>
        </p:nvSpPr>
        <p:spPr>
          <a:xfrm>
            <a:off x="640080" y="4974336"/>
            <a:ext cx="457200" cy="457200"/>
          </a:xfrm>
          <a:prstGeom prst="ellipse">
            <a:avLst/>
          </a:prstGeom>
          <a:solidFill>
            <a:schemeClr val="tx2"/>
          </a:solidFill>
          <a:ln w="12700">
            <a:solidFill>
              <a:schemeClr val="tx2"/>
            </a:solidFill>
            <a:prstDash val="solid"/>
          </a:ln>
        </p:spPr>
      </p:sp>
      <p:sp>
        <p:nvSpPr>
          <p:cNvPr id="15" name="Text 13"/>
          <p:cNvSpPr txBox="1"/>
          <p:nvPr/>
        </p:nvSpPr>
        <p:spPr>
          <a:xfrm>
            <a:off x="640080" y="4974336"/>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rPr>
              <a:t>4</a:t>
            </a:r>
            <a:endParaRPr lang="en-US" sz="1500" dirty="0"/>
          </a:p>
        </p:txBody>
      </p:sp>
      <p:sp>
        <p:nvSpPr>
          <p:cNvPr id="16" name="Text 14"/>
          <p:cNvSpPr txBox="1"/>
          <p:nvPr/>
        </p:nvSpPr>
        <p:spPr>
          <a:xfrm>
            <a:off x="1280160" y="4837176"/>
            <a:ext cx="4480560" cy="731520"/>
          </a:xfrm>
          <a:prstGeom prst="rect">
            <a:avLst/>
          </a:prstGeom>
          <a:noFill/>
          <a:ln/>
        </p:spPr>
        <p:txBody>
          <a:bodyPr wrap="square" lIns="0" tIns="0" rIns="0" bIns="0" rtlCol="0" anchor="ctr"/>
          <a:lstStyle/>
          <a:p>
            <a:pPr indent="0" marL="0">
              <a:buNone/>
            </a:pPr>
            <a:r>
              <a:rPr lang="en-US" sz="1700" dirty="0">
                <a:solidFill>
                  <a:schemeClr val="tx1"/>
                </a:solidFill>
              </a:rPr>
              <a:t>Every decision and reason in the research tree</a:t>
            </a:r>
            <a:endParaRPr lang="en-US" sz="1700" dirty="0"/>
          </a:p>
        </p:txBody>
      </p:sp>
      <p:sp>
        <p:nvSpPr>
          <p:cNvPr id="17" name="Shape 15"/>
          <p:cNvSpPr/>
          <p:nvPr/>
        </p:nvSpPr>
        <p:spPr>
          <a:xfrm>
            <a:off x="6309360" y="1280160"/>
            <a:ext cx="5303520" cy="640080"/>
          </a:xfrm>
          <a:prstGeom prst="roundRect">
            <a:avLst>
              <a:gd name="adj" fmla="val 17143"/>
            </a:avLst>
          </a:prstGeom>
          <a:solidFill>
            <a:schemeClr val="accent3"/>
          </a:solidFill>
          <a:ln w="12700">
            <a:solidFill>
              <a:schemeClr val="accent3"/>
            </a:solidFill>
            <a:prstDash val="solid"/>
          </a:ln>
        </p:spPr>
      </p:sp>
      <p:sp>
        <p:nvSpPr>
          <p:cNvPr id="18" name="Text 16"/>
          <p:cNvSpPr txBox="1"/>
          <p:nvPr/>
        </p:nvSpPr>
        <p:spPr>
          <a:xfrm>
            <a:off x="6537960" y="1280160"/>
            <a:ext cx="4937760" cy="640080"/>
          </a:xfrm>
          <a:prstGeom prst="rect">
            <a:avLst/>
          </a:prstGeom>
          <a:noFill/>
          <a:ln/>
        </p:spPr>
        <p:txBody>
          <a:bodyPr wrap="square" lIns="0" tIns="0" rIns="0" bIns="0" rtlCol="0" anchor="ctr"/>
          <a:lstStyle/>
          <a:p>
            <a:pPr indent="0" marL="0">
              <a:buNone/>
            </a:pPr>
            <a:r>
              <a:rPr lang="en-US" sz="2000" b="1" dirty="0">
                <a:solidFill>
                  <a:schemeClr val="bg1"/>
                </a:solidFill>
                <a:latin typeface="Cambria" pitchFamily="34" charset="0"/>
                <a:ea typeface="Cambria" pitchFamily="34" charset="-122"/>
                <a:cs typeface="Cambria" pitchFamily="34" charset="-120"/>
              </a:rPr>
              <a:t>Next time</a:t>
            </a:r>
            <a:endParaRPr lang="en-US" sz="2000" dirty="0"/>
          </a:p>
        </p:txBody>
      </p:sp>
      <p:sp>
        <p:nvSpPr>
          <p:cNvPr id="19" name="Shape 17"/>
          <p:cNvSpPr/>
          <p:nvPr/>
        </p:nvSpPr>
        <p:spPr>
          <a:xfrm>
            <a:off x="6400800" y="2286000"/>
            <a:ext cx="457200" cy="457200"/>
          </a:xfrm>
          <a:prstGeom prst="ellipse">
            <a:avLst/>
          </a:prstGeom>
          <a:solidFill>
            <a:schemeClr val="accent3"/>
          </a:solidFill>
          <a:ln w="12700">
            <a:solidFill>
              <a:schemeClr val="accent3"/>
            </a:solidFill>
            <a:prstDash val="solid"/>
          </a:ln>
        </p:spPr>
      </p:sp>
      <p:sp>
        <p:nvSpPr>
          <p:cNvPr id="20" name="Text 18"/>
          <p:cNvSpPr txBox="1"/>
          <p:nvPr/>
        </p:nvSpPr>
        <p:spPr>
          <a:xfrm>
            <a:off x="6400800" y="228600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rPr>
              <a:t>1</a:t>
            </a:r>
            <a:endParaRPr lang="en-US" sz="1500" dirty="0"/>
          </a:p>
        </p:txBody>
      </p:sp>
      <p:sp>
        <p:nvSpPr>
          <p:cNvPr id="21" name="Text 19"/>
          <p:cNvSpPr txBox="1"/>
          <p:nvPr/>
        </p:nvSpPr>
        <p:spPr>
          <a:xfrm>
            <a:off x="7040880" y="2148840"/>
            <a:ext cx="4480560" cy="731520"/>
          </a:xfrm>
          <a:prstGeom prst="rect">
            <a:avLst/>
          </a:prstGeom>
          <a:noFill/>
          <a:ln/>
        </p:spPr>
        <p:txBody>
          <a:bodyPr wrap="square" lIns="0" tIns="0" rIns="0" bIns="0" rtlCol="0" anchor="ctr"/>
          <a:lstStyle/>
          <a:p>
            <a:pPr indent="0" marL="0">
              <a:buNone/>
            </a:pPr>
            <a:r>
              <a:rPr lang="en-US" sz="1700" dirty="0">
                <a:solidFill>
                  <a:schemeClr val="tx1"/>
                </a:solidFill>
              </a:rPr>
              <a:t>Build a hard-case benchmark first</a:t>
            </a:r>
            <a:endParaRPr lang="en-US" sz="1700" dirty="0"/>
          </a:p>
        </p:txBody>
      </p:sp>
      <p:sp>
        <p:nvSpPr>
          <p:cNvPr id="22" name="Shape 20"/>
          <p:cNvSpPr/>
          <p:nvPr/>
        </p:nvSpPr>
        <p:spPr>
          <a:xfrm>
            <a:off x="6400800" y="3182112"/>
            <a:ext cx="457200" cy="457200"/>
          </a:xfrm>
          <a:prstGeom prst="ellipse">
            <a:avLst/>
          </a:prstGeom>
          <a:solidFill>
            <a:schemeClr val="accent3"/>
          </a:solidFill>
          <a:ln w="12700">
            <a:solidFill>
              <a:schemeClr val="accent3"/>
            </a:solidFill>
            <a:prstDash val="solid"/>
          </a:ln>
        </p:spPr>
      </p:sp>
      <p:sp>
        <p:nvSpPr>
          <p:cNvPr id="23" name="Text 21"/>
          <p:cNvSpPr txBox="1"/>
          <p:nvPr/>
        </p:nvSpPr>
        <p:spPr>
          <a:xfrm>
            <a:off x="6400800" y="3182112"/>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rPr>
              <a:t>2</a:t>
            </a:r>
            <a:endParaRPr lang="en-US" sz="1500" dirty="0"/>
          </a:p>
        </p:txBody>
      </p:sp>
      <p:sp>
        <p:nvSpPr>
          <p:cNvPr id="24" name="Text 22"/>
          <p:cNvSpPr txBox="1"/>
          <p:nvPr/>
        </p:nvSpPr>
        <p:spPr>
          <a:xfrm>
            <a:off x="7040880" y="3044952"/>
            <a:ext cx="4480560" cy="731520"/>
          </a:xfrm>
          <a:prstGeom prst="rect">
            <a:avLst/>
          </a:prstGeom>
          <a:noFill/>
          <a:ln/>
        </p:spPr>
        <p:txBody>
          <a:bodyPr wrap="square" lIns="0" tIns="0" rIns="0" bIns="0" rtlCol="0" anchor="ctr"/>
          <a:lstStyle/>
          <a:p>
            <a:pPr indent="0" marL="0">
              <a:buNone/>
            </a:pPr>
            <a:r>
              <a:rPr lang="en-US" sz="1700" dirty="0">
                <a:solidFill>
                  <a:schemeClr val="tx1"/>
                </a:solidFill>
              </a:rPr>
              <a:t>Same funnel, run by parallel agents</a:t>
            </a:r>
            <a:endParaRPr lang="en-US" sz="1700" dirty="0"/>
          </a:p>
        </p:txBody>
      </p:sp>
      <p:sp>
        <p:nvSpPr>
          <p:cNvPr id="25" name="Shape 23"/>
          <p:cNvSpPr/>
          <p:nvPr/>
        </p:nvSpPr>
        <p:spPr>
          <a:xfrm>
            <a:off x="6400800" y="4078224"/>
            <a:ext cx="457200" cy="457200"/>
          </a:xfrm>
          <a:prstGeom prst="ellipse">
            <a:avLst/>
          </a:prstGeom>
          <a:solidFill>
            <a:schemeClr val="accent3"/>
          </a:solidFill>
          <a:ln w="12700">
            <a:solidFill>
              <a:schemeClr val="accent3"/>
            </a:solidFill>
            <a:prstDash val="solid"/>
          </a:ln>
        </p:spPr>
      </p:sp>
      <p:sp>
        <p:nvSpPr>
          <p:cNvPr id="26" name="Text 24"/>
          <p:cNvSpPr txBox="1"/>
          <p:nvPr/>
        </p:nvSpPr>
        <p:spPr>
          <a:xfrm>
            <a:off x="6400800" y="4078224"/>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rPr>
              <a:t>3</a:t>
            </a:r>
            <a:endParaRPr lang="en-US" sz="1500" dirty="0"/>
          </a:p>
        </p:txBody>
      </p:sp>
      <p:sp>
        <p:nvSpPr>
          <p:cNvPr id="27" name="Text 25"/>
          <p:cNvSpPr txBox="1"/>
          <p:nvPr/>
        </p:nvSpPr>
        <p:spPr>
          <a:xfrm>
            <a:off x="7040880" y="3941064"/>
            <a:ext cx="4480560" cy="731520"/>
          </a:xfrm>
          <a:prstGeom prst="rect">
            <a:avLst/>
          </a:prstGeom>
          <a:noFill/>
          <a:ln/>
        </p:spPr>
        <p:txBody>
          <a:bodyPr wrap="square" lIns="0" tIns="0" rIns="0" bIns="0" rtlCol="0" anchor="ctr"/>
          <a:lstStyle/>
          <a:p>
            <a:pPr indent="0" marL="0">
              <a:buNone/>
            </a:pPr>
            <a:r>
              <a:rPr lang="en-US" sz="1700" dirty="0">
                <a:solidFill>
                  <a:schemeClr val="tx1"/>
                </a:solidFill>
              </a:rPr>
              <a:t>Fresh, unseen benchmark for version 2</a:t>
            </a:r>
            <a:endParaRPr lang="en-US" sz="1700" dirty="0"/>
          </a:p>
        </p:txBody>
      </p:sp>
      <p:sp>
        <p:nvSpPr>
          <p:cNvPr id="28" name="Shape 26"/>
          <p:cNvSpPr/>
          <p:nvPr/>
        </p:nvSpPr>
        <p:spPr>
          <a:xfrm>
            <a:off x="6400800" y="4974336"/>
            <a:ext cx="457200" cy="457200"/>
          </a:xfrm>
          <a:prstGeom prst="ellipse">
            <a:avLst/>
          </a:prstGeom>
          <a:solidFill>
            <a:schemeClr val="accent3"/>
          </a:solidFill>
          <a:ln w="12700">
            <a:solidFill>
              <a:schemeClr val="accent3"/>
            </a:solidFill>
            <a:prstDash val="solid"/>
          </a:ln>
        </p:spPr>
      </p:sp>
      <p:sp>
        <p:nvSpPr>
          <p:cNvPr id="29" name="Text 27"/>
          <p:cNvSpPr txBox="1"/>
          <p:nvPr/>
        </p:nvSpPr>
        <p:spPr>
          <a:xfrm>
            <a:off x="6400800" y="4974336"/>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rPr>
              <a:t>4</a:t>
            </a:r>
            <a:endParaRPr lang="en-US" sz="1500" dirty="0"/>
          </a:p>
        </p:txBody>
      </p:sp>
      <p:sp>
        <p:nvSpPr>
          <p:cNvPr id="30" name="Text 28"/>
          <p:cNvSpPr txBox="1"/>
          <p:nvPr/>
        </p:nvSpPr>
        <p:spPr>
          <a:xfrm>
            <a:off x="7040880" y="4837176"/>
            <a:ext cx="4480560" cy="731520"/>
          </a:xfrm>
          <a:prstGeom prst="rect">
            <a:avLst/>
          </a:prstGeom>
          <a:noFill/>
          <a:ln/>
        </p:spPr>
        <p:txBody>
          <a:bodyPr wrap="square" lIns="0" tIns="0" rIns="0" bIns="0" rtlCol="0" anchor="ctr"/>
          <a:lstStyle/>
          <a:p>
            <a:pPr indent="0" marL="0">
              <a:buNone/>
            </a:pPr>
            <a:r>
              <a:rPr lang="en-US" sz="1700" dirty="0">
                <a:solidFill>
                  <a:schemeClr val="tx1"/>
                </a:solidFill>
              </a:rPr>
              <a:t>Share the protocol with other projects</a:t>
            </a:r>
            <a:endParaRPr lang="en-US" sz="17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l"/>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AI-led research: what worked and what did not</a:t>
            </a:r>
            <a:endParaRPr lang="en-US" sz="3200" dirty="0"/>
          </a:p>
        </p:txBody>
      </p:sp>
      <p:sp>
        <p:nvSpPr>
          <p:cNvPr id="3" name="Text 1"/>
          <p:cNvSpPr txBox="1"/>
          <p:nvPr/>
        </p:nvSpPr>
        <p:spPr>
          <a:xfrm>
            <a:off x="548640" y="1280160"/>
            <a:ext cx="5303520" cy="457200"/>
          </a:xfrm>
          <a:prstGeom prst="rect">
            <a:avLst/>
          </a:prstGeom>
          <a:noFill/>
          <a:ln/>
        </p:spPr>
        <p:txBody>
          <a:bodyPr wrap="square" lIns="0" tIns="0" rIns="0" bIns="0" rtlCol="0" anchor="t"/>
          <a:lstStyle/>
          <a:p>
            <a:pPr indent="0" marL="0">
              <a:buNone/>
            </a:pPr>
            <a:r>
              <a:rPr lang="en-US" sz="2200" b="1" dirty="0">
                <a:solidFill>
                  <a:schemeClr val="accent3"/>
                </a:solidFill>
                <a:latin typeface="Cambria" pitchFamily="34" charset="0"/>
                <a:ea typeface="Cambria" pitchFamily="34" charset="-122"/>
                <a:cs typeface="Cambria" pitchFamily="34" charset="-120"/>
              </a:rPr>
              <a:t>Worked</a:t>
            </a:r>
            <a:endParaRPr lang="en-US" sz="2200" dirty="0"/>
          </a:p>
        </p:txBody>
      </p:sp>
      <p:sp>
        <p:nvSpPr>
          <p:cNvPr id="4" name="Shape 2"/>
          <p:cNvSpPr/>
          <p:nvPr/>
        </p:nvSpPr>
        <p:spPr>
          <a:xfrm>
            <a:off x="548640" y="1874520"/>
            <a:ext cx="5303520" cy="777240"/>
          </a:xfrm>
          <a:prstGeom prst="roundRect">
            <a:avLst>
              <a:gd name="adj" fmla="val 14118"/>
            </a:avLst>
          </a:prstGeom>
          <a:solidFill>
            <a:schemeClr val="accent3">
              <a:alpha val="15000"/>
            </a:schemeClr>
          </a:solidFill>
          <a:ln w="12700">
            <a:solidFill>
              <a:schemeClr val="accent3"/>
            </a:solidFill>
            <a:prstDash val="solid"/>
          </a:ln>
        </p:spPr>
      </p:sp>
      <p:sp>
        <p:nvSpPr>
          <p:cNvPr id="5" name="Shape 3"/>
          <p:cNvSpPr/>
          <p:nvPr/>
        </p:nvSpPr>
        <p:spPr>
          <a:xfrm>
            <a:off x="685800" y="2020824"/>
            <a:ext cx="475488" cy="475488"/>
          </a:xfrm>
          <a:prstGeom prst="ellipse">
            <a:avLst/>
          </a:prstGeom>
          <a:solidFill>
            <a:schemeClr val="accent3"/>
          </a:solidFill>
          <a:ln w="12700">
            <a:solidFill>
              <a:schemeClr val="accent3"/>
            </a:solidFill>
            <a:prstDash val="solid"/>
          </a:ln>
        </p:spPr>
      </p:sp>
      <p:sp>
        <p:nvSpPr>
          <p:cNvPr id="6" name="Text 4"/>
          <p:cNvSpPr txBox="1"/>
          <p:nvPr/>
        </p:nvSpPr>
        <p:spPr>
          <a:xfrm>
            <a:off x="685800" y="2020824"/>
            <a:ext cx="475488" cy="475488"/>
          </a:xfrm>
          <a:prstGeom prst="rect">
            <a:avLst/>
          </a:prstGeom>
          <a:noFill/>
          <a:ln/>
        </p:spPr>
        <p:txBody>
          <a:bodyPr wrap="square" lIns="0" tIns="0" rIns="0" bIns="0" rtlCol="0" anchor="ctr"/>
          <a:lstStyle/>
          <a:p>
            <a:pPr algn="ctr" indent="0" marL="0">
              <a:buNone/>
            </a:pPr>
            <a:r>
              <a:rPr lang="en-US" sz="1600" b="1" dirty="0">
                <a:solidFill>
                  <a:schemeClr val="bg1"/>
                </a:solidFill>
              </a:rPr>
              <a:t>✓</a:t>
            </a:r>
            <a:endParaRPr lang="en-US" sz="1600" dirty="0"/>
          </a:p>
        </p:txBody>
      </p:sp>
      <p:sp>
        <p:nvSpPr>
          <p:cNvPr id="7" name="Text 5"/>
          <p:cNvSpPr txBox="1"/>
          <p:nvPr/>
        </p:nvSpPr>
        <p:spPr>
          <a:xfrm>
            <a:off x="1325880" y="1874520"/>
            <a:ext cx="4389120" cy="777240"/>
          </a:xfrm>
          <a:prstGeom prst="rect">
            <a:avLst/>
          </a:prstGeom>
          <a:noFill/>
          <a:ln/>
        </p:spPr>
        <p:txBody>
          <a:bodyPr wrap="square" lIns="0" tIns="0" rIns="0" bIns="0" rtlCol="0" anchor="ctr"/>
          <a:lstStyle/>
          <a:p>
            <a:pPr indent="0" marL="0">
              <a:buNone/>
            </a:pPr>
            <a:r>
              <a:rPr lang="en-US" sz="1600" dirty="0">
                <a:solidFill>
                  <a:schemeClr val="tx1"/>
                </a:solidFill>
              </a:rPr>
              <a:t>~30 approaches tried and dropped, all documented</a:t>
            </a:r>
            <a:endParaRPr lang="en-US" sz="1600" dirty="0"/>
          </a:p>
        </p:txBody>
      </p:sp>
      <p:sp>
        <p:nvSpPr>
          <p:cNvPr id="8" name="Shape 6"/>
          <p:cNvSpPr/>
          <p:nvPr/>
        </p:nvSpPr>
        <p:spPr>
          <a:xfrm>
            <a:off x="548640" y="2788920"/>
            <a:ext cx="5303520" cy="777240"/>
          </a:xfrm>
          <a:prstGeom prst="roundRect">
            <a:avLst>
              <a:gd name="adj" fmla="val 14118"/>
            </a:avLst>
          </a:prstGeom>
          <a:solidFill>
            <a:schemeClr val="accent3">
              <a:alpha val="15000"/>
            </a:schemeClr>
          </a:solidFill>
          <a:ln w="12700">
            <a:solidFill>
              <a:schemeClr val="accent3"/>
            </a:solidFill>
            <a:prstDash val="solid"/>
          </a:ln>
        </p:spPr>
      </p:sp>
      <p:sp>
        <p:nvSpPr>
          <p:cNvPr id="9" name="Shape 7"/>
          <p:cNvSpPr/>
          <p:nvPr/>
        </p:nvSpPr>
        <p:spPr>
          <a:xfrm>
            <a:off x="685800" y="2935224"/>
            <a:ext cx="475488" cy="475488"/>
          </a:xfrm>
          <a:prstGeom prst="ellipse">
            <a:avLst/>
          </a:prstGeom>
          <a:solidFill>
            <a:schemeClr val="accent3"/>
          </a:solidFill>
          <a:ln w="12700">
            <a:solidFill>
              <a:schemeClr val="accent3"/>
            </a:solidFill>
            <a:prstDash val="solid"/>
          </a:ln>
        </p:spPr>
      </p:sp>
      <p:sp>
        <p:nvSpPr>
          <p:cNvPr id="10" name="Text 8"/>
          <p:cNvSpPr txBox="1"/>
          <p:nvPr/>
        </p:nvSpPr>
        <p:spPr>
          <a:xfrm>
            <a:off x="685800" y="2935224"/>
            <a:ext cx="475488" cy="475488"/>
          </a:xfrm>
          <a:prstGeom prst="rect">
            <a:avLst/>
          </a:prstGeom>
          <a:noFill/>
          <a:ln/>
        </p:spPr>
        <p:txBody>
          <a:bodyPr wrap="square" lIns="0" tIns="0" rIns="0" bIns="0" rtlCol="0" anchor="ctr"/>
          <a:lstStyle/>
          <a:p>
            <a:pPr algn="ctr" indent="0" marL="0">
              <a:buNone/>
            </a:pPr>
            <a:r>
              <a:rPr lang="en-US" sz="1600" b="1" dirty="0">
                <a:solidFill>
                  <a:schemeClr val="bg1"/>
                </a:solidFill>
              </a:rPr>
              <a:t>✓</a:t>
            </a:r>
            <a:endParaRPr lang="en-US" sz="1600" dirty="0"/>
          </a:p>
        </p:txBody>
      </p:sp>
      <p:sp>
        <p:nvSpPr>
          <p:cNvPr id="11" name="Text 9"/>
          <p:cNvSpPr txBox="1"/>
          <p:nvPr/>
        </p:nvSpPr>
        <p:spPr>
          <a:xfrm>
            <a:off x="1325880" y="2788920"/>
            <a:ext cx="4389120" cy="777240"/>
          </a:xfrm>
          <a:prstGeom prst="rect">
            <a:avLst/>
          </a:prstGeom>
          <a:noFill/>
          <a:ln/>
        </p:spPr>
        <p:txBody>
          <a:bodyPr wrap="square" lIns="0" tIns="0" rIns="0" bIns="0" rtlCol="0" anchor="ctr"/>
          <a:lstStyle/>
          <a:p>
            <a:pPr indent="0" marL="0">
              <a:buNone/>
            </a:pPr>
            <a:r>
              <a:rPr lang="en-US" sz="1600" dirty="0">
                <a:solidFill>
                  <a:schemeClr val="tx1"/>
                </a:solidFill>
              </a:rPr>
              <a:t>Parallel agents: 5 layers explored overnight</a:t>
            </a:r>
            <a:endParaRPr lang="en-US" sz="1600" dirty="0"/>
          </a:p>
        </p:txBody>
      </p:sp>
      <p:sp>
        <p:nvSpPr>
          <p:cNvPr id="12" name="Shape 10"/>
          <p:cNvSpPr/>
          <p:nvPr/>
        </p:nvSpPr>
        <p:spPr>
          <a:xfrm>
            <a:off x="548640" y="3703320"/>
            <a:ext cx="5303520" cy="777240"/>
          </a:xfrm>
          <a:prstGeom prst="roundRect">
            <a:avLst>
              <a:gd name="adj" fmla="val 14118"/>
            </a:avLst>
          </a:prstGeom>
          <a:solidFill>
            <a:schemeClr val="accent3">
              <a:alpha val="15000"/>
            </a:schemeClr>
          </a:solidFill>
          <a:ln w="12700">
            <a:solidFill>
              <a:schemeClr val="accent3"/>
            </a:solidFill>
            <a:prstDash val="solid"/>
          </a:ln>
        </p:spPr>
      </p:sp>
      <p:sp>
        <p:nvSpPr>
          <p:cNvPr id="13" name="Shape 11"/>
          <p:cNvSpPr/>
          <p:nvPr/>
        </p:nvSpPr>
        <p:spPr>
          <a:xfrm>
            <a:off x="685800" y="3849624"/>
            <a:ext cx="475488" cy="475488"/>
          </a:xfrm>
          <a:prstGeom prst="ellipse">
            <a:avLst/>
          </a:prstGeom>
          <a:solidFill>
            <a:schemeClr val="accent3"/>
          </a:solidFill>
          <a:ln w="12700">
            <a:solidFill>
              <a:schemeClr val="accent3"/>
            </a:solidFill>
            <a:prstDash val="solid"/>
          </a:ln>
        </p:spPr>
      </p:sp>
      <p:sp>
        <p:nvSpPr>
          <p:cNvPr id="14" name="Text 12"/>
          <p:cNvSpPr txBox="1"/>
          <p:nvPr/>
        </p:nvSpPr>
        <p:spPr>
          <a:xfrm>
            <a:off x="685800" y="3849624"/>
            <a:ext cx="475488" cy="475488"/>
          </a:xfrm>
          <a:prstGeom prst="rect">
            <a:avLst/>
          </a:prstGeom>
          <a:noFill/>
          <a:ln/>
        </p:spPr>
        <p:txBody>
          <a:bodyPr wrap="square" lIns="0" tIns="0" rIns="0" bIns="0" rtlCol="0" anchor="ctr"/>
          <a:lstStyle/>
          <a:p>
            <a:pPr algn="ctr" indent="0" marL="0">
              <a:buNone/>
            </a:pPr>
            <a:r>
              <a:rPr lang="en-US" sz="1600" b="1" dirty="0">
                <a:solidFill>
                  <a:schemeClr val="bg1"/>
                </a:solidFill>
              </a:rPr>
              <a:t>✓</a:t>
            </a:r>
            <a:endParaRPr lang="en-US" sz="1600" dirty="0"/>
          </a:p>
        </p:txBody>
      </p:sp>
      <p:sp>
        <p:nvSpPr>
          <p:cNvPr id="15" name="Text 13"/>
          <p:cNvSpPr txBox="1"/>
          <p:nvPr/>
        </p:nvSpPr>
        <p:spPr>
          <a:xfrm>
            <a:off x="1325880" y="3703320"/>
            <a:ext cx="4389120" cy="777240"/>
          </a:xfrm>
          <a:prstGeom prst="rect">
            <a:avLst/>
          </a:prstGeom>
          <a:noFill/>
          <a:ln/>
        </p:spPr>
        <p:txBody>
          <a:bodyPr wrap="square" lIns="0" tIns="0" rIns="0" bIns="0" rtlCol="0" anchor="ctr"/>
          <a:lstStyle/>
          <a:p>
            <a:pPr indent="0" marL="0">
              <a:buNone/>
            </a:pPr>
            <a:r>
              <a:rPr lang="en-US" sz="1600" dirty="0">
                <a:solidFill>
                  <a:schemeClr val="tx1"/>
                </a:solidFill>
              </a:rPr>
              <a:t>Independent checks caught real errors</a:t>
            </a:r>
            <a:endParaRPr lang="en-US" sz="1600" dirty="0"/>
          </a:p>
        </p:txBody>
      </p:sp>
      <p:sp>
        <p:nvSpPr>
          <p:cNvPr id="16" name="Shape 14"/>
          <p:cNvSpPr/>
          <p:nvPr/>
        </p:nvSpPr>
        <p:spPr>
          <a:xfrm>
            <a:off x="548640" y="4617720"/>
            <a:ext cx="5303520" cy="777240"/>
          </a:xfrm>
          <a:prstGeom prst="roundRect">
            <a:avLst>
              <a:gd name="adj" fmla="val 14118"/>
            </a:avLst>
          </a:prstGeom>
          <a:solidFill>
            <a:schemeClr val="accent3">
              <a:alpha val="15000"/>
            </a:schemeClr>
          </a:solidFill>
          <a:ln w="12700">
            <a:solidFill>
              <a:schemeClr val="accent3"/>
            </a:solidFill>
            <a:prstDash val="solid"/>
          </a:ln>
        </p:spPr>
      </p:sp>
      <p:sp>
        <p:nvSpPr>
          <p:cNvPr id="17" name="Shape 15"/>
          <p:cNvSpPr/>
          <p:nvPr/>
        </p:nvSpPr>
        <p:spPr>
          <a:xfrm>
            <a:off x="685800" y="4764024"/>
            <a:ext cx="475488" cy="475488"/>
          </a:xfrm>
          <a:prstGeom prst="ellipse">
            <a:avLst/>
          </a:prstGeom>
          <a:solidFill>
            <a:schemeClr val="accent3"/>
          </a:solidFill>
          <a:ln w="12700">
            <a:solidFill>
              <a:schemeClr val="accent3"/>
            </a:solidFill>
            <a:prstDash val="solid"/>
          </a:ln>
        </p:spPr>
      </p:sp>
      <p:sp>
        <p:nvSpPr>
          <p:cNvPr id="18" name="Text 16"/>
          <p:cNvSpPr txBox="1"/>
          <p:nvPr/>
        </p:nvSpPr>
        <p:spPr>
          <a:xfrm>
            <a:off x="685800" y="4764024"/>
            <a:ext cx="475488" cy="475488"/>
          </a:xfrm>
          <a:prstGeom prst="rect">
            <a:avLst/>
          </a:prstGeom>
          <a:noFill/>
          <a:ln/>
        </p:spPr>
        <p:txBody>
          <a:bodyPr wrap="square" lIns="0" tIns="0" rIns="0" bIns="0" rtlCol="0" anchor="ctr"/>
          <a:lstStyle/>
          <a:p>
            <a:pPr algn="ctr" indent="0" marL="0">
              <a:buNone/>
            </a:pPr>
            <a:r>
              <a:rPr lang="en-US" sz="1600" b="1" dirty="0">
                <a:solidFill>
                  <a:schemeClr val="bg1"/>
                </a:solidFill>
              </a:rPr>
              <a:t>✓</a:t>
            </a:r>
            <a:endParaRPr lang="en-US" sz="1600" dirty="0"/>
          </a:p>
        </p:txBody>
      </p:sp>
      <p:sp>
        <p:nvSpPr>
          <p:cNvPr id="19" name="Text 17"/>
          <p:cNvSpPr txBox="1"/>
          <p:nvPr/>
        </p:nvSpPr>
        <p:spPr>
          <a:xfrm>
            <a:off x="1325880" y="4617720"/>
            <a:ext cx="4389120" cy="777240"/>
          </a:xfrm>
          <a:prstGeom prst="rect">
            <a:avLst/>
          </a:prstGeom>
          <a:noFill/>
          <a:ln/>
        </p:spPr>
        <p:txBody>
          <a:bodyPr wrap="square" lIns="0" tIns="0" rIns="0" bIns="0" rtlCol="0" anchor="ctr"/>
          <a:lstStyle/>
          <a:p>
            <a:pPr indent="0" marL="0">
              <a:buNone/>
            </a:pPr>
            <a:r>
              <a:rPr lang="en-US" sz="1600" dirty="0">
                <a:solidFill>
                  <a:schemeClr val="tx1"/>
                </a:solidFill>
              </a:rPr>
              <a:t>Full record in git: tree, claims, deviations</a:t>
            </a:r>
            <a:endParaRPr lang="en-US" sz="1600" dirty="0"/>
          </a:p>
        </p:txBody>
      </p:sp>
      <p:sp>
        <p:nvSpPr>
          <p:cNvPr id="20" name="Text 18"/>
          <p:cNvSpPr txBox="1"/>
          <p:nvPr/>
        </p:nvSpPr>
        <p:spPr>
          <a:xfrm>
            <a:off x="6309360" y="1280160"/>
            <a:ext cx="5303520" cy="457200"/>
          </a:xfrm>
          <a:prstGeom prst="rect">
            <a:avLst/>
          </a:prstGeom>
          <a:noFill/>
          <a:ln/>
        </p:spPr>
        <p:txBody>
          <a:bodyPr wrap="square" lIns="0" tIns="0" rIns="0" bIns="0" rtlCol="0" anchor="t"/>
          <a:lstStyle/>
          <a:p>
            <a:pPr indent="0" marL="0">
              <a:buNone/>
            </a:pPr>
            <a:r>
              <a:rPr lang="en-US" sz="2200" b="1" dirty="0">
                <a:solidFill>
                  <a:schemeClr val="accent4"/>
                </a:solidFill>
                <a:latin typeface="Cambria" pitchFamily="34" charset="0"/>
                <a:ea typeface="Cambria" pitchFamily="34" charset="-122"/>
                <a:cs typeface="Cambria" pitchFamily="34" charset="-120"/>
              </a:rPr>
              <a:t>Did not</a:t>
            </a:r>
            <a:endParaRPr lang="en-US" sz="2200" dirty="0"/>
          </a:p>
        </p:txBody>
      </p:sp>
      <p:sp>
        <p:nvSpPr>
          <p:cNvPr id="21" name="Shape 19"/>
          <p:cNvSpPr/>
          <p:nvPr/>
        </p:nvSpPr>
        <p:spPr>
          <a:xfrm>
            <a:off x="6309360" y="1874520"/>
            <a:ext cx="5303520" cy="777240"/>
          </a:xfrm>
          <a:prstGeom prst="roundRect">
            <a:avLst>
              <a:gd name="adj" fmla="val 14118"/>
            </a:avLst>
          </a:prstGeom>
          <a:solidFill>
            <a:schemeClr val="accent4">
              <a:alpha val="15000"/>
            </a:schemeClr>
          </a:solidFill>
          <a:ln w="12700">
            <a:solidFill>
              <a:schemeClr val="accent4"/>
            </a:solidFill>
            <a:prstDash val="solid"/>
          </a:ln>
        </p:spPr>
      </p:sp>
      <p:sp>
        <p:nvSpPr>
          <p:cNvPr id="22" name="Shape 20"/>
          <p:cNvSpPr/>
          <p:nvPr/>
        </p:nvSpPr>
        <p:spPr>
          <a:xfrm>
            <a:off x="6446520" y="2020824"/>
            <a:ext cx="475488" cy="475488"/>
          </a:xfrm>
          <a:prstGeom prst="ellipse">
            <a:avLst/>
          </a:prstGeom>
          <a:solidFill>
            <a:schemeClr val="accent4"/>
          </a:solidFill>
          <a:ln w="12700">
            <a:solidFill>
              <a:schemeClr val="accent4"/>
            </a:solidFill>
            <a:prstDash val="solid"/>
          </a:ln>
        </p:spPr>
      </p:sp>
      <p:sp>
        <p:nvSpPr>
          <p:cNvPr id="23" name="Text 21"/>
          <p:cNvSpPr txBox="1"/>
          <p:nvPr/>
        </p:nvSpPr>
        <p:spPr>
          <a:xfrm>
            <a:off x="6446520" y="2020824"/>
            <a:ext cx="475488" cy="475488"/>
          </a:xfrm>
          <a:prstGeom prst="rect">
            <a:avLst/>
          </a:prstGeom>
          <a:noFill/>
          <a:ln/>
        </p:spPr>
        <p:txBody>
          <a:bodyPr wrap="square" lIns="0" tIns="0" rIns="0" bIns="0" rtlCol="0" anchor="ctr"/>
          <a:lstStyle/>
          <a:p>
            <a:pPr algn="ctr" indent="0" marL="0">
              <a:buNone/>
            </a:pPr>
            <a:r>
              <a:rPr lang="en-US" sz="1600" b="1" dirty="0">
                <a:solidFill>
                  <a:schemeClr val="bg1"/>
                </a:solidFill>
              </a:rPr>
              <a:t>✗</a:t>
            </a:r>
            <a:endParaRPr lang="en-US" sz="1600" dirty="0"/>
          </a:p>
        </p:txBody>
      </p:sp>
      <p:sp>
        <p:nvSpPr>
          <p:cNvPr id="24" name="Text 22"/>
          <p:cNvSpPr txBox="1"/>
          <p:nvPr/>
        </p:nvSpPr>
        <p:spPr>
          <a:xfrm>
            <a:off x="7086600" y="1874520"/>
            <a:ext cx="4389120" cy="777240"/>
          </a:xfrm>
          <a:prstGeom prst="rect">
            <a:avLst/>
          </a:prstGeom>
          <a:noFill/>
          <a:ln/>
        </p:spPr>
        <p:txBody>
          <a:bodyPr wrap="square" lIns="0" tIns="0" rIns="0" bIns="0" rtlCol="0" anchor="ctr"/>
          <a:lstStyle/>
          <a:p>
            <a:pPr indent="0" marL="0">
              <a:buNone/>
            </a:pPr>
            <a:r>
              <a:rPr lang="en-US" sz="1600" dirty="0">
                <a:solidFill>
                  <a:schemeClr val="tx1"/>
                </a:solidFill>
              </a:rPr>
              <a:t>Tuning pressure on a small dev set</a:t>
            </a:r>
            <a:endParaRPr lang="en-US" sz="1600" dirty="0"/>
          </a:p>
        </p:txBody>
      </p:sp>
      <p:sp>
        <p:nvSpPr>
          <p:cNvPr id="25" name="Shape 23"/>
          <p:cNvSpPr/>
          <p:nvPr/>
        </p:nvSpPr>
        <p:spPr>
          <a:xfrm>
            <a:off x="6309360" y="2788920"/>
            <a:ext cx="5303520" cy="777240"/>
          </a:xfrm>
          <a:prstGeom prst="roundRect">
            <a:avLst>
              <a:gd name="adj" fmla="val 14118"/>
            </a:avLst>
          </a:prstGeom>
          <a:solidFill>
            <a:schemeClr val="accent4">
              <a:alpha val="15000"/>
            </a:schemeClr>
          </a:solidFill>
          <a:ln w="12700">
            <a:solidFill>
              <a:schemeClr val="accent4"/>
            </a:solidFill>
            <a:prstDash val="solid"/>
          </a:ln>
        </p:spPr>
      </p:sp>
      <p:sp>
        <p:nvSpPr>
          <p:cNvPr id="26" name="Shape 24"/>
          <p:cNvSpPr/>
          <p:nvPr/>
        </p:nvSpPr>
        <p:spPr>
          <a:xfrm>
            <a:off x="6446520" y="2935224"/>
            <a:ext cx="475488" cy="475488"/>
          </a:xfrm>
          <a:prstGeom prst="ellipse">
            <a:avLst/>
          </a:prstGeom>
          <a:solidFill>
            <a:schemeClr val="accent4"/>
          </a:solidFill>
          <a:ln w="12700">
            <a:solidFill>
              <a:schemeClr val="accent4"/>
            </a:solidFill>
            <a:prstDash val="solid"/>
          </a:ln>
        </p:spPr>
      </p:sp>
      <p:sp>
        <p:nvSpPr>
          <p:cNvPr id="27" name="Text 25"/>
          <p:cNvSpPr txBox="1"/>
          <p:nvPr/>
        </p:nvSpPr>
        <p:spPr>
          <a:xfrm>
            <a:off x="6446520" y="2935224"/>
            <a:ext cx="475488" cy="475488"/>
          </a:xfrm>
          <a:prstGeom prst="rect">
            <a:avLst/>
          </a:prstGeom>
          <a:noFill/>
          <a:ln/>
        </p:spPr>
        <p:txBody>
          <a:bodyPr wrap="square" lIns="0" tIns="0" rIns="0" bIns="0" rtlCol="0" anchor="ctr"/>
          <a:lstStyle/>
          <a:p>
            <a:pPr algn="ctr" indent="0" marL="0">
              <a:buNone/>
            </a:pPr>
            <a:r>
              <a:rPr lang="en-US" sz="1600" b="1" dirty="0">
                <a:solidFill>
                  <a:schemeClr val="bg1"/>
                </a:solidFill>
              </a:rPr>
              <a:t>✗</a:t>
            </a:r>
            <a:endParaRPr lang="en-US" sz="1600" dirty="0"/>
          </a:p>
        </p:txBody>
      </p:sp>
      <p:sp>
        <p:nvSpPr>
          <p:cNvPr id="28" name="Text 26"/>
          <p:cNvSpPr txBox="1"/>
          <p:nvPr/>
        </p:nvSpPr>
        <p:spPr>
          <a:xfrm>
            <a:off x="7086600" y="2788920"/>
            <a:ext cx="4389120" cy="777240"/>
          </a:xfrm>
          <a:prstGeom prst="rect">
            <a:avLst/>
          </a:prstGeom>
          <a:noFill/>
          <a:ln/>
        </p:spPr>
        <p:txBody>
          <a:bodyPr wrap="square" lIns="0" tIns="0" rIns="0" bIns="0" rtlCol="0" anchor="ctr"/>
          <a:lstStyle/>
          <a:p>
            <a:pPr indent="0" marL="0">
              <a:buNone/>
            </a:pPr>
            <a:r>
              <a:rPr lang="en-US" sz="1600" dirty="0">
                <a:solidFill>
                  <a:schemeClr val="tx1"/>
                </a:solidFill>
              </a:rPr>
              <a:t>Dev gains that did not replicate on test</a:t>
            </a:r>
            <a:endParaRPr lang="en-US" sz="1600" dirty="0"/>
          </a:p>
        </p:txBody>
      </p:sp>
      <p:sp>
        <p:nvSpPr>
          <p:cNvPr id="29" name="Shape 27"/>
          <p:cNvSpPr/>
          <p:nvPr/>
        </p:nvSpPr>
        <p:spPr>
          <a:xfrm>
            <a:off x="6309360" y="3703320"/>
            <a:ext cx="5303520" cy="777240"/>
          </a:xfrm>
          <a:prstGeom prst="roundRect">
            <a:avLst>
              <a:gd name="adj" fmla="val 14118"/>
            </a:avLst>
          </a:prstGeom>
          <a:solidFill>
            <a:schemeClr val="accent4">
              <a:alpha val="15000"/>
            </a:schemeClr>
          </a:solidFill>
          <a:ln w="12700">
            <a:solidFill>
              <a:schemeClr val="accent4"/>
            </a:solidFill>
            <a:prstDash val="solid"/>
          </a:ln>
        </p:spPr>
      </p:sp>
      <p:sp>
        <p:nvSpPr>
          <p:cNvPr id="30" name="Shape 28"/>
          <p:cNvSpPr/>
          <p:nvPr/>
        </p:nvSpPr>
        <p:spPr>
          <a:xfrm>
            <a:off x="6446520" y="3849624"/>
            <a:ext cx="475488" cy="475488"/>
          </a:xfrm>
          <a:prstGeom prst="ellipse">
            <a:avLst/>
          </a:prstGeom>
          <a:solidFill>
            <a:schemeClr val="accent4"/>
          </a:solidFill>
          <a:ln w="12700">
            <a:solidFill>
              <a:schemeClr val="accent4"/>
            </a:solidFill>
            <a:prstDash val="solid"/>
          </a:ln>
        </p:spPr>
      </p:sp>
      <p:sp>
        <p:nvSpPr>
          <p:cNvPr id="31" name="Text 29"/>
          <p:cNvSpPr txBox="1"/>
          <p:nvPr/>
        </p:nvSpPr>
        <p:spPr>
          <a:xfrm>
            <a:off x="6446520" y="3849624"/>
            <a:ext cx="475488" cy="475488"/>
          </a:xfrm>
          <a:prstGeom prst="rect">
            <a:avLst/>
          </a:prstGeom>
          <a:noFill/>
          <a:ln/>
        </p:spPr>
        <p:txBody>
          <a:bodyPr wrap="square" lIns="0" tIns="0" rIns="0" bIns="0" rtlCol="0" anchor="ctr"/>
          <a:lstStyle/>
          <a:p>
            <a:pPr algn="ctr" indent="0" marL="0">
              <a:buNone/>
            </a:pPr>
            <a:r>
              <a:rPr lang="en-US" sz="1600" b="1" dirty="0">
                <a:solidFill>
                  <a:schemeClr val="bg1"/>
                </a:solidFill>
              </a:rPr>
              <a:t>✗</a:t>
            </a:r>
            <a:endParaRPr lang="en-US" sz="1600" dirty="0"/>
          </a:p>
        </p:txBody>
      </p:sp>
      <p:sp>
        <p:nvSpPr>
          <p:cNvPr id="32" name="Text 30"/>
          <p:cNvSpPr txBox="1"/>
          <p:nvPr/>
        </p:nvSpPr>
        <p:spPr>
          <a:xfrm>
            <a:off x="7086600" y="3703320"/>
            <a:ext cx="4389120" cy="777240"/>
          </a:xfrm>
          <a:prstGeom prst="rect">
            <a:avLst/>
          </a:prstGeom>
          <a:noFill/>
          <a:ln/>
        </p:spPr>
        <p:txBody>
          <a:bodyPr wrap="square" lIns="0" tIns="0" rIns="0" bIns="0" rtlCol="0" anchor="ctr"/>
          <a:lstStyle/>
          <a:p>
            <a:pPr indent="0" marL="0">
              <a:buNone/>
            </a:pPr>
            <a:r>
              <a:rPr lang="en-US" sz="1600" dirty="0">
                <a:solidFill>
                  <a:schemeClr val="tx1"/>
                </a:solidFill>
              </a:rPr>
              <a:t>Overstated claims needed correction</a:t>
            </a:r>
            <a:endParaRPr lang="en-US" sz="1600" dirty="0"/>
          </a:p>
        </p:txBody>
      </p:sp>
      <p:sp>
        <p:nvSpPr>
          <p:cNvPr id="33" name="Shape 31"/>
          <p:cNvSpPr/>
          <p:nvPr/>
        </p:nvSpPr>
        <p:spPr>
          <a:xfrm>
            <a:off x="6309360" y="4617720"/>
            <a:ext cx="5303520" cy="777240"/>
          </a:xfrm>
          <a:prstGeom prst="roundRect">
            <a:avLst>
              <a:gd name="adj" fmla="val 14118"/>
            </a:avLst>
          </a:prstGeom>
          <a:solidFill>
            <a:schemeClr val="accent4">
              <a:alpha val="15000"/>
            </a:schemeClr>
          </a:solidFill>
          <a:ln w="12700">
            <a:solidFill>
              <a:schemeClr val="accent4"/>
            </a:solidFill>
            <a:prstDash val="solid"/>
          </a:ln>
        </p:spPr>
      </p:sp>
      <p:sp>
        <p:nvSpPr>
          <p:cNvPr id="34" name="Shape 32"/>
          <p:cNvSpPr/>
          <p:nvPr/>
        </p:nvSpPr>
        <p:spPr>
          <a:xfrm>
            <a:off x="6446520" y="4764024"/>
            <a:ext cx="475488" cy="475488"/>
          </a:xfrm>
          <a:prstGeom prst="ellipse">
            <a:avLst/>
          </a:prstGeom>
          <a:solidFill>
            <a:schemeClr val="accent4"/>
          </a:solidFill>
          <a:ln w="12700">
            <a:solidFill>
              <a:schemeClr val="accent4"/>
            </a:solidFill>
            <a:prstDash val="solid"/>
          </a:ln>
        </p:spPr>
      </p:sp>
      <p:sp>
        <p:nvSpPr>
          <p:cNvPr id="35" name="Text 33"/>
          <p:cNvSpPr txBox="1"/>
          <p:nvPr/>
        </p:nvSpPr>
        <p:spPr>
          <a:xfrm>
            <a:off x="6446520" y="4764024"/>
            <a:ext cx="475488" cy="475488"/>
          </a:xfrm>
          <a:prstGeom prst="rect">
            <a:avLst/>
          </a:prstGeom>
          <a:noFill/>
          <a:ln/>
        </p:spPr>
        <p:txBody>
          <a:bodyPr wrap="square" lIns="0" tIns="0" rIns="0" bIns="0" rtlCol="0" anchor="ctr"/>
          <a:lstStyle/>
          <a:p>
            <a:pPr algn="ctr" indent="0" marL="0">
              <a:buNone/>
            </a:pPr>
            <a:r>
              <a:rPr lang="en-US" sz="1600" b="1" dirty="0">
                <a:solidFill>
                  <a:schemeClr val="bg1"/>
                </a:solidFill>
              </a:rPr>
              <a:t>✗</a:t>
            </a:r>
            <a:endParaRPr lang="en-US" sz="1600" dirty="0"/>
          </a:p>
        </p:txBody>
      </p:sp>
      <p:sp>
        <p:nvSpPr>
          <p:cNvPr id="36" name="Text 34"/>
          <p:cNvSpPr txBox="1"/>
          <p:nvPr/>
        </p:nvSpPr>
        <p:spPr>
          <a:xfrm>
            <a:off x="7086600" y="4617720"/>
            <a:ext cx="4389120" cy="777240"/>
          </a:xfrm>
          <a:prstGeom prst="rect">
            <a:avLst/>
          </a:prstGeom>
          <a:noFill/>
          <a:ln/>
        </p:spPr>
        <p:txBody>
          <a:bodyPr wrap="square" lIns="0" tIns="0" rIns="0" bIns="0" rtlCol="0" anchor="ctr"/>
          <a:lstStyle/>
          <a:p>
            <a:pPr indent="0" marL="0">
              <a:buNone/>
            </a:pPr>
            <a:r>
              <a:rPr lang="en-US" sz="1600" dirty="0">
                <a:solidFill>
                  <a:schemeClr val="tx1"/>
                </a:solidFill>
              </a:rPr>
              <a:t>No human verification yet</a:t>
            </a:r>
            <a:endParaRPr lang="en-US" sz="1600" dirty="0"/>
          </a:p>
        </p:txBody>
      </p:sp>
      <p:sp>
        <p:nvSpPr>
          <p:cNvPr id="37" name="Text 35"/>
          <p:cNvSpPr txBox="1"/>
          <p:nvPr/>
        </p:nvSpPr>
        <p:spPr>
          <a:xfrm>
            <a:off x="548640" y="5715000"/>
            <a:ext cx="11064240" cy="411480"/>
          </a:xfrm>
          <a:prstGeom prst="rect">
            <a:avLst/>
          </a:prstGeom>
          <a:noFill/>
          <a:ln/>
        </p:spPr>
        <p:txBody>
          <a:bodyPr wrap="square" lIns="0" tIns="0" rIns="0" bIns="0" rtlCol="0" anchor="t"/>
          <a:lstStyle/>
          <a:p>
            <a:pPr indent="0" marL="0">
              <a:buNone/>
            </a:pPr>
            <a:r>
              <a:rPr lang="en-US" sz="1300" i="1" dirty="0">
                <a:solidFill>
                  <a:schemeClr val="accent6"/>
                </a:solidFill>
              </a:rPr>
              <a:t>Examples of caught errors: omitted pre-registered comparators, too-narrow intervals, a preset mismatch in the scaling claims.</a:t>
            </a:r>
            <a:endParaRPr lang="en-US" sz="13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l"/>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ph idx="100" type="title" hasCustomPrompt="1"/>
          </p:nvPr>
        </p:nvSpPr>
        <p:spPr>
          <a:xfrm>
            <a:off x="731520" y="1828800"/>
            <a:ext cx="10698480" cy="1463040"/>
          </a:xfrm>
          <a:prstGeom prst="rect">
            <a:avLst/>
          </a:prstGeom>
          <a:noFill/>
          <a:ln/>
        </p:spPr>
        <p:txBody>
          <a:bodyPr wrap="square" rtlCol="0" anchor="b"/>
          <a:lstStyle/>
          <a:p>
            <a:pPr algn="l" indent="0" marL="0">
              <a:buNone/>
            </a:pPr>
            <a:r>
              <a:rPr lang="en-US" sz="5400" b="1" dirty="0">
                <a:solidFill>
                  <a:schemeClr val="bg1"/>
                </a:solidFill>
                <a:latin typeface="Cambria" pitchFamily="34" charset="0"/>
                <a:ea typeface="Cambria" pitchFamily="34" charset="-122"/>
                <a:cs typeface="Cambria" pitchFamily="34" charset="-120"/>
              </a:rPr>
              <a:t>Conclusion</a:t>
            </a:r>
            <a:endParaRPr lang="en-US" sz="5400" dirty="0"/>
          </a:p>
        </p:txBody>
      </p:sp>
      <p:sp>
        <p:nvSpPr>
          <p:cNvPr id="3" name="Text 1"/>
          <p:cNvSpPr txBox="1"/>
          <p:nvPr/>
        </p:nvSpPr>
        <p:spPr>
          <a:xfrm>
            <a:off x="731520" y="6126480"/>
            <a:ext cx="10698480" cy="320040"/>
          </a:xfrm>
          <a:prstGeom prst="rect">
            <a:avLst/>
          </a:prstGeom>
          <a:noFill/>
          <a:ln/>
        </p:spPr>
        <p:txBody>
          <a:bodyPr wrap="square" lIns="0" tIns="0" rIns="0" bIns="0" rtlCol="0" anchor="t"/>
          <a:lstStyle/>
          <a:p>
            <a:pPr indent="0" marL="0">
              <a:buNone/>
            </a:pPr>
            <a:r>
              <a:rPr lang="en-US" sz="1300" i="1" dirty="0">
                <a:solidFill>
                  <a:schemeClr val="bg2"/>
                </a:solidFill>
              </a:rPr>
              <a:t>Full record: REPORT.md · technical_report/ · minimal repository with code and predictions</a:t>
            </a:r>
            <a:endParaRPr lang="en-US" sz="1300" dirty="0"/>
          </a:p>
        </p:txBody>
      </p:sp>
      <p:sp>
        <p:nvSpPr>
          <p:cNvPr id="4" name="Text 2"/>
          <p:cNvSpPr txBox="1"/>
          <p:nvPr/>
        </p:nvSpPr>
        <p:spPr>
          <a:xfrm>
            <a:off x="731520" y="3611880"/>
            <a:ext cx="3383280" cy="457200"/>
          </a:xfrm>
          <a:prstGeom prst="rect">
            <a:avLst/>
          </a:prstGeom>
          <a:noFill/>
          <a:ln/>
        </p:spPr>
        <p:txBody>
          <a:bodyPr wrap="square" lIns="0" tIns="0" rIns="0" bIns="0" rtlCol="0" anchor="t"/>
          <a:lstStyle/>
          <a:p>
            <a:pPr indent="0" marL="0">
              <a:buNone/>
            </a:pPr>
            <a:r>
              <a:rPr lang="en-US" sz="2400" b="1" dirty="0">
                <a:solidFill>
                  <a:schemeClr val="accent2"/>
                </a:solidFill>
                <a:latin typeface="Cambria" pitchFamily="34" charset="0"/>
                <a:ea typeface="Cambria" pitchFamily="34" charset="-122"/>
                <a:cs typeface="Cambria" pitchFamily="34" charset="-120"/>
              </a:rPr>
              <a:t>Outcome</a:t>
            </a:r>
            <a:endParaRPr lang="en-US" sz="2400" dirty="0"/>
          </a:p>
        </p:txBody>
      </p:sp>
      <p:sp>
        <p:nvSpPr>
          <p:cNvPr id="5" name="Text 3"/>
          <p:cNvSpPr txBox="1"/>
          <p:nvPr/>
        </p:nvSpPr>
        <p:spPr>
          <a:xfrm>
            <a:off x="731520" y="4160520"/>
            <a:ext cx="3291840" cy="1828800"/>
          </a:xfrm>
          <a:prstGeom prst="rect">
            <a:avLst/>
          </a:prstGeom>
          <a:noFill/>
          <a:ln/>
        </p:spPr>
        <p:txBody>
          <a:bodyPr wrap="square" lIns="0" tIns="0" rIns="0" bIns="0" rtlCol="0" anchor="t"/>
          <a:lstStyle/>
          <a:p>
            <a:pPr indent="0" marL="0">
              <a:buNone/>
            </a:pPr>
            <a:r>
              <a:rPr lang="en-US" sz="1800" dirty="0">
                <a:solidFill>
                  <a:schemeClr val="bg1"/>
                </a:solidFill>
              </a:rPr>
              <a:t>A working HOG method in 48 h: strong on OrthoBench, below the best on QfO recall, runs on 1,000 proteomes.</a:t>
            </a:r>
            <a:endParaRPr lang="en-US" sz="1800" dirty="0"/>
          </a:p>
        </p:txBody>
      </p:sp>
      <p:sp>
        <p:nvSpPr>
          <p:cNvPr id="6" name="Text 4"/>
          <p:cNvSpPr txBox="1"/>
          <p:nvPr/>
        </p:nvSpPr>
        <p:spPr>
          <a:xfrm>
            <a:off x="4389120" y="3611880"/>
            <a:ext cx="3383280" cy="457200"/>
          </a:xfrm>
          <a:prstGeom prst="rect">
            <a:avLst/>
          </a:prstGeom>
          <a:noFill/>
          <a:ln/>
        </p:spPr>
        <p:txBody>
          <a:bodyPr wrap="square" lIns="0" tIns="0" rIns="0" bIns="0" rtlCol="0" anchor="t"/>
          <a:lstStyle/>
          <a:p>
            <a:pPr indent="0" marL="0">
              <a:buNone/>
            </a:pPr>
            <a:r>
              <a:rPr lang="en-US" sz="2400" b="1" dirty="0">
                <a:solidFill>
                  <a:schemeClr val="accent2"/>
                </a:solidFill>
                <a:latin typeface="Cambria" pitchFamily="34" charset="0"/>
                <a:ea typeface="Cambria" pitchFamily="34" charset="-122"/>
                <a:cs typeface="Cambria" pitchFamily="34" charset="-120"/>
              </a:rPr>
              <a:t>AI-led research</a:t>
            </a:r>
            <a:endParaRPr lang="en-US" sz="2400" dirty="0"/>
          </a:p>
        </p:txBody>
      </p:sp>
      <p:sp>
        <p:nvSpPr>
          <p:cNvPr id="7" name="Text 5"/>
          <p:cNvSpPr txBox="1"/>
          <p:nvPr/>
        </p:nvSpPr>
        <p:spPr>
          <a:xfrm>
            <a:off x="4389120" y="4160520"/>
            <a:ext cx="3291840" cy="1828800"/>
          </a:xfrm>
          <a:prstGeom prst="rect">
            <a:avLst/>
          </a:prstGeom>
          <a:noFill/>
          <a:ln/>
        </p:spPr>
        <p:txBody>
          <a:bodyPr wrap="square" lIns="0" tIns="0" rIns="0" bIns="0" rtlCol="0" anchor="t"/>
          <a:lstStyle/>
          <a:p>
            <a:pPr indent="0" marL="0">
              <a:buNone/>
            </a:pPr>
            <a:r>
              <a:rPr lang="en-US" sz="1800" dirty="0">
                <a:solidFill>
                  <a:schemeClr val="bg1"/>
                </a:solidFill>
              </a:rPr>
              <a:t>Agents ran the whole cycle, from literature to report, with 7 human instructions. Verification by other agents was essential.</a:t>
            </a:r>
            <a:endParaRPr lang="en-US" sz="1800" dirty="0"/>
          </a:p>
        </p:txBody>
      </p:sp>
      <p:sp>
        <p:nvSpPr>
          <p:cNvPr id="8" name="Text 6"/>
          <p:cNvSpPr txBox="1"/>
          <p:nvPr/>
        </p:nvSpPr>
        <p:spPr>
          <a:xfrm>
            <a:off x="8046720" y="3611880"/>
            <a:ext cx="3383280" cy="457200"/>
          </a:xfrm>
          <a:prstGeom prst="rect">
            <a:avLst/>
          </a:prstGeom>
          <a:noFill/>
          <a:ln/>
        </p:spPr>
        <p:txBody>
          <a:bodyPr wrap="square" lIns="0" tIns="0" rIns="0" bIns="0" rtlCol="0" anchor="t"/>
          <a:lstStyle/>
          <a:p>
            <a:pPr indent="0" marL="0">
              <a:buNone/>
            </a:pPr>
            <a:r>
              <a:rPr lang="en-US" sz="2400" b="1" dirty="0">
                <a:solidFill>
                  <a:schemeClr val="accent2"/>
                </a:solidFill>
                <a:latin typeface="Cambria" pitchFamily="34" charset="0"/>
                <a:ea typeface="Cambria" pitchFamily="34" charset="-122"/>
                <a:cs typeface="Cambria" pitchFamily="34" charset="-120"/>
              </a:rPr>
              <a:t>Next</a:t>
            </a:r>
            <a:endParaRPr lang="en-US" sz="2400" dirty="0"/>
          </a:p>
        </p:txBody>
      </p:sp>
      <p:sp>
        <p:nvSpPr>
          <p:cNvPr id="9" name="Text 7"/>
          <p:cNvSpPr txBox="1"/>
          <p:nvPr/>
        </p:nvSpPr>
        <p:spPr>
          <a:xfrm>
            <a:off x="8046720" y="4160520"/>
            <a:ext cx="3291840" cy="1828800"/>
          </a:xfrm>
          <a:prstGeom prst="rect">
            <a:avLst/>
          </a:prstGeom>
          <a:noFill/>
          <a:ln/>
        </p:spPr>
        <p:txBody>
          <a:bodyPr wrap="square" lIns="0" tIns="0" rIns="0" bIns="0" rtlCol="0" anchor="t"/>
          <a:lstStyle/>
          <a:p>
            <a:pPr indent="0" marL="0">
              <a:buNone/>
            </a:pPr>
            <a:r>
              <a:rPr lang="en-US" sz="1800" dirty="0">
                <a:solidFill>
                  <a:schemeClr val="bg1"/>
                </a:solidFill>
              </a:rPr>
              <a:t>Outgroup tests at deep nodes · linear family step and streamed scores · hard-case benchmark · human verification · reuse in phase 3.</a:t>
            </a:r>
            <a:endParaRPr lang="en-US" sz="1800" dirty="0"/>
          </a:p>
        </p:txBody>
      </p:sp>
      <p:sp>
        <p:nvSpPr>
          <p:cNvPr id="10" name="Text 0"/>
          <p:cNvSpPr/>
          <p:nvPr>
            <p:ph idx="101" type="body" hasCustomPrompt="1"/>
          </p:nvPr>
        </p:nvSpPr>
        <p:spPr>
          <a:xfrm>
            <a:off x="731520" y="3429000"/>
            <a:ext cx="10698480" cy="1280160"/>
          </a:xfrm>
          <a:prstGeom prst="rect">
            <a:avLst/>
          </a:prstGeom>
          <a:noFill/>
          <a:ln/>
        </p:spPr>
        <p:txBody>
          <a:bodyPr wrap="square" rtlCol="0" anchor="t"/>
          <a:lstStyle/>
          <a:p>
            <a:pPr indent="0" marL="0">
              <a:buNone/>
            </a:pPr>
            <a:endParaRPr lang="en-US" sz="2400" dirty="0"/>
          </a:p>
        </p:txBody>
      </p:sp>
    </p:spTree>
  </p:cSld>
  <p:clrMapOvr>
    <a:masterClrMapping/>
  </p:clrMapOvr>
</p:sld>
</file>

<file path=ppt/theme/theme1.xml><?xml version="1.0" encoding="utf-8"?>
<a:theme xmlns:a="http://schemas.openxmlformats.org/drawingml/2006/main" name="Ancestra">
  <a:themeElements>
    <a:clrScheme name="Ancestra">
      <a:dk1>
        <a:srgbClr val="22303F"/>
      </a:dk1>
      <a:lt1>
        <a:srgbClr val="FFFFFF"/>
      </a:lt1>
      <a:dk2>
        <a:srgbClr val="1F3A5F"/>
      </a:dk2>
      <a:lt2>
        <a:srgbClr val="E9EEF5"/>
      </a:lt2>
      <a:accent1>
        <a:srgbClr val="3E6FA3"/>
      </a:accent1>
      <a:accent2>
        <a:srgbClr val="D9822B"/>
      </a:accent2>
      <a:accent3>
        <a:srgbClr val="4E8A5B"/>
      </a:accent3>
      <a:accent4>
        <a:srgbClr val="B5473A"/>
      </a:accent4>
      <a:accent5>
        <a:srgbClr val="8E6BB0"/>
      </a:accent5>
      <a:accent6>
        <a:srgbClr val="8A929C"/>
      </a:accent6>
      <a:hlink>
        <a:srgbClr val="3E6FA3"/>
      </a:hlink>
      <a:folHlink>
        <a:srgbClr val="8E6BB0"/>
      </a:folHlink>
    </a:clrScheme>
    <a:fontScheme name="Ancestra">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37</Slides>
  <Notes>37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37</vt:i4>
      </vt:variant>
    </vt:vector>
  </HeadingPairs>
  <TitlesOfParts>
    <vt:vector size="4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Ancestra: an AI-led orthology project</dc:title>
  <dc:subject>PptxGenJS Presentation</dc:subject>
  <dc:creator>PI agent (Claude Opus 5.5)</dc:creator>
  <cp:lastModifiedBy>PI agent (Claude Opus 5.5)</cp:lastModifiedBy>
  <cp:revision>1</cp:revision>
  <dcterms:created xsi:type="dcterms:W3CDTF">2026-10-28T15:16:56Z</dcterms:created>
  <dcterms:modified xsi:type="dcterms:W3CDTF">2026-10-28T15:16:56Z</dcterms:modified>
</cp:coreProperties>
</file>